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2" r:id="rId5"/>
    <p:sldId id="260" r:id="rId6"/>
    <p:sldId id="263" r:id="rId7"/>
    <p:sldId id="261" r:id="rId8"/>
    <p:sldId id="264" r:id="rId9"/>
    <p:sldId id="265" r:id="rId10"/>
    <p:sldId id="266" r:id="rId11"/>
    <p:sldId id="279" r:id="rId12"/>
    <p:sldId id="268" r:id="rId13"/>
    <p:sldId id="269" r:id="rId14"/>
    <p:sldId id="276" r:id="rId15"/>
    <p:sldId id="277" r:id="rId16"/>
    <p:sldId id="278"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270" r:id="rId38"/>
    <p:sldId id="271" r:id="rId39"/>
    <p:sldId id="272" r:id="rId40"/>
    <p:sldId id="273" r:id="rId41"/>
    <p:sldId id="274" r:id="rId42"/>
    <p:sldId id="275" r:id="rId43"/>
    <p:sldId id="300" r:id="rId44"/>
    <p:sldId id="301" r:id="rId45"/>
    <p:sldId id="302" r:id="rId46"/>
    <p:sldId id="303" r:id="rId47"/>
    <p:sldId id="306" r:id="rId48"/>
    <p:sldId id="304" r:id="rId49"/>
    <p:sldId id="305" r:id="rId50"/>
    <p:sldId id="308" r:id="rId51"/>
    <p:sldId id="309" r:id="rId52"/>
    <p:sldId id="307" r:id="rId53"/>
    <p:sldId id="310" r:id="rId54"/>
    <p:sldId id="311" r:id="rId55"/>
    <p:sldId id="312" r:id="rId56"/>
    <p:sldId id="313" r:id="rId57"/>
    <p:sldId id="314" r:id="rId58"/>
    <p:sldId id="315" r:id="rId59"/>
    <p:sldId id="257" r:id="rId60"/>
    <p:sldId id="316" r:id="rId6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94660"/>
  </p:normalViewPr>
  <p:slideViewPr>
    <p:cSldViewPr snapToGrid="0">
      <p:cViewPr varScale="1">
        <p:scale>
          <a:sx n="90" d="100"/>
          <a:sy n="90"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D8E70B-C400-4007-B47D-4AC8E09B7F57}"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zh-CN" altLang="en-US"/>
        </a:p>
      </dgm:t>
    </dgm:pt>
    <dgm:pt modelId="{0C160D6B-194C-4E91-B603-3C6F8C19A9DE}">
      <dgm:prSet phldrT="[文本]" phldr="0"/>
      <dgm:spPr/>
      <dgm:t>
        <a:bodyPr/>
        <a:lstStyle/>
        <a:p>
          <a:r>
            <a:rPr lang="en-US" altLang="zh-CN" dirty="0"/>
            <a:t>SEM</a:t>
          </a:r>
          <a:endParaRPr lang="zh-CN" altLang="en-US" dirty="0"/>
        </a:p>
      </dgm:t>
    </dgm:pt>
    <dgm:pt modelId="{115E5899-F4A8-4B92-855B-CBB751BC5BA8}" type="parTrans" cxnId="{F6D2FF3C-FBEC-4007-8BB9-4EA861C0CD56}">
      <dgm:prSet/>
      <dgm:spPr/>
      <dgm:t>
        <a:bodyPr/>
        <a:lstStyle/>
        <a:p>
          <a:endParaRPr lang="zh-CN" altLang="en-US"/>
        </a:p>
      </dgm:t>
    </dgm:pt>
    <dgm:pt modelId="{EB0FAE3C-39FD-456A-8739-9F84053CC376}" type="sibTrans" cxnId="{F6D2FF3C-FBEC-4007-8BB9-4EA861C0CD56}">
      <dgm:prSet/>
      <dgm:spPr/>
      <dgm:t>
        <a:bodyPr/>
        <a:lstStyle/>
        <a:p>
          <a:endParaRPr lang="zh-CN" altLang="en-US"/>
        </a:p>
      </dgm:t>
    </dgm:pt>
    <dgm:pt modelId="{31A81929-73E5-4B1B-A648-F1DE04DB3520}">
      <dgm:prSet phldrT="[文本]"/>
      <dgm:spPr/>
      <dgm:t>
        <a:bodyPr/>
        <a:lstStyle/>
        <a:p>
          <a:r>
            <a:rPr lang="zh-CN" altLang="en-US" dirty="0"/>
            <a:t>是否收到补贴</a:t>
          </a:r>
          <a:r>
            <a:rPr lang="en-US" altLang="zh-CN" dirty="0"/>
            <a:t>dummy</a:t>
          </a:r>
          <a:endParaRPr lang="zh-CN" altLang="en-US" dirty="0"/>
        </a:p>
      </dgm:t>
    </dgm:pt>
    <dgm:pt modelId="{337B0FA9-B18B-4AA3-AD29-4D630E201CBA}" type="parTrans" cxnId="{4F22F127-6B47-4361-81A0-CA14F9820E25}">
      <dgm:prSet/>
      <dgm:spPr/>
      <dgm:t>
        <a:bodyPr/>
        <a:lstStyle/>
        <a:p>
          <a:endParaRPr lang="zh-CN" altLang="en-US"/>
        </a:p>
      </dgm:t>
    </dgm:pt>
    <dgm:pt modelId="{DBD79244-72B3-47BB-9855-3CEC5D735A06}" type="sibTrans" cxnId="{4F22F127-6B47-4361-81A0-CA14F9820E25}">
      <dgm:prSet/>
      <dgm:spPr/>
      <dgm:t>
        <a:bodyPr/>
        <a:lstStyle/>
        <a:p>
          <a:endParaRPr lang="zh-CN" altLang="en-US"/>
        </a:p>
      </dgm:t>
    </dgm:pt>
    <dgm:pt modelId="{6D6BF7D1-9186-4830-B1BF-ACD7CCDA3BD7}">
      <dgm:prSet phldrT="[文本]" phldr="0"/>
      <dgm:spPr/>
      <dgm:t>
        <a:bodyPr/>
        <a:lstStyle/>
        <a:p>
          <a:r>
            <a:rPr lang="zh-CN" altLang="en-US" dirty="0"/>
            <a:t>企业产出</a:t>
          </a:r>
        </a:p>
      </dgm:t>
    </dgm:pt>
    <dgm:pt modelId="{78C78551-84A6-43A7-AB35-9890E97426B0}" type="parTrans" cxnId="{4C7A215D-C8E5-4D64-9849-37AFDF78A475}">
      <dgm:prSet/>
      <dgm:spPr/>
      <dgm:t>
        <a:bodyPr/>
        <a:lstStyle/>
        <a:p>
          <a:endParaRPr lang="zh-CN" altLang="en-US"/>
        </a:p>
      </dgm:t>
    </dgm:pt>
    <dgm:pt modelId="{F5238D6A-6ABE-4E94-8EBC-B13E350B0D7C}" type="sibTrans" cxnId="{4C7A215D-C8E5-4D64-9849-37AFDF78A475}">
      <dgm:prSet/>
      <dgm:spPr/>
      <dgm:t>
        <a:bodyPr/>
        <a:lstStyle/>
        <a:p>
          <a:endParaRPr lang="zh-CN" altLang="en-US"/>
        </a:p>
      </dgm:t>
    </dgm:pt>
    <dgm:pt modelId="{53418AE5-66C1-4793-8DBF-FD48B2052645}" type="pres">
      <dgm:prSet presAssocID="{00D8E70B-C400-4007-B47D-4AC8E09B7F57}" presName="Name0" presStyleCnt="0">
        <dgm:presLayoutVars>
          <dgm:dir/>
          <dgm:resizeHandles val="exact"/>
        </dgm:presLayoutVars>
      </dgm:prSet>
      <dgm:spPr/>
    </dgm:pt>
    <dgm:pt modelId="{990FEFF4-54CA-484A-8D54-64BCC6DEA1CE}" type="pres">
      <dgm:prSet presAssocID="{0C160D6B-194C-4E91-B603-3C6F8C19A9DE}" presName="node" presStyleLbl="node1" presStyleIdx="0" presStyleCnt="3">
        <dgm:presLayoutVars>
          <dgm:bulletEnabled val="1"/>
        </dgm:presLayoutVars>
      </dgm:prSet>
      <dgm:spPr/>
    </dgm:pt>
    <dgm:pt modelId="{A4FEB66B-FCA8-4E74-AED9-DED248F852D1}" type="pres">
      <dgm:prSet presAssocID="{EB0FAE3C-39FD-456A-8739-9F84053CC376}" presName="sibTrans" presStyleLbl="sibTrans2D1" presStyleIdx="0" presStyleCnt="2" custLinFactNeighborX="9396" custLinFactNeighborY="-13386"/>
      <dgm:spPr/>
    </dgm:pt>
    <dgm:pt modelId="{68ACDF4A-4173-4CB9-BAE5-8178054963F2}" type="pres">
      <dgm:prSet presAssocID="{EB0FAE3C-39FD-456A-8739-9F84053CC376}" presName="connectorText" presStyleLbl="sibTrans2D1" presStyleIdx="0" presStyleCnt="2"/>
      <dgm:spPr/>
    </dgm:pt>
    <dgm:pt modelId="{040F4D45-279C-40B2-9841-35FAF8320EF5}" type="pres">
      <dgm:prSet presAssocID="{31A81929-73E5-4B1B-A648-F1DE04DB3520}" presName="node" presStyleLbl="node1" presStyleIdx="1" presStyleCnt="3">
        <dgm:presLayoutVars>
          <dgm:bulletEnabled val="1"/>
        </dgm:presLayoutVars>
      </dgm:prSet>
      <dgm:spPr/>
    </dgm:pt>
    <dgm:pt modelId="{72CDE401-B929-427C-8A62-F336A564D4F9}" type="pres">
      <dgm:prSet presAssocID="{DBD79244-72B3-47BB-9855-3CEC5D735A06}" presName="sibTrans" presStyleLbl="sibTrans2D1" presStyleIdx="1" presStyleCnt="2"/>
      <dgm:spPr/>
    </dgm:pt>
    <dgm:pt modelId="{4C82C6F1-5256-4D31-AAEB-C015D5987723}" type="pres">
      <dgm:prSet presAssocID="{DBD79244-72B3-47BB-9855-3CEC5D735A06}" presName="connectorText" presStyleLbl="sibTrans2D1" presStyleIdx="1" presStyleCnt="2"/>
      <dgm:spPr/>
    </dgm:pt>
    <dgm:pt modelId="{15792302-FD06-40B7-8C01-2228DB395826}" type="pres">
      <dgm:prSet presAssocID="{6D6BF7D1-9186-4830-B1BF-ACD7CCDA3BD7}" presName="node" presStyleLbl="node1" presStyleIdx="2" presStyleCnt="3">
        <dgm:presLayoutVars>
          <dgm:bulletEnabled val="1"/>
        </dgm:presLayoutVars>
      </dgm:prSet>
      <dgm:spPr/>
    </dgm:pt>
  </dgm:ptLst>
  <dgm:cxnLst>
    <dgm:cxn modelId="{4F22F127-6B47-4361-81A0-CA14F9820E25}" srcId="{00D8E70B-C400-4007-B47D-4AC8E09B7F57}" destId="{31A81929-73E5-4B1B-A648-F1DE04DB3520}" srcOrd="1" destOrd="0" parTransId="{337B0FA9-B18B-4AA3-AD29-4D630E201CBA}" sibTransId="{DBD79244-72B3-47BB-9855-3CEC5D735A06}"/>
    <dgm:cxn modelId="{F6D2FF3C-FBEC-4007-8BB9-4EA861C0CD56}" srcId="{00D8E70B-C400-4007-B47D-4AC8E09B7F57}" destId="{0C160D6B-194C-4E91-B603-3C6F8C19A9DE}" srcOrd="0" destOrd="0" parTransId="{115E5899-F4A8-4B92-855B-CBB751BC5BA8}" sibTransId="{EB0FAE3C-39FD-456A-8739-9F84053CC376}"/>
    <dgm:cxn modelId="{4C7A215D-C8E5-4D64-9849-37AFDF78A475}" srcId="{00D8E70B-C400-4007-B47D-4AC8E09B7F57}" destId="{6D6BF7D1-9186-4830-B1BF-ACD7CCDA3BD7}" srcOrd="2" destOrd="0" parTransId="{78C78551-84A6-43A7-AB35-9890E97426B0}" sibTransId="{F5238D6A-6ABE-4E94-8EBC-B13E350B0D7C}"/>
    <dgm:cxn modelId="{37798A53-588C-4A77-9F04-57DD32145D8C}" type="presOf" srcId="{0C160D6B-194C-4E91-B603-3C6F8C19A9DE}" destId="{990FEFF4-54CA-484A-8D54-64BCC6DEA1CE}" srcOrd="0" destOrd="0" presId="urn:microsoft.com/office/officeart/2005/8/layout/process1"/>
    <dgm:cxn modelId="{DFA5AD74-B840-43E0-8F30-92041E89B3D9}" type="presOf" srcId="{6D6BF7D1-9186-4830-B1BF-ACD7CCDA3BD7}" destId="{15792302-FD06-40B7-8C01-2228DB395826}" srcOrd="0" destOrd="0" presId="urn:microsoft.com/office/officeart/2005/8/layout/process1"/>
    <dgm:cxn modelId="{790AA3C4-FE08-43F0-A3B8-36FDE249702A}" type="presOf" srcId="{EB0FAE3C-39FD-456A-8739-9F84053CC376}" destId="{68ACDF4A-4173-4CB9-BAE5-8178054963F2}" srcOrd="1" destOrd="0" presId="urn:microsoft.com/office/officeart/2005/8/layout/process1"/>
    <dgm:cxn modelId="{263244DE-2345-49D5-88C7-BFFF4A3BF728}" type="presOf" srcId="{31A81929-73E5-4B1B-A648-F1DE04DB3520}" destId="{040F4D45-279C-40B2-9841-35FAF8320EF5}" srcOrd="0" destOrd="0" presId="urn:microsoft.com/office/officeart/2005/8/layout/process1"/>
    <dgm:cxn modelId="{E0A8F0E5-0A2F-4E90-8222-A47494E14AB4}" type="presOf" srcId="{EB0FAE3C-39FD-456A-8739-9F84053CC376}" destId="{A4FEB66B-FCA8-4E74-AED9-DED248F852D1}" srcOrd="0" destOrd="0" presId="urn:microsoft.com/office/officeart/2005/8/layout/process1"/>
    <dgm:cxn modelId="{5510C8F4-5F32-4780-BE38-A79F76B8C643}" type="presOf" srcId="{DBD79244-72B3-47BB-9855-3CEC5D735A06}" destId="{72CDE401-B929-427C-8A62-F336A564D4F9}" srcOrd="0" destOrd="0" presId="urn:microsoft.com/office/officeart/2005/8/layout/process1"/>
    <dgm:cxn modelId="{698D9BF9-F8AF-4D7F-9B5D-A9420AB36C97}" type="presOf" srcId="{DBD79244-72B3-47BB-9855-3CEC5D735A06}" destId="{4C82C6F1-5256-4D31-AAEB-C015D5987723}" srcOrd="1" destOrd="0" presId="urn:microsoft.com/office/officeart/2005/8/layout/process1"/>
    <dgm:cxn modelId="{C979C8FF-245F-4815-96DA-951CACAC1995}" type="presOf" srcId="{00D8E70B-C400-4007-B47D-4AC8E09B7F57}" destId="{53418AE5-66C1-4793-8DBF-FD48B2052645}" srcOrd="0" destOrd="0" presId="urn:microsoft.com/office/officeart/2005/8/layout/process1"/>
    <dgm:cxn modelId="{28DC3B05-2A20-41C5-9623-BED6695BC638}" type="presParOf" srcId="{53418AE5-66C1-4793-8DBF-FD48B2052645}" destId="{990FEFF4-54CA-484A-8D54-64BCC6DEA1CE}" srcOrd="0" destOrd="0" presId="urn:microsoft.com/office/officeart/2005/8/layout/process1"/>
    <dgm:cxn modelId="{7AA58999-BFC5-44F1-B4B8-62F5C8954C5D}" type="presParOf" srcId="{53418AE5-66C1-4793-8DBF-FD48B2052645}" destId="{A4FEB66B-FCA8-4E74-AED9-DED248F852D1}" srcOrd="1" destOrd="0" presId="urn:microsoft.com/office/officeart/2005/8/layout/process1"/>
    <dgm:cxn modelId="{C41C023E-9E75-4485-8687-BDFF4317A0AF}" type="presParOf" srcId="{A4FEB66B-FCA8-4E74-AED9-DED248F852D1}" destId="{68ACDF4A-4173-4CB9-BAE5-8178054963F2}" srcOrd="0" destOrd="0" presId="urn:microsoft.com/office/officeart/2005/8/layout/process1"/>
    <dgm:cxn modelId="{FE1F60B8-F8B1-4EF0-8DF7-3E6971891256}" type="presParOf" srcId="{53418AE5-66C1-4793-8DBF-FD48B2052645}" destId="{040F4D45-279C-40B2-9841-35FAF8320EF5}" srcOrd="2" destOrd="0" presId="urn:microsoft.com/office/officeart/2005/8/layout/process1"/>
    <dgm:cxn modelId="{19382DD7-4DD4-4941-841A-EA807310E1AF}" type="presParOf" srcId="{53418AE5-66C1-4793-8DBF-FD48B2052645}" destId="{72CDE401-B929-427C-8A62-F336A564D4F9}" srcOrd="3" destOrd="0" presId="urn:microsoft.com/office/officeart/2005/8/layout/process1"/>
    <dgm:cxn modelId="{0671B28D-DDA7-49C1-9ACD-F0E709C95A18}" type="presParOf" srcId="{72CDE401-B929-427C-8A62-F336A564D4F9}" destId="{4C82C6F1-5256-4D31-AAEB-C015D5987723}" srcOrd="0" destOrd="0" presId="urn:microsoft.com/office/officeart/2005/8/layout/process1"/>
    <dgm:cxn modelId="{13F8616F-E1D5-4482-B28B-41E02AD2006A}" type="presParOf" srcId="{53418AE5-66C1-4793-8DBF-FD48B2052645}" destId="{15792302-FD06-40B7-8C01-2228DB395826}"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0FEFF4-54CA-484A-8D54-64BCC6DEA1CE}">
      <dsp:nvSpPr>
        <dsp:cNvPr id="0" name=""/>
        <dsp:cNvSpPr/>
      </dsp:nvSpPr>
      <dsp:spPr>
        <a:xfrm>
          <a:off x="7143" y="2068777"/>
          <a:ext cx="2135187" cy="12811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t>SEM</a:t>
          </a:r>
          <a:endParaRPr lang="zh-CN" altLang="en-US" sz="2800" kern="1200" dirty="0"/>
        </a:p>
      </dsp:txBody>
      <dsp:txXfrm>
        <a:off x="44665" y="2106299"/>
        <a:ext cx="2060143" cy="1206068"/>
      </dsp:txXfrm>
    </dsp:sp>
    <dsp:sp modelId="{A4FEB66B-FCA8-4E74-AED9-DED248F852D1}">
      <dsp:nvSpPr>
        <dsp:cNvPr id="0" name=""/>
        <dsp:cNvSpPr/>
      </dsp:nvSpPr>
      <dsp:spPr>
        <a:xfrm>
          <a:off x="2398381" y="2373687"/>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a:off x="2398381" y="2479592"/>
        <a:ext cx="316861" cy="317716"/>
      </dsp:txXfrm>
    </dsp:sp>
    <dsp:sp modelId="{040F4D45-279C-40B2-9841-35FAF8320EF5}">
      <dsp:nvSpPr>
        <dsp:cNvPr id="0" name=""/>
        <dsp:cNvSpPr/>
      </dsp:nvSpPr>
      <dsp:spPr>
        <a:xfrm>
          <a:off x="2996406" y="2068777"/>
          <a:ext cx="2135187" cy="12811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是否收到补贴</a:t>
          </a:r>
          <a:r>
            <a:rPr lang="en-US" altLang="zh-CN" sz="2800" kern="1200" dirty="0"/>
            <a:t>dummy</a:t>
          </a:r>
          <a:endParaRPr lang="zh-CN" altLang="en-US" sz="2800" kern="1200" dirty="0"/>
        </a:p>
      </dsp:txBody>
      <dsp:txXfrm>
        <a:off x="3033928" y="2106299"/>
        <a:ext cx="2060143" cy="1206068"/>
      </dsp:txXfrm>
    </dsp:sp>
    <dsp:sp modelId="{72CDE401-B929-427C-8A62-F336A564D4F9}">
      <dsp:nvSpPr>
        <dsp:cNvPr id="0" name=""/>
        <dsp:cNvSpPr/>
      </dsp:nvSpPr>
      <dsp:spPr>
        <a:xfrm>
          <a:off x="5345112" y="2444570"/>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zh-CN" altLang="en-US" sz="2200" kern="1200"/>
        </a:p>
      </dsp:txBody>
      <dsp:txXfrm>
        <a:off x="5345112" y="2550475"/>
        <a:ext cx="316861" cy="317716"/>
      </dsp:txXfrm>
    </dsp:sp>
    <dsp:sp modelId="{15792302-FD06-40B7-8C01-2228DB395826}">
      <dsp:nvSpPr>
        <dsp:cNvPr id="0" name=""/>
        <dsp:cNvSpPr/>
      </dsp:nvSpPr>
      <dsp:spPr>
        <a:xfrm>
          <a:off x="5985668" y="2068777"/>
          <a:ext cx="2135187" cy="128111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企业产出</a:t>
          </a:r>
        </a:p>
      </dsp:txBody>
      <dsp:txXfrm>
        <a:off x="6023190" y="2106299"/>
        <a:ext cx="2060143" cy="120606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6126B9-29CA-5A9D-E677-9060888996A0}"/>
              </a:ext>
            </a:extLst>
          </p:cNvPr>
          <p:cNvSpPr>
            <a:spLocks noGrp="1"/>
          </p:cNvSpPr>
          <p:nvPr>
            <p:ph type="ctrTitle"/>
          </p:nvPr>
        </p:nvSpPr>
        <p:spPr>
          <a:xfrm>
            <a:off x="1524000" y="1122363"/>
            <a:ext cx="9144000" cy="2387600"/>
          </a:xfrm>
        </p:spPr>
        <p:txBody>
          <a:bodyPr anchor="b"/>
          <a:lstStyle>
            <a:lvl1pPr algn="ctr">
              <a:defRPr sz="6000">
                <a:latin typeface="仿宋" panose="02010609060101010101" pitchFamily="49" charset="-122"/>
                <a:ea typeface="仿宋" panose="02010609060101010101" pitchFamily="49" charset="-122"/>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E4FB4BAE-356E-D0F5-15B8-9808B7BD16A1}"/>
              </a:ext>
            </a:extLst>
          </p:cNvPr>
          <p:cNvSpPr>
            <a:spLocks noGrp="1"/>
          </p:cNvSpPr>
          <p:nvPr>
            <p:ph type="subTitle" idx="1"/>
          </p:nvPr>
        </p:nvSpPr>
        <p:spPr>
          <a:xfrm>
            <a:off x="1524000" y="3602038"/>
            <a:ext cx="9144000" cy="1655762"/>
          </a:xfrm>
        </p:spPr>
        <p:txBody>
          <a:bodyPr/>
          <a:lstStyle>
            <a:lvl1pPr marL="0" indent="0" algn="ctr">
              <a:buNone/>
              <a:defRPr sz="2400">
                <a:latin typeface="仿宋" panose="02010609060101010101" pitchFamily="49" charset="-122"/>
                <a:ea typeface="仿宋"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a:extLst>
              <a:ext uri="{FF2B5EF4-FFF2-40B4-BE49-F238E27FC236}">
                <a16:creationId xmlns:a16="http://schemas.microsoft.com/office/drawing/2014/main" id="{4A08B71B-3E44-2A6E-BE47-52DA774127C4}"/>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5" name="页脚占位符 4">
            <a:extLst>
              <a:ext uri="{FF2B5EF4-FFF2-40B4-BE49-F238E27FC236}">
                <a16:creationId xmlns:a16="http://schemas.microsoft.com/office/drawing/2014/main" id="{21097E23-4939-44FA-CB9A-F501373A15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76FF853-CA43-57C4-B5F7-9C70044D513A}"/>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126571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DE739-CB84-B51C-627E-9046ADDAE561}"/>
              </a:ext>
            </a:extLst>
          </p:cNvPr>
          <p:cNvSpPr>
            <a:spLocks noGrp="1"/>
          </p:cNvSpPr>
          <p:nvPr>
            <p:ph type="title"/>
          </p:nvPr>
        </p:nvSpPr>
        <p:spPr/>
        <p:txBody>
          <a:bodyPr/>
          <a:lstStyle>
            <a:lvl1pPr>
              <a:defRPr baseline="0">
                <a:latin typeface="Times New Roman" panose="02020603050405020304" pitchFamily="18" charset="0"/>
                <a:ea typeface="仿宋" panose="02010609060101010101" pitchFamily="49"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A15D373B-A0BE-2B1F-E7A0-C72E9E7A717D}"/>
              </a:ext>
            </a:extLst>
          </p:cNvPr>
          <p:cNvSpPr>
            <a:spLocks noGrp="1"/>
          </p:cNvSpPr>
          <p:nvPr>
            <p:ph idx="1"/>
          </p:nvPr>
        </p:nvSpPr>
        <p:spPr/>
        <p:txBody>
          <a:bodyPr/>
          <a:lstStyle>
            <a:lvl1pPr>
              <a:defRPr baseline="0">
                <a:latin typeface="Times New Roman" panose="02020603050405020304" pitchFamily="18" charset="0"/>
                <a:ea typeface="仿宋" panose="02010609060101010101" pitchFamily="49" charset="-122"/>
              </a:defRPr>
            </a:lvl1pPr>
            <a:lvl2pPr>
              <a:defRPr baseline="0">
                <a:latin typeface="Times New Roman" panose="02020603050405020304" pitchFamily="18" charset="0"/>
                <a:ea typeface="仿宋" panose="02010609060101010101" pitchFamily="49" charset="-122"/>
              </a:defRPr>
            </a:lvl2pPr>
            <a:lvl3pPr>
              <a:defRPr baseline="0">
                <a:latin typeface="Times New Roman" panose="02020603050405020304" pitchFamily="18" charset="0"/>
                <a:ea typeface="仿宋" panose="02010609060101010101" pitchFamily="49" charset="-122"/>
              </a:defRPr>
            </a:lvl3pPr>
            <a:lvl4pPr>
              <a:defRPr baseline="0">
                <a:latin typeface="Times New Roman" panose="02020603050405020304" pitchFamily="18" charset="0"/>
                <a:ea typeface="仿宋" panose="02010609060101010101" pitchFamily="49" charset="-122"/>
              </a:defRPr>
            </a:lvl4pPr>
            <a:lvl5pPr>
              <a:defRPr baseline="0">
                <a:latin typeface="Times New Roman" panose="02020603050405020304" pitchFamily="18" charset="0"/>
                <a:ea typeface="仿宋" panose="02010609060101010101" pitchFamily="49"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2EBE2367-232E-AFB8-F87F-CBF1064A1915}"/>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5" name="页脚占位符 4">
            <a:extLst>
              <a:ext uri="{FF2B5EF4-FFF2-40B4-BE49-F238E27FC236}">
                <a16:creationId xmlns:a16="http://schemas.microsoft.com/office/drawing/2014/main" id="{3E8D215D-3528-CBCE-D640-19A050C2F28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34839FC-124A-A285-9219-95E6AA7FECB4}"/>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2864768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68FA70-E069-9EBC-2489-89DA40634F6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8ADA47F-F115-6703-448C-9A6CF60875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689915C-96D6-7FF0-2648-623E6DB15EB4}"/>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5" name="页脚占位符 4">
            <a:extLst>
              <a:ext uri="{FF2B5EF4-FFF2-40B4-BE49-F238E27FC236}">
                <a16:creationId xmlns:a16="http://schemas.microsoft.com/office/drawing/2014/main" id="{BA4A874B-C5C0-7759-5E75-D9F836E7C6E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8CDE92-E347-1C2E-37F5-9FDC3DE29686}"/>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3309949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F6FE6-00D9-4EC8-5554-5CD8737852F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41EDEC-179D-920B-BB86-A7868C3A3FD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17D812D-4DFA-CB03-44F9-47A660A41F5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AA8FC86-0FB6-359A-4CD9-488E4038A542}"/>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6" name="页脚占位符 5">
            <a:extLst>
              <a:ext uri="{FF2B5EF4-FFF2-40B4-BE49-F238E27FC236}">
                <a16:creationId xmlns:a16="http://schemas.microsoft.com/office/drawing/2014/main" id="{0A1C9C9E-15A7-3957-8799-346C4284F4B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CD79F0C-DD3D-4455-2162-BC983D47A37C}"/>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1450802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B40992-D932-C769-8EC0-314B078B6E6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1BC9695-5F8D-3613-D539-E3C7FFEB49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6D317D1-149D-D84F-BFDB-8608FE1234D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AD9920A-05E7-0F6F-3A63-57B74E75FD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B22755C-8066-9050-8784-33F547C8915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DB47EE1-7BEA-16CE-D11B-5DA34DEC6EBA}"/>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8" name="页脚占位符 7">
            <a:extLst>
              <a:ext uri="{FF2B5EF4-FFF2-40B4-BE49-F238E27FC236}">
                <a16:creationId xmlns:a16="http://schemas.microsoft.com/office/drawing/2014/main" id="{24A4E84C-D778-67F1-BD7D-1840B6C6054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B189292-5F76-BAE3-AB63-E37B3E308BA0}"/>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10691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4CCCCD-0D8C-4CC4-7FD7-D7F376BE406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EDCB887-0FE4-FFCF-C61E-B4A131781794}"/>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4" name="页脚占位符 3">
            <a:extLst>
              <a:ext uri="{FF2B5EF4-FFF2-40B4-BE49-F238E27FC236}">
                <a16:creationId xmlns:a16="http://schemas.microsoft.com/office/drawing/2014/main" id="{A46768A1-7C69-2FAE-35E2-600B2713B28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CAF583D-537F-7A4D-3FAD-7055582857E9}"/>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2139339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4A66E45-BDF9-96F3-DE29-E0A96CA1373A}"/>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3" name="页脚占位符 2">
            <a:extLst>
              <a:ext uri="{FF2B5EF4-FFF2-40B4-BE49-F238E27FC236}">
                <a16:creationId xmlns:a16="http://schemas.microsoft.com/office/drawing/2014/main" id="{CC62D479-C697-0C25-F358-BF214D35FA0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C09A4CA-6ADD-8932-B81C-EEC15F98DFB2}"/>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494543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57321F-17D0-A157-095D-CEDDC8D9BF0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1B85489-AF7E-9851-7234-1A2053C5C9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D41B5F9-B4C3-F0A0-2F5C-89653DA451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C5944DB-B16E-2A2C-1B98-7586F3FFA2CF}"/>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6" name="页脚占位符 5">
            <a:extLst>
              <a:ext uri="{FF2B5EF4-FFF2-40B4-BE49-F238E27FC236}">
                <a16:creationId xmlns:a16="http://schemas.microsoft.com/office/drawing/2014/main" id="{6110E9BB-BA20-2404-484E-C00B76FAE3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6C1BA2B-D905-5ECC-3C94-B34879BF1094}"/>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3587386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CBAD28-FC23-423E-B761-998EC9E750A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9F4BBA7-B9E5-6E34-A8EB-666F212D65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AE9001A-020B-9C16-B743-A26232CFB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EF9F67B-1B72-9CE7-2DB9-68450C78C19A}"/>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6" name="页脚占位符 5">
            <a:extLst>
              <a:ext uri="{FF2B5EF4-FFF2-40B4-BE49-F238E27FC236}">
                <a16:creationId xmlns:a16="http://schemas.microsoft.com/office/drawing/2014/main" id="{3B9374C0-6CBA-4C8B-B424-405975C6706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12DD0E9-3252-BEB0-DE14-E46BFE3D81C0}"/>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121828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194C78-9BCE-2646-1AE8-7B9E0B8DC12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675A812-7832-1BDB-E5F6-D1CADA99BAB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523C2E1-CCCD-8063-E253-996E5A8F17BD}"/>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5" name="页脚占位符 4">
            <a:extLst>
              <a:ext uri="{FF2B5EF4-FFF2-40B4-BE49-F238E27FC236}">
                <a16:creationId xmlns:a16="http://schemas.microsoft.com/office/drawing/2014/main" id="{2FEED244-9FBD-B37D-7527-75C0BF9503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83FAF0-0A84-60A8-2A4B-06B6F2828B57}"/>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4188393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EB81A1B-FDB6-D423-17D8-DB99D52F246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2BEDDBC-3149-4435-C214-E9747988BBD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B98279-B5EE-EF3F-D9F2-730ED8F00AFF}"/>
              </a:ext>
            </a:extLst>
          </p:cNvPr>
          <p:cNvSpPr>
            <a:spLocks noGrp="1"/>
          </p:cNvSpPr>
          <p:nvPr>
            <p:ph type="dt" sz="half" idx="10"/>
          </p:nvPr>
        </p:nvSpPr>
        <p:spPr/>
        <p:txBody>
          <a:bodyPr/>
          <a:lstStyle/>
          <a:p>
            <a:fld id="{29318D3F-BF67-4624-A723-AB369C3E24AF}" type="datetimeFigureOut">
              <a:rPr lang="zh-CN" altLang="en-US" smtClean="0"/>
              <a:t>2025/12/6</a:t>
            </a:fld>
            <a:endParaRPr lang="zh-CN" altLang="en-US"/>
          </a:p>
        </p:txBody>
      </p:sp>
      <p:sp>
        <p:nvSpPr>
          <p:cNvPr id="5" name="页脚占位符 4">
            <a:extLst>
              <a:ext uri="{FF2B5EF4-FFF2-40B4-BE49-F238E27FC236}">
                <a16:creationId xmlns:a16="http://schemas.microsoft.com/office/drawing/2014/main" id="{082ADCDE-E2B3-DD5B-E944-1FB9781796C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3D8DA4D-940E-61AE-AF01-2E279290ADD7}"/>
              </a:ext>
            </a:extLst>
          </p:cNvPr>
          <p:cNvSpPr>
            <a:spLocks noGrp="1"/>
          </p:cNvSpPr>
          <p:nvPr>
            <p:ph type="sldNum" sz="quarter" idx="12"/>
          </p:nvPr>
        </p:nvSpPr>
        <p:spPr/>
        <p:txBody>
          <a:body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1473893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8CF4E94-2993-16C6-D4D4-7327D9D8C8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76C3530-67C8-C5CA-5558-3151034782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54BF3E-F143-5ED9-EC2C-66CD8AB28B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318D3F-BF67-4624-A723-AB369C3E24AF}" type="datetimeFigureOut">
              <a:rPr lang="zh-CN" altLang="en-US" smtClean="0"/>
              <a:t>2025/12/6</a:t>
            </a:fld>
            <a:endParaRPr lang="zh-CN" altLang="en-US"/>
          </a:p>
        </p:txBody>
      </p:sp>
      <p:sp>
        <p:nvSpPr>
          <p:cNvPr id="5" name="页脚占位符 4">
            <a:extLst>
              <a:ext uri="{FF2B5EF4-FFF2-40B4-BE49-F238E27FC236}">
                <a16:creationId xmlns:a16="http://schemas.microsoft.com/office/drawing/2014/main" id="{3F2C89A0-363F-6055-B904-A52ACD14CB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B10B5AC-A276-246F-3AF1-53548F3AD4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38EA3F-B0C8-4489-8530-4BFB5C5B8EB1}" type="slidenum">
              <a:rPr lang="zh-CN" altLang="en-US" smtClean="0"/>
              <a:t>‹#›</a:t>
            </a:fld>
            <a:endParaRPr lang="zh-CN" altLang="en-US"/>
          </a:p>
        </p:txBody>
      </p:sp>
    </p:spTree>
    <p:extLst>
      <p:ext uri="{BB962C8B-B14F-4D97-AF65-F5344CB8AC3E}">
        <p14:creationId xmlns:p14="http://schemas.microsoft.com/office/powerpoint/2010/main" val="3362921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hyperlink" Target="https://doi.org/10.1016/j.jeconom.2007.09.011" TargetMode="External"/><Relationship Id="rId3" Type="http://schemas.openxmlformats.org/officeDocument/2006/relationships/hyperlink" Target="https://doi.org/10.2307/2951620" TargetMode="External"/><Relationship Id="rId7" Type="http://schemas.openxmlformats.org/officeDocument/2006/relationships/hyperlink" Target="https://doi.org/10.1162/0033553041502417" TargetMode="External"/><Relationship Id="rId2" Type="http://schemas.openxmlformats.org/officeDocument/2006/relationships/hyperlink" Target="https://doi.org/10.1162/qjec.2010.125.2.591" TargetMode="External"/><Relationship Id="rId1" Type="http://schemas.openxmlformats.org/officeDocument/2006/relationships/slideLayout" Target="../slideLayouts/slideLayout2.xml"/><Relationship Id="rId6" Type="http://schemas.openxmlformats.org/officeDocument/2006/relationships/hyperlink" Target="https://doi.org/10.1111/1468-0262.00183" TargetMode="External"/><Relationship Id="rId5" Type="http://schemas.openxmlformats.org/officeDocument/2006/relationships/hyperlink" Target="https://doi.org/10.1080/07350015.2018.1443149" TargetMode="External"/><Relationship Id="rId4" Type="http://schemas.openxmlformats.org/officeDocument/2006/relationships/hyperlink" Target="https://ftp.iza.org/dp9034.pdf"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A61FE5-F07D-479C-2F5E-AA4625C5A253}"/>
              </a:ext>
            </a:extLst>
          </p:cNvPr>
          <p:cNvSpPr>
            <a:spLocks noGrp="1"/>
          </p:cNvSpPr>
          <p:nvPr>
            <p:ph type="ctrTitle"/>
          </p:nvPr>
        </p:nvSpPr>
        <p:spPr/>
        <p:txBody>
          <a:bodyPr/>
          <a:lstStyle/>
          <a:p>
            <a:r>
              <a:rPr lang="en-US" altLang="zh-CN" dirty="0">
                <a:latin typeface="+mj-lt"/>
              </a:rPr>
              <a:t>Regression Discontinuity Design</a:t>
            </a:r>
            <a:endParaRPr lang="zh-CN" altLang="en-US" dirty="0">
              <a:latin typeface="+mj-lt"/>
            </a:endParaRPr>
          </a:p>
        </p:txBody>
      </p:sp>
      <p:sp>
        <p:nvSpPr>
          <p:cNvPr id="3" name="副标题 2">
            <a:extLst>
              <a:ext uri="{FF2B5EF4-FFF2-40B4-BE49-F238E27FC236}">
                <a16:creationId xmlns:a16="http://schemas.microsoft.com/office/drawing/2014/main" id="{E8910F2F-1C31-1BB3-9F87-03E810F31288}"/>
              </a:ext>
            </a:extLst>
          </p:cNvPr>
          <p:cNvSpPr>
            <a:spLocks noGrp="1"/>
          </p:cNvSpPr>
          <p:nvPr>
            <p:ph type="subTitle" idx="1"/>
          </p:nvPr>
        </p:nvSpPr>
        <p:spPr/>
        <p:txBody>
          <a:bodyPr/>
          <a:lstStyle/>
          <a:p>
            <a:r>
              <a:rPr lang="zh-CN" altLang="en-US" dirty="0"/>
              <a:t>王浩晨</a:t>
            </a:r>
            <a:endParaRPr lang="en-US" altLang="zh-CN" dirty="0"/>
          </a:p>
          <a:p>
            <a:r>
              <a:rPr lang="en-US" altLang="zh-CN" dirty="0"/>
              <a:t>2025.12</a:t>
            </a:r>
            <a:endParaRPr lang="zh-CN" altLang="en-US" dirty="0"/>
          </a:p>
        </p:txBody>
      </p:sp>
    </p:spTree>
    <p:extLst>
      <p:ext uri="{BB962C8B-B14F-4D97-AF65-F5344CB8AC3E}">
        <p14:creationId xmlns:p14="http://schemas.microsoft.com/office/powerpoint/2010/main" val="144815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7C1526-ADFB-D0F0-9432-F357F4402D0B}"/>
              </a:ext>
            </a:extLst>
          </p:cNvPr>
          <p:cNvSpPr>
            <a:spLocks noGrp="1"/>
          </p:cNvSpPr>
          <p:nvPr>
            <p:ph type="title"/>
          </p:nvPr>
        </p:nvSpPr>
        <p:spPr/>
        <p:txBody>
          <a:bodyPr/>
          <a:lstStyle/>
          <a:p>
            <a:r>
              <a:rPr lang="en-US" altLang="zh-CN" dirty="0"/>
              <a:t>Table of Contents</a:t>
            </a:r>
            <a:endParaRPr lang="zh-CN" altLang="en-US" dirty="0"/>
          </a:p>
        </p:txBody>
      </p:sp>
      <p:sp>
        <p:nvSpPr>
          <p:cNvPr id="3" name="内容占位符 2">
            <a:extLst>
              <a:ext uri="{FF2B5EF4-FFF2-40B4-BE49-F238E27FC236}">
                <a16:creationId xmlns:a16="http://schemas.microsoft.com/office/drawing/2014/main" id="{4366F5AA-7978-F05D-FB8F-5E3EBA5047F0}"/>
              </a:ext>
            </a:extLst>
          </p:cNvPr>
          <p:cNvSpPr>
            <a:spLocks noGrp="1"/>
          </p:cNvSpPr>
          <p:nvPr>
            <p:ph idx="1"/>
          </p:nvPr>
        </p:nvSpPr>
        <p:spPr/>
        <p:txBody>
          <a:bodyPr/>
          <a:lstStyle/>
          <a:p>
            <a:r>
              <a:rPr lang="zh-CN" altLang="en-US" dirty="0"/>
              <a:t>一、</a:t>
            </a:r>
            <a:r>
              <a:rPr lang="en-US" altLang="zh-CN" dirty="0"/>
              <a:t>RD</a:t>
            </a:r>
            <a:r>
              <a:rPr lang="zh-CN" altLang="en-US" dirty="0"/>
              <a:t>的基本设计</a:t>
            </a:r>
            <a:endParaRPr lang="en-US" altLang="zh-CN" dirty="0"/>
          </a:p>
          <a:p>
            <a:pPr lvl="1"/>
            <a:r>
              <a:rPr lang="en-US" altLang="zh-CN" dirty="0"/>
              <a:t>1.RD</a:t>
            </a:r>
            <a:r>
              <a:rPr lang="zh-CN" altLang="en-US" dirty="0"/>
              <a:t>设计思路</a:t>
            </a:r>
            <a:endParaRPr lang="en-US" altLang="zh-CN" dirty="0"/>
          </a:p>
          <a:p>
            <a:pPr lvl="1"/>
            <a:r>
              <a:rPr lang="en-US" altLang="zh-CN" dirty="0"/>
              <a:t>2.</a:t>
            </a:r>
            <a:r>
              <a:rPr lang="zh-CN" altLang="en-US" dirty="0"/>
              <a:t>识别假设</a:t>
            </a:r>
            <a:endParaRPr lang="en-US" altLang="zh-CN" dirty="0"/>
          </a:p>
          <a:p>
            <a:pPr lvl="1"/>
            <a:r>
              <a:rPr lang="en-US" altLang="zh-CN" dirty="0"/>
              <a:t>3.sharp RD design</a:t>
            </a:r>
          </a:p>
          <a:p>
            <a:pPr lvl="2"/>
            <a:r>
              <a:rPr lang="zh-CN" altLang="en-US" dirty="0"/>
              <a:t>作为例子介绍选取的文章</a:t>
            </a:r>
          </a:p>
          <a:p>
            <a:pPr lvl="1"/>
            <a:r>
              <a:rPr lang="en-US" altLang="zh-CN" dirty="0"/>
              <a:t>4.</a:t>
            </a:r>
            <a:r>
              <a:rPr lang="zh-CN" altLang="en-US" dirty="0"/>
              <a:t>估计方法</a:t>
            </a:r>
            <a:endParaRPr lang="en-US" altLang="zh-CN" dirty="0"/>
          </a:p>
          <a:p>
            <a:pPr lvl="1"/>
            <a:r>
              <a:rPr lang="en-US" altLang="zh-CN" dirty="0"/>
              <a:t>5.fuzzy RD design</a:t>
            </a:r>
          </a:p>
          <a:p>
            <a:pPr lvl="1"/>
            <a:r>
              <a:rPr lang="en-US" altLang="zh-CN" dirty="0"/>
              <a:t>6.</a:t>
            </a:r>
            <a:r>
              <a:rPr lang="zh-CN" altLang="en-US" dirty="0"/>
              <a:t>识别挑战</a:t>
            </a:r>
            <a:endParaRPr lang="en-US" altLang="zh-CN" dirty="0"/>
          </a:p>
          <a:p>
            <a:r>
              <a:rPr lang="zh-CN" altLang="en-US" dirty="0"/>
              <a:t>二、实践</a:t>
            </a:r>
          </a:p>
        </p:txBody>
      </p:sp>
    </p:spTree>
    <p:extLst>
      <p:ext uri="{BB962C8B-B14F-4D97-AF65-F5344CB8AC3E}">
        <p14:creationId xmlns:p14="http://schemas.microsoft.com/office/powerpoint/2010/main" val="531775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695C1E-15FE-3D15-7E56-8EDFF4B05CAC}"/>
              </a:ext>
            </a:extLst>
          </p:cNvPr>
          <p:cNvSpPr>
            <a:spLocks noGrp="1"/>
          </p:cNvSpPr>
          <p:nvPr>
            <p:ph type="title"/>
          </p:nvPr>
        </p:nvSpPr>
        <p:spPr/>
        <p:txBody>
          <a:bodyPr/>
          <a:lstStyle/>
          <a:p>
            <a:r>
              <a:rPr lang="en-US" altLang="zh-CN" dirty="0"/>
              <a:t>RD</a:t>
            </a:r>
            <a:r>
              <a:rPr lang="zh-CN" altLang="en-US" dirty="0"/>
              <a:t>的设计思路</a:t>
            </a:r>
          </a:p>
        </p:txBody>
      </p:sp>
      <p:sp>
        <p:nvSpPr>
          <p:cNvPr id="3" name="内容占位符 2">
            <a:extLst>
              <a:ext uri="{FF2B5EF4-FFF2-40B4-BE49-F238E27FC236}">
                <a16:creationId xmlns:a16="http://schemas.microsoft.com/office/drawing/2014/main" id="{22D8DDF6-08C2-ADC6-34C6-AC15EBA3216C}"/>
              </a:ext>
            </a:extLst>
          </p:cNvPr>
          <p:cNvSpPr>
            <a:spLocks noGrp="1"/>
          </p:cNvSpPr>
          <p:nvPr>
            <p:ph idx="1"/>
          </p:nvPr>
        </p:nvSpPr>
        <p:spPr/>
        <p:txBody>
          <a:bodyPr>
            <a:normAutofit/>
          </a:bodyPr>
          <a:lstStyle/>
          <a:p>
            <a:r>
              <a:rPr lang="zh-CN" altLang="en-US" dirty="0"/>
              <a:t>数据图示 </a:t>
            </a:r>
            <a:r>
              <a:rPr lang="en-US" altLang="zh-CN" dirty="0"/>
              <a:t>DAG</a:t>
            </a:r>
          </a:p>
          <a:p>
            <a:r>
              <a:rPr lang="zh-CN" altLang="en-US" dirty="0"/>
              <a:t>我们想估计</a:t>
            </a:r>
            <a:r>
              <a:rPr lang="en-US" altLang="zh-CN" dirty="0"/>
              <a:t>D-&gt;Y</a:t>
            </a:r>
          </a:p>
          <a:p>
            <a:r>
              <a:rPr lang="en-US" altLang="zh-CN" dirty="0"/>
              <a:t>X-&gt;D </a:t>
            </a:r>
          </a:p>
          <a:p>
            <a:pPr lvl="1"/>
            <a:r>
              <a:rPr lang="en-US" altLang="zh-CN" dirty="0"/>
              <a:t>X</a:t>
            </a:r>
            <a:r>
              <a:rPr lang="zh-CN" altLang="en-US" dirty="0"/>
              <a:t>影响个体</a:t>
            </a:r>
            <a:r>
              <a:rPr lang="en-US" altLang="zh-CN" dirty="0" err="1"/>
              <a:t>i</a:t>
            </a:r>
            <a:r>
              <a:rPr lang="zh-CN" altLang="en-US" dirty="0"/>
              <a:t>接受处理概率（</a:t>
            </a:r>
            <a:r>
              <a:rPr lang="en-US" altLang="zh-CN" dirty="0"/>
              <a:t>D</a:t>
            </a:r>
            <a:r>
              <a:rPr lang="zh-CN" altLang="en-US" dirty="0"/>
              <a:t>）</a:t>
            </a:r>
            <a:endParaRPr lang="en-US" altLang="zh-CN" dirty="0"/>
          </a:p>
          <a:p>
            <a:pPr lvl="1"/>
            <a:r>
              <a:rPr lang="en-US" altLang="zh-CN" dirty="0"/>
              <a:t>X</a:t>
            </a:r>
            <a:r>
              <a:rPr lang="zh-CN" altLang="en-US" dirty="0"/>
              <a:t>分配变量本身通过</a:t>
            </a:r>
            <a:r>
              <a:rPr lang="en-US" altLang="zh-CN" dirty="0"/>
              <a:t>X-&gt;Y</a:t>
            </a:r>
            <a:r>
              <a:rPr lang="zh-CN" altLang="en-US" dirty="0"/>
              <a:t>这条路径独立影响结果</a:t>
            </a:r>
            <a:endParaRPr lang="en-US" altLang="zh-CN" dirty="0"/>
          </a:p>
          <a:p>
            <a:pPr lvl="1"/>
            <a:r>
              <a:rPr lang="zh-CN" altLang="en-US" dirty="0"/>
              <a:t>在</a:t>
            </a:r>
            <a:r>
              <a:rPr lang="en-US" altLang="zh-CN" dirty="0"/>
              <a:t>DAG</a:t>
            </a:r>
            <a:r>
              <a:rPr lang="zh-CN" altLang="en-US" dirty="0"/>
              <a:t>里，我们称</a:t>
            </a:r>
            <a:r>
              <a:rPr lang="en-US" altLang="zh-CN" dirty="0"/>
              <a:t>X</a:t>
            </a:r>
            <a:r>
              <a:rPr lang="zh-CN" altLang="en-US" dirty="0"/>
              <a:t>此时为混杂因子</a:t>
            </a:r>
            <a:endParaRPr lang="en-US" altLang="zh-CN" dirty="0"/>
          </a:p>
          <a:p>
            <a:r>
              <a:rPr lang="en-US" altLang="zh-CN" dirty="0"/>
              <a:t>U</a:t>
            </a:r>
          </a:p>
          <a:p>
            <a:pPr lvl="1"/>
            <a:r>
              <a:rPr lang="zh-CN" altLang="en-US" dirty="0"/>
              <a:t>与</a:t>
            </a:r>
            <a:r>
              <a:rPr lang="en-US" altLang="zh-CN" dirty="0"/>
              <a:t>X</a:t>
            </a:r>
            <a:r>
              <a:rPr lang="zh-CN" altLang="en-US" dirty="0"/>
              <a:t>相关，同时影响</a:t>
            </a:r>
            <a:r>
              <a:rPr lang="en-US" altLang="zh-CN" dirty="0"/>
              <a:t>Y</a:t>
            </a:r>
          </a:p>
        </p:txBody>
      </p:sp>
      <p:pic>
        <p:nvPicPr>
          <p:cNvPr id="7" name="图片 6">
            <a:extLst>
              <a:ext uri="{FF2B5EF4-FFF2-40B4-BE49-F238E27FC236}">
                <a16:creationId xmlns:a16="http://schemas.microsoft.com/office/drawing/2014/main" id="{2E18D9BA-994A-F65E-E474-239AAC92B6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2688" y="1968079"/>
            <a:ext cx="3854420" cy="3270076"/>
          </a:xfrm>
          <a:prstGeom prst="rect">
            <a:avLst/>
          </a:prstGeom>
        </p:spPr>
      </p:pic>
    </p:spTree>
    <p:extLst>
      <p:ext uri="{BB962C8B-B14F-4D97-AF65-F5344CB8AC3E}">
        <p14:creationId xmlns:p14="http://schemas.microsoft.com/office/powerpoint/2010/main" val="3104243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8D886A-5791-BAC8-3660-C5D18375879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3942BF2-88A5-5874-FE3D-A20167DB12B3}"/>
              </a:ext>
            </a:extLst>
          </p:cNvPr>
          <p:cNvSpPr>
            <a:spLocks noGrp="1"/>
          </p:cNvSpPr>
          <p:nvPr>
            <p:ph idx="1"/>
          </p:nvPr>
        </p:nvSpPr>
        <p:spPr/>
        <p:txBody>
          <a:bodyPr/>
          <a:lstStyle/>
          <a:p>
            <a:r>
              <a:rPr lang="zh-CN" altLang="en-US" dirty="0"/>
              <a:t>被逮捕对后续饮酒驾车的影响</a:t>
            </a:r>
            <a:endParaRPr lang="en-US" altLang="zh-CN" dirty="0"/>
          </a:p>
          <a:p>
            <a:pPr lvl="1"/>
            <a:r>
              <a:rPr lang="en-US" altLang="zh-CN" dirty="0"/>
              <a:t>X</a:t>
            </a:r>
            <a:r>
              <a:rPr lang="zh-CN" altLang="en-US" dirty="0"/>
              <a:t>是血液中酒精含量</a:t>
            </a:r>
            <a:endParaRPr lang="en-US" altLang="zh-CN" dirty="0"/>
          </a:p>
          <a:p>
            <a:pPr lvl="1"/>
            <a:r>
              <a:rPr lang="en-US" altLang="zh-CN" dirty="0"/>
              <a:t>Y</a:t>
            </a:r>
            <a:r>
              <a:rPr lang="zh-CN" altLang="en-US" dirty="0"/>
              <a:t>是后续酒驾</a:t>
            </a:r>
            <a:endParaRPr lang="en-US" altLang="zh-CN" dirty="0"/>
          </a:p>
          <a:p>
            <a:pPr lvl="1"/>
            <a:r>
              <a:rPr lang="en-US" altLang="zh-CN" dirty="0"/>
              <a:t>D</a:t>
            </a:r>
            <a:r>
              <a:rPr lang="zh-CN" altLang="en-US" dirty="0"/>
              <a:t>是是否被逮捕</a:t>
            </a:r>
            <a:endParaRPr lang="en-US" altLang="zh-CN" dirty="0"/>
          </a:p>
          <a:p>
            <a:pPr lvl="1"/>
            <a:r>
              <a:rPr lang="en-US" altLang="zh-CN" dirty="0"/>
              <a:t>X-&gt;Y </a:t>
            </a:r>
            <a:r>
              <a:rPr lang="zh-CN" altLang="en-US" dirty="0"/>
              <a:t>喝得越多，下次越容易继续酒驾</a:t>
            </a:r>
            <a:endParaRPr lang="en-US" altLang="zh-CN" dirty="0"/>
          </a:p>
          <a:p>
            <a:pPr lvl="1"/>
            <a:r>
              <a:rPr lang="en-US" altLang="zh-CN" dirty="0"/>
              <a:t>X-&gt;D </a:t>
            </a:r>
            <a:r>
              <a:rPr lang="zh-CN" altLang="en-US" dirty="0"/>
              <a:t>喝得越多，越容易被抓</a:t>
            </a:r>
            <a:endParaRPr lang="en-US" altLang="zh-CN" dirty="0"/>
          </a:p>
          <a:p>
            <a:pPr lvl="1"/>
            <a:r>
              <a:rPr lang="en-US" altLang="zh-CN" dirty="0"/>
              <a:t>U</a:t>
            </a:r>
            <a:r>
              <a:rPr lang="zh-CN" altLang="en-US" dirty="0"/>
              <a:t>风险偏好 胆子越大，越敢酒驾</a:t>
            </a:r>
            <a:endParaRPr lang="en-US" altLang="zh-CN" dirty="0"/>
          </a:p>
          <a:p>
            <a:r>
              <a:rPr lang="zh-CN" altLang="en-US" dirty="0"/>
              <a:t>根据后门准则，我们只需要控制</a:t>
            </a:r>
            <a:r>
              <a:rPr lang="en-US" altLang="zh-CN" dirty="0"/>
              <a:t>X</a:t>
            </a:r>
            <a:r>
              <a:rPr lang="zh-CN" altLang="en-US" dirty="0"/>
              <a:t>即可</a:t>
            </a:r>
            <a:endParaRPr lang="en-US" altLang="zh-CN" dirty="0"/>
          </a:p>
          <a:p>
            <a:pPr lvl="1"/>
            <a:r>
              <a:rPr lang="zh-CN" altLang="en-US" dirty="0"/>
              <a:t>但真的可以吗</a:t>
            </a:r>
            <a:r>
              <a:rPr lang="en-US" altLang="zh-CN" dirty="0"/>
              <a:t>?</a:t>
            </a:r>
          </a:p>
          <a:p>
            <a:endParaRPr lang="zh-CN" altLang="en-US" dirty="0"/>
          </a:p>
        </p:txBody>
      </p:sp>
      <p:pic>
        <p:nvPicPr>
          <p:cNvPr id="4" name="图片 3">
            <a:extLst>
              <a:ext uri="{FF2B5EF4-FFF2-40B4-BE49-F238E27FC236}">
                <a16:creationId xmlns:a16="http://schemas.microsoft.com/office/drawing/2014/main" id="{CA558748-C866-DA5F-C89F-72FBAE801475}"/>
              </a:ext>
            </a:extLst>
          </p:cNvPr>
          <p:cNvPicPr>
            <a:picLocks noChangeAspect="1"/>
          </p:cNvPicPr>
          <p:nvPr/>
        </p:nvPicPr>
        <p:blipFill>
          <a:blip r:embed="rId2"/>
          <a:stretch>
            <a:fillRect/>
          </a:stretch>
        </p:blipFill>
        <p:spPr>
          <a:xfrm>
            <a:off x="7276034" y="2085800"/>
            <a:ext cx="3853006" cy="3267739"/>
          </a:xfrm>
          <a:prstGeom prst="rect">
            <a:avLst/>
          </a:prstGeom>
        </p:spPr>
      </p:pic>
    </p:spTree>
    <p:extLst>
      <p:ext uri="{BB962C8B-B14F-4D97-AF65-F5344CB8AC3E}">
        <p14:creationId xmlns:p14="http://schemas.microsoft.com/office/powerpoint/2010/main" val="4070501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D19EF-C10D-804B-44CA-734D2DB5085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FA8A1AE-A3E8-CC22-4A93-6E9D93229DDF}"/>
              </a:ext>
            </a:extLst>
          </p:cNvPr>
          <p:cNvSpPr>
            <a:spLocks noGrp="1"/>
          </p:cNvSpPr>
          <p:nvPr>
            <p:ph idx="1"/>
          </p:nvPr>
        </p:nvSpPr>
        <p:spPr/>
        <p:txBody>
          <a:bodyPr/>
          <a:lstStyle/>
          <a:p>
            <a:r>
              <a:rPr lang="en-US" altLang="zh-CN" dirty="0"/>
              <a:t>Of course not</a:t>
            </a:r>
          </a:p>
          <a:p>
            <a:r>
              <a:rPr lang="zh-CN" altLang="en-US" dirty="0"/>
              <a:t>分配变量是基于一个断点来分配 </a:t>
            </a:r>
            <a:r>
              <a:rPr lang="en-US" altLang="zh-CN" dirty="0"/>
              <a:t>treat / control</a:t>
            </a:r>
            <a:r>
              <a:rPr lang="zh-CN" altLang="en-US" dirty="0"/>
              <a:t> </a:t>
            </a:r>
            <a:r>
              <a:rPr lang="en-US" altLang="zh-CN" dirty="0"/>
              <a:t>group</a:t>
            </a:r>
            <a:r>
              <a:rPr lang="zh-CN" altLang="en-US" dirty="0"/>
              <a:t>个体</a:t>
            </a:r>
            <a:endParaRPr lang="en-US" altLang="zh-CN" dirty="0"/>
          </a:p>
          <a:p>
            <a:pPr lvl="1"/>
            <a:r>
              <a:rPr lang="zh-CN" altLang="en-US" dirty="0"/>
              <a:t>因此，我们无法在一个</a:t>
            </a:r>
            <a:r>
              <a:rPr lang="en-US" altLang="zh-CN" dirty="0"/>
              <a:t>X</a:t>
            </a:r>
            <a:r>
              <a:rPr lang="zh-CN" altLang="en-US" dirty="0"/>
              <a:t>取值下同时看到</a:t>
            </a:r>
            <a:r>
              <a:rPr lang="en-US" altLang="zh-CN" dirty="0"/>
              <a:t>treat / control</a:t>
            </a:r>
            <a:r>
              <a:rPr lang="zh-CN" altLang="en-US" dirty="0"/>
              <a:t> </a:t>
            </a:r>
            <a:r>
              <a:rPr lang="en-US" altLang="zh-CN" dirty="0"/>
              <a:t>group</a:t>
            </a:r>
            <a:r>
              <a:rPr lang="zh-CN" altLang="en-US" dirty="0"/>
              <a:t>个体</a:t>
            </a:r>
            <a:endParaRPr lang="en-US" altLang="zh-CN" dirty="0"/>
          </a:p>
          <a:p>
            <a:r>
              <a:rPr lang="zh-CN" altLang="en-US" dirty="0"/>
              <a:t>这意味着什么</a:t>
            </a:r>
            <a:endParaRPr lang="en-US" altLang="zh-CN" dirty="0"/>
          </a:p>
          <a:p>
            <a:pPr lvl="1"/>
            <a:r>
              <a:rPr lang="en-US" altLang="zh-CN" dirty="0"/>
              <a:t>1.</a:t>
            </a:r>
            <a:r>
              <a:rPr lang="zh-CN" altLang="en-US" dirty="0"/>
              <a:t>匹配的重叠条件无法满足</a:t>
            </a:r>
            <a:endParaRPr lang="en-US" altLang="zh-CN" dirty="0"/>
          </a:p>
          <a:p>
            <a:pPr lvl="1"/>
            <a:r>
              <a:rPr lang="en-US" altLang="zh-CN" dirty="0"/>
              <a:t>2.</a:t>
            </a:r>
            <a:r>
              <a:rPr lang="zh-CN" altLang="en-US" dirty="0"/>
              <a:t>后门准则（</a:t>
            </a:r>
            <a:r>
              <a:rPr lang="en-US" altLang="zh-CN" dirty="0"/>
              <a:t>backdoor criterion</a:t>
            </a:r>
            <a:r>
              <a:rPr lang="zh-CN" altLang="en-US" dirty="0"/>
              <a:t>）亦无法被满足</a:t>
            </a:r>
            <a:endParaRPr lang="en-US" altLang="zh-CN" dirty="0"/>
          </a:p>
          <a:p>
            <a:pPr lvl="2"/>
            <a:r>
              <a:rPr lang="zh-CN" altLang="en-US" dirty="0"/>
              <a:t>我们无法通过条件化</a:t>
            </a:r>
            <a:r>
              <a:rPr lang="en-US" altLang="zh-CN" dirty="0"/>
              <a:t>X</a:t>
            </a:r>
            <a:r>
              <a:rPr lang="zh-CN" altLang="en-US" dirty="0"/>
              <a:t>来切断后门路径</a:t>
            </a:r>
            <a:endParaRPr lang="en-US" altLang="zh-CN" dirty="0"/>
          </a:p>
          <a:p>
            <a:r>
              <a:rPr lang="zh-CN" altLang="en-US" dirty="0"/>
              <a:t>怎么办？</a:t>
            </a:r>
            <a:endParaRPr lang="en-US" altLang="zh-CN" dirty="0"/>
          </a:p>
          <a:p>
            <a:pPr lvl="1"/>
            <a:r>
              <a:rPr lang="en-US" altLang="zh-CN" dirty="0"/>
              <a:t>RD</a:t>
            </a:r>
          </a:p>
        </p:txBody>
      </p:sp>
    </p:spTree>
    <p:extLst>
      <p:ext uri="{BB962C8B-B14F-4D97-AF65-F5344CB8AC3E}">
        <p14:creationId xmlns:p14="http://schemas.microsoft.com/office/powerpoint/2010/main" val="2177539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40FDA4-3426-DBAC-695E-EBD2DB509EF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5006100-8B12-FF3A-C86D-AF7B3C66D3BD}"/>
              </a:ext>
            </a:extLst>
          </p:cNvPr>
          <p:cNvSpPr>
            <a:spLocks noGrp="1"/>
          </p:cNvSpPr>
          <p:nvPr>
            <p:ph idx="1"/>
          </p:nvPr>
        </p:nvSpPr>
        <p:spPr/>
        <p:txBody>
          <a:bodyPr/>
          <a:lstStyle/>
          <a:p>
            <a:r>
              <a:rPr lang="en-US" altLang="zh-CN" dirty="0"/>
              <a:t>RD</a:t>
            </a:r>
            <a:r>
              <a:rPr lang="zh-CN" altLang="en-US" dirty="0"/>
              <a:t>的核心</a:t>
            </a:r>
            <a:endParaRPr lang="en-US" altLang="zh-CN" dirty="0"/>
          </a:p>
          <a:p>
            <a:pPr lvl="1"/>
            <a:r>
              <a:rPr lang="en-US" altLang="zh-CN" dirty="0"/>
              <a:t>X</a:t>
            </a:r>
            <a:r>
              <a:rPr lang="zh-CN" altLang="en-US" dirty="0"/>
              <a:t>通过断点分配</a:t>
            </a:r>
            <a:r>
              <a:rPr lang="en-US" altLang="zh-CN" dirty="0"/>
              <a:t>D</a:t>
            </a:r>
            <a:r>
              <a:rPr lang="zh-CN" altLang="en-US" dirty="0"/>
              <a:t>，而不是影响</a:t>
            </a:r>
            <a:r>
              <a:rPr lang="en-US" altLang="zh-CN" dirty="0"/>
              <a:t>D</a:t>
            </a:r>
          </a:p>
          <a:p>
            <a:r>
              <a:rPr lang="zh-CN" altLang="en-US" dirty="0"/>
              <a:t>为什么没有</a:t>
            </a:r>
            <a:r>
              <a:rPr lang="en-US" altLang="zh-CN" dirty="0"/>
              <a:t>X-&gt;U</a:t>
            </a:r>
            <a:r>
              <a:rPr lang="zh-CN" altLang="en-US" dirty="0"/>
              <a:t>，</a:t>
            </a:r>
            <a:r>
              <a:rPr lang="en-US" altLang="zh-CN" dirty="0"/>
              <a:t>X-&gt;Y</a:t>
            </a:r>
          </a:p>
          <a:p>
            <a:pPr lvl="1"/>
            <a:r>
              <a:rPr lang="en-US" altLang="zh-CN" dirty="0"/>
              <a:t>X-&gt;C</a:t>
            </a:r>
            <a:r>
              <a:rPr lang="en-US" altLang="zh-CN" sz="1400" dirty="0"/>
              <a:t>0</a:t>
            </a:r>
          </a:p>
          <a:p>
            <a:pPr lvl="1"/>
            <a:r>
              <a:rPr lang="en-US" altLang="zh-CN" dirty="0"/>
              <a:t>X</a:t>
            </a:r>
            <a:r>
              <a:rPr lang="zh-CN" altLang="en-US" dirty="0"/>
              <a:t>无限接近</a:t>
            </a:r>
            <a:r>
              <a:rPr lang="en-US" altLang="zh-CN" dirty="0"/>
              <a:t>C0</a:t>
            </a:r>
          </a:p>
          <a:p>
            <a:pPr lvl="1"/>
            <a:r>
              <a:rPr lang="zh-CN" altLang="en-US" dirty="0"/>
              <a:t>的局部范围内，这些个体</a:t>
            </a:r>
            <a:r>
              <a:rPr lang="en-US" altLang="zh-CN" dirty="0"/>
              <a:t>X</a:t>
            </a:r>
            <a:r>
              <a:rPr lang="zh-CN" altLang="en-US" dirty="0"/>
              <a:t>几乎无差异</a:t>
            </a:r>
            <a:endParaRPr lang="en-US" altLang="zh-CN" dirty="0"/>
          </a:p>
          <a:p>
            <a:r>
              <a:rPr lang="zh-CN" altLang="en-US" dirty="0"/>
              <a:t>那</a:t>
            </a:r>
            <a:r>
              <a:rPr lang="en-US" altLang="zh-CN" dirty="0"/>
              <a:t>X-&gt;U</a:t>
            </a:r>
            <a:r>
              <a:rPr lang="zh-CN" altLang="en-US" dirty="0"/>
              <a:t>呢？</a:t>
            </a:r>
            <a:endParaRPr lang="en-US" altLang="zh-CN" dirty="0"/>
          </a:p>
          <a:p>
            <a:pPr lvl="1"/>
            <a:r>
              <a:rPr lang="zh-CN" altLang="en-US" dirty="0"/>
              <a:t>连续性假设（</a:t>
            </a:r>
            <a:r>
              <a:rPr lang="en-US" altLang="zh-CN" dirty="0"/>
              <a:t>continuity assumption</a:t>
            </a:r>
            <a:r>
              <a:rPr lang="zh-CN" altLang="en-US" dirty="0"/>
              <a:t>）</a:t>
            </a:r>
            <a:endParaRPr lang="en-US" altLang="zh-CN" dirty="0"/>
          </a:p>
          <a:p>
            <a:pPr lvl="1"/>
            <a:endParaRPr lang="zh-CN" altLang="en-US" dirty="0"/>
          </a:p>
        </p:txBody>
      </p:sp>
      <p:pic>
        <p:nvPicPr>
          <p:cNvPr id="5" name="图片 4">
            <a:extLst>
              <a:ext uri="{FF2B5EF4-FFF2-40B4-BE49-F238E27FC236}">
                <a16:creationId xmlns:a16="http://schemas.microsoft.com/office/drawing/2014/main" id="{F9211D78-CFBE-4755-9E36-8169D87959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7534" y="2398028"/>
            <a:ext cx="4924154" cy="3024787"/>
          </a:xfrm>
          <a:prstGeom prst="rect">
            <a:avLst/>
          </a:prstGeom>
        </p:spPr>
      </p:pic>
    </p:spTree>
    <p:extLst>
      <p:ext uri="{BB962C8B-B14F-4D97-AF65-F5344CB8AC3E}">
        <p14:creationId xmlns:p14="http://schemas.microsoft.com/office/powerpoint/2010/main" val="4097696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5DA6B4-6929-54DB-E67C-57B37B6F3234}"/>
              </a:ext>
            </a:extLst>
          </p:cNvPr>
          <p:cNvSpPr>
            <a:spLocks noGrp="1"/>
          </p:cNvSpPr>
          <p:nvPr>
            <p:ph type="title"/>
          </p:nvPr>
        </p:nvSpPr>
        <p:spPr/>
        <p:txBody>
          <a:bodyPr/>
          <a:lstStyle/>
          <a:p>
            <a:r>
              <a:rPr lang="zh-CN" altLang="en-US" dirty="0"/>
              <a:t>识别假设</a:t>
            </a:r>
          </a:p>
        </p:txBody>
      </p:sp>
      <p:sp>
        <p:nvSpPr>
          <p:cNvPr id="3" name="内容占位符 2">
            <a:extLst>
              <a:ext uri="{FF2B5EF4-FFF2-40B4-BE49-F238E27FC236}">
                <a16:creationId xmlns:a16="http://schemas.microsoft.com/office/drawing/2014/main" id="{D67907D0-8869-72EF-6C9A-1457B6E93A15}"/>
              </a:ext>
            </a:extLst>
          </p:cNvPr>
          <p:cNvSpPr>
            <a:spLocks noGrp="1"/>
          </p:cNvSpPr>
          <p:nvPr>
            <p:ph idx="1"/>
          </p:nvPr>
        </p:nvSpPr>
        <p:spPr/>
        <p:txBody>
          <a:bodyPr/>
          <a:lstStyle/>
          <a:p>
            <a:r>
              <a:rPr lang="zh-CN" altLang="en-US" dirty="0"/>
              <a:t>连续性假设（</a:t>
            </a:r>
            <a:r>
              <a:rPr lang="en-US" altLang="zh-CN" dirty="0"/>
              <a:t>continuity assumption</a:t>
            </a:r>
            <a:r>
              <a:rPr lang="zh-CN" altLang="en-US" dirty="0"/>
              <a:t>）</a:t>
            </a:r>
            <a:endParaRPr lang="en-US" altLang="zh-CN" dirty="0"/>
          </a:p>
          <a:p>
            <a:r>
              <a:rPr lang="zh-CN" altLang="en-US" dirty="0"/>
              <a:t>断点本生不能内生于某些发生在断点是个体进入处理组的同一时刻的竞争性干预</a:t>
            </a:r>
            <a:endParaRPr lang="en-US" altLang="zh-CN" dirty="0"/>
          </a:p>
          <a:p>
            <a:pPr lvl="1"/>
            <a:r>
              <a:rPr lang="zh-CN" altLang="en-US" dirty="0"/>
              <a:t>期望的潜在结果在断点处是连续的 </a:t>
            </a:r>
            <a:endParaRPr lang="en-US" altLang="zh-CN" dirty="0"/>
          </a:p>
          <a:p>
            <a:pPr lvl="1"/>
            <a:endParaRPr lang="zh-CN" altLang="en-US" dirty="0"/>
          </a:p>
        </p:txBody>
      </p:sp>
      <p:pic>
        <p:nvPicPr>
          <p:cNvPr id="5" name="图片 4">
            <a:extLst>
              <a:ext uri="{FF2B5EF4-FFF2-40B4-BE49-F238E27FC236}">
                <a16:creationId xmlns:a16="http://schemas.microsoft.com/office/drawing/2014/main" id="{0D00B6C2-1F80-FC1E-FA69-C57BFE4314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9428" y="3014907"/>
            <a:ext cx="6275747" cy="3843093"/>
          </a:xfrm>
          <a:prstGeom prst="rect">
            <a:avLst/>
          </a:prstGeom>
        </p:spPr>
      </p:pic>
    </p:spTree>
    <p:extLst>
      <p:ext uri="{BB962C8B-B14F-4D97-AF65-F5344CB8AC3E}">
        <p14:creationId xmlns:p14="http://schemas.microsoft.com/office/powerpoint/2010/main" val="111897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E8C514-497B-EDEC-659E-D853DB849078}"/>
              </a:ext>
            </a:extLst>
          </p:cNvPr>
          <p:cNvSpPr>
            <a:spLocks noGrp="1"/>
          </p:cNvSpPr>
          <p:nvPr>
            <p:ph type="title"/>
          </p:nvPr>
        </p:nvSpPr>
        <p:spPr/>
        <p:txBody>
          <a:bodyPr/>
          <a:lstStyle/>
          <a:p>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01BE865-AB64-4731-29F9-CBB40C08BF27}"/>
                  </a:ext>
                </a:extLst>
              </p:cNvPr>
              <p:cNvSpPr>
                <a:spLocks noGrp="1"/>
              </p:cNvSpPr>
              <p:nvPr>
                <p:ph idx="1"/>
              </p:nvPr>
            </p:nvSpPr>
            <p:spPr/>
            <p:txBody>
              <a:bodyPr/>
              <a:lstStyle/>
              <a:p>
                <a:r>
                  <a:rPr lang="zh-CN" altLang="en-US" dirty="0"/>
                  <a:t>排除了同时发生的竞争性干预</a:t>
                </a:r>
                <a:endParaRPr lang="en-US" altLang="zh-CN" dirty="0"/>
              </a:p>
              <a:p>
                <a:r>
                  <a:rPr lang="en-US" altLang="zh-CN" dirty="0"/>
                  <a:t>Y0</a:t>
                </a:r>
                <a:r>
                  <a:rPr lang="zh-CN" altLang="en-US" dirty="0"/>
                  <a:t>，</a:t>
                </a:r>
                <a:r>
                  <a:rPr lang="en-US" altLang="zh-CN" dirty="0"/>
                  <a:t>Y1</a:t>
                </a:r>
                <a:r>
                  <a:rPr lang="zh-CN" altLang="en-US" dirty="0"/>
                  <a:t>在断点左右的连续还说明了一件事情</a:t>
                </a:r>
                <a:endParaRPr lang="en-US" altLang="zh-CN" dirty="0"/>
              </a:p>
              <a:p>
                <a:pPr lvl="1"/>
                <a:r>
                  <a:rPr lang="en-US" altLang="zh-CN" dirty="0"/>
                  <a:t>U</a:t>
                </a:r>
                <a:r>
                  <a:rPr lang="zh-CN" altLang="en-US" dirty="0"/>
                  <a:t>的分布在断点左右几乎一样</a:t>
                </a:r>
                <a:endParaRPr lang="en-US" altLang="zh-CN" dirty="0"/>
              </a:p>
              <a:p>
                <a:r>
                  <a:rPr lang="en-US" altLang="zh-CN" dirty="0"/>
                  <a:t>Scott </a:t>
                </a:r>
                <a:r>
                  <a:rPr lang="en-US" altLang="zh-CN" dirty="0" err="1"/>
                  <a:t>Cunnungham</a:t>
                </a:r>
                <a:r>
                  <a:rPr lang="zh-CN" altLang="en-US" dirty="0"/>
                  <a:t>认为，连续应该作为原假设</a:t>
                </a:r>
                <a:endParaRPr lang="en-US" altLang="zh-CN" dirty="0"/>
              </a:p>
              <a:p>
                <a:pPr lvl="1"/>
                <a:r>
                  <a:rPr lang="zh-CN" altLang="en-US" dirty="0"/>
                  <a:t>任何不连续一定意味着存在着某种原因</a:t>
                </a:r>
                <a:endParaRPr lang="en-US" altLang="zh-CN" dirty="0"/>
              </a:p>
              <a:p>
                <a:pPr lvl="1"/>
                <a:r>
                  <a:rPr lang="en-US" altLang="zh-CN" dirty="0">
                    <a:latin typeface="+mn-lt"/>
                  </a:rPr>
                  <a:t>Nature non facit saltum</a:t>
                </a:r>
              </a:p>
              <a:p>
                <a:r>
                  <a:rPr lang="zh-CN" altLang="en-US" dirty="0"/>
                  <a:t>连续性假设描述</a:t>
                </a:r>
                <a:endParaRPr lang="en-US" altLang="zh-CN" dirty="0"/>
              </a:p>
              <a:p>
                <a:pPr lvl="1"/>
                <a14:m>
                  <m:oMath xmlns:m="http://schemas.openxmlformats.org/officeDocument/2006/math">
                    <m:r>
                      <m:rPr>
                        <m:sty m:val="p"/>
                      </m:rPr>
                      <a:rPr lang="en-US" altLang="zh-CN" i="1" dirty="0">
                        <a:latin typeface="Cambria Math" panose="02040503050406030204" pitchFamily="18" charset="0"/>
                      </a:rPr>
                      <m:t>E</m:t>
                    </m:r>
                    <m:r>
                      <a:rPr lang="en-US" altLang="zh-CN" b="0" i="1" dirty="0" smtClean="0">
                        <a:latin typeface="Cambria Math" panose="02040503050406030204" pitchFamily="18" charset="0"/>
                      </a:rPr>
                      <m:t>[</m:t>
                    </m:r>
                    <m:sSubSup>
                      <m:sSubSupPr>
                        <m:ctrlPr>
                          <a:rPr lang="en-US" altLang="zh-CN" i="1" dirty="0" smtClean="0">
                            <a:latin typeface="Cambria Math" panose="02040503050406030204" pitchFamily="18" charset="0"/>
                          </a:rPr>
                        </m:ctrlPr>
                      </m:sSubSup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0</m:t>
                        </m:r>
                      </m:sup>
                    </m:sSub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r>
                      <a:rPr lang="zh-CN" altLang="en-US" i="1" dirty="0">
                        <a:latin typeface="Cambria Math" panose="02040503050406030204" pitchFamily="18" charset="0"/>
                      </a:rPr>
                      <m:t>和</m:t>
                    </m:r>
                    <m:r>
                      <m:rPr>
                        <m:sty m:val="p"/>
                      </m:rPr>
                      <a:rPr lang="en-US" altLang="zh-CN" i="1" dirty="0">
                        <a:latin typeface="Cambria Math" panose="02040503050406030204" pitchFamily="18" charset="0"/>
                      </a:rPr>
                      <m:t>E</m:t>
                    </m:r>
                    <m:r>
                      <a:rPr lang="en-US" altLang="zh-CN"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1</m:t>
                        </m:r>
                      </m:sup>
                    </m:sSubSup>
                    <m:r>
                      <a:rPr lang="en-US" altLang="zh-CN" i="1" dirty="0">
                        <a:latin typeface="Cambria Math" panose="02040503050406030204" pitchFamily="18" charset="0"/>
                      </a:rPr>
                      <m:t>|</m:t>
                    </m:r>
                    <m:r>
                      <a:rPr lang="en-US" altLang="zh-CN" i="1" dirty="0">
                        <a:latin typeface="Cambria Math" panose="02040503050406030204" pitchFamily="18" charset="0"/>
                      </a:rPr>
                      <m:t>𝑋</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oMath>
                </a14:m>
                <a:r>
                  <a:rPr lang="zh-CN" altLang="en-US" dirty="0"/>
                  <a:t>是跨越</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0</m:t>
                        </m:r>
                      </m:sub>
                    </m:sSub>
                    <m:r>
                      <a:rPr lang="zh-CN" altLang="en-US" i="1" dirty="0">
                        <a:latin typeface="Cambria Math" panose="02040503050406030204" pitchFamily="18" charset="0"/>
                      </a:rPr>
                      <m:t>的</m:t>
                    </m:r>
                  </m:oMath>
                </a14:m>
                <a:r>
                  <a:rPr lang="en-US" altLang="zh-CN" dirty="0"/>
                  <a:t>X</a:t>
                </a:r>
                <a:r>
                  <a:rPr lang="zh-CN" altLang="en-US" dirty="0"/>
                  <a:t>的连续平滑函数</a:t>
                </a:r>
                <a:endParaRPr lang="en-US" altLang="zh-CN" dirty="0"/>
              </a:p>
              <a:p>
                <a:r>
                  <a:rPr lang="zh-CN" altLang="en-US" dirty="0"/>
                  <a:t>怎么检验？</a:t>
                </a:r>
                <a:endParaRPr lang="en-US" altLang="zh-CN" dirty="0"/>
              </a:p>
            </p:txBody>
          </p:sp>
        </mc:Choice>
        <mc:Fallback xmlns="">
          <p:sp>
            <p:nvSpPr>
              <p:cNvPr id="3" name="内容占位符 2">
                <a:extLst>
                  <a:ext uri="{FF2B5EF4-FFF2-40B4-BE49-F238E27FC236}">
                    <a16:creationId xmlns:a16="http://schemas.microsoft.com/office/drawing/2014/main" id="{601BE865-AB64-4731-29F9-CBB40C08BF27}"/>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47952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999D89-D6C2-8C1F-7E78-700C6202E9F8}"/>
              </a:ext>
            </a:extLst>
          </p:cNvPr>
          <p:cNvSpPr>
            <a:spLocks noGrp="1"/>
          </p:cNvSpPr>
          <p:nvPr>
            <p:ph type="title"/>
          </p:nvPr>
        </p:nvSpPr>
        <p:spPr/>
        <p:txBody>
          <a:bodyPr/>
          <a:lstStyle/>
          <a:p>
            <a:r>
              <a:rPr lang="en-US" altLang="zh-CN" dirty="0"/>
              <a:t>sharp RD design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CC3F588-19A1-6718-0AA7-343BD0F17EF6}"/>
                  </a:ext>
                </a:extLst>
              </p:cNvPr>
              <p:cNvSpPr>
                <a:spLocks noGrp="1"/>
              </p:cNvSpPr>
              <p:nvPr>
                <p:ph idx="1"/>
              </p:nvPr>
            </p:nvSpPr>
            <p:spPr/>
            <p:txBody>
              <a:bodyPr>
                <a:normAutofit fontScale="85000" lnSpcReduction="20000"/>
              </a:bodyPr>
              <a:lstStyle/>
              <a:p>
                <a:r>
                  <a:rPr lang="zh-CN" altLang="en-US" dirty="0"/>
                  <a:t>在清晰</a:t>
                </a:r>
                <a:r>
                  <a:rPr lang="en-US" altLang="zh-CN" dirty="0"/>
                  <a:t>RD</a:t>
                </a:r>
                <a:r>
                  <a:rPr lang="zh-CN" altLang="en-US" dirty="0"/>
                  <a:t>中，处理状态</a:t>
                </a:r>
                <a:r>
                  <a:rPr lang="en-US" altLang="zh-CN" dirty="0"/>
                  <a:t>D</a:t>
                </a:r>
                <a:r>
                  <a:rPr lang="zh-CN" altLang="en-US" dirty="0"/>
                  <a:t>是</a:t>
                </a:r>
                <a:r>
                  <a:rPr lang="en-US" altLang="zh-CN" dirty="0"/>
                  <a:t>X</a:t>
                </a:r>
                <a:r>
                  <a:rPr lang="zh-CN" altLang="en-US" dirty="0"/>
                  <a:t>的确定不连续函数</a:t>
                </a:r>
                <a:endParaRPr lang="en-US" altLang="zh-CN" dirty="0"/>
              </a:p>
              <a:p>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D</m:t>
                        </m:r>
                      </m:e>
                      <m:sub>
                        <m:r>
                          <m:rPr>
                            <m:sty m:val="p"/>
                          </m:rPr>
                          <a:rPr lang="en-US" altLang="zh-CN" i="1">
                            <a:latin typeface="Cambria Math" panose="02040503050406030204" pitchFamily="18" charset="0"/>
                          </a:rPr>
                          <m:t>i</m:t>
                        </m:r>
                      </m:sub>
                    </m:sSub>
                    <m:r>
                      <a:rPr lang="en-US" altLang="zh-CN"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1,</m:t>
                            </m:r>
                            <m:r>
                              <a:rPr lang="en-US" altLang="zh-CN" i="1" smtClean="0">
                                <a:latin typeface="Cambria Math" panose="02040503050406030204" pitchFamily="18" charset="0"/>
                              </a:rPr>
                              <m:t>  </m:t>
                            </m:r>
                            <m:r>
                              <a:rPr lang="zh-CN" altLang="en-US" i="1">
                                <a:latin typeface="Cambria Math" panose="02040503050406030204" pitchFamily="18" charset="0"/>
                              </a:rPr>
                              <m:t>如果</m:t>
                            </m:r>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X</m:t>
                                </m:r>
                              </m:e>
                              <m:sub>
                                <m:r>
                                  <m:rPr>
                                    <m:sty m:val="p"/>
                                  </m:rPr>
                                  <a:rPr lang="en-US" altLang="zh-CN" i="1">
                                    <a:latin typeface="Cambria Math" panose="02040503050406030204" pitchFamily="18" charset="0"/>
                                  </a:rPr>
                                  <m:t>i</m:t>
                                </m:r>
                              </m:sub>
                            </m:sSub>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0</m:t>
                                </m:r>
                              </m:sub>
                            </m:sSub>
                          </m:e>
                          <m:e>
                            <m:r>
                              <a:rPr lang="en-US" altLang="zh-CN" b="0" i="1" smtClean="0">
                                <a:latin typeface="Cambria Math" panose="02040503050406030204" pitchFamily="18" charset="0"/>
                              </a:rPr>
                              <m:t>0</m:t>
                            </m:r>
                            <m:r>
                              <a:rPr lang="en-US" altLang="zh-CN" i="1" smtClean="0">
                                <a:latin typeface="Cambria Math" panose="02040503050406030204" pitchFamily="18" charset="0"/>
                              </a:rPr>
                              <m:t>,  </m:t>
                            </m:r>
                            <m:r>
                              <a:rPr lang="zh-CN" altLang="en-US" i="1">
                                <a:latin typeface="Cambria Math" panose="02040503050406030204" pitchFamily="18" charset="0"/>
                              </a:rPr>
                              <m:t>如果</m:t>
                            </m:r>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X</m:t>
                                </m:r>
                              </m:e>
                              <m:sub>
                                <m:r>
                                  <m:rPr>
                                    <m:sty m:val="p"/>
                                  </m:rPr>
                                  <a:rPr lang="en-US" altLang="zh-CN" i="1">
                                    <a:latin typeface="Cambria Math" panose="02040503050406030204" pitchFamily="18" charset="0"/>
                                  </a:rPr>
                                  <m:t>i</m:t>
                                </m:r>
                              </m:sub>
                            </m:sSub>
                            <m:r>
                              <a:rPr lang="en-US" altLang="zh-CN" b="0" i="1" smtClean="0">
                                <a:latin typeface="Cambria Math" panose="02040503050406030204" pitchFamily="18" charset="0"/>
                              </a:rPr>
                              <m:t>&lt;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0</m:t>
                                </m:r>
                              </m:sub>
                            </m:sSub>
                          </m:e>
                        </m:eqArr>
                      </m:e>
                    </m:d>
                  </m:oMath>
                </a14:m>
                <a:endParaRPr lang="en-US" altLang="zh-CN" dirty="0"/>
              </a:p>
              <a:p>
                <a14:m>
                  <m:oMath xmlns:m="http://schemas.openxmlformats.org/officeDocument/2006/math">
                    <m:sSubSup>
                      <m:sSubSupPr>
                        <m:ctrlPr>
                          <a:rPr lang="en-US" altLang="zh-CN" i="1" dirty="0" smtClean="0">
                            <a:latin typeface="Cambria Math" panose="02040503050406030204" pitchFamily="18" charset="0"/>
                          </a:rPr>
                        </m:ctrlPr>
                      </m:sSubSup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0</m:t>
                        </m:r>
                      </m:sup>
                    </m:sSubSup>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𝛼</m:t>
                    </m:r>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𝛽</m:t>
                    </m:r>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𝑋</m:t>
                        </m:r>
                      </m:e>
                      <m:sub>
                        <m:r>
                          <m:rPr>
                            <m:sty m:val="p"/>
                          </m:rPr>
                          <a:rPr lang="en-US" altLang="zh-CN" i="1" dirty="0">
                            <a:latin typeface="Cambria Math" panose="02040503050406030204" pitchFamily="18" charset="0"/>
                          </a:rPr>
                          <m:t>i</m:t>
                        </m:r>
                      </m:sub>
                    </m:sSub>
                    <m:r>
                      <a:rPr lang="en-US" altLang="zh-CN" b="0" i="1" dirty="0" smtClean="0">
                        <a:latin typeface="Cambria Math" panose="02040503050406030204" pitchFamily="18" charset="0"/>
                      </a:rPr>
                      <m:t> </m:t>
                    </m:r>
                  </m:oMath>
                </a14:m>
                <a:r>
                  <a:rPr lang="zh-CN" altLang="en-US" dirty="0"/>
                  <a:t> 未处理个体，驱动变量线性于</a:t>
                </a:r>
                <a:r>
                  <a:rPr lang="en-US" altLang="zh-CN" dirty="0"/>
                  <a:t>Y</a:t>
                </a:r>
              </a:p>
              <a:p>
                <a14:m>
                  <m:oMath xmlns:m="http://schemas.openxmlformats.org/officeDocument/2006/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1</m:t>
                        </m:r>
                      </m:sup>
                    </m:sSubSup>
                    <m:r>
                      <a:rPr lang="en-US" altLang="zh-CN"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0</m:t>
                        </m:r>
                      </m:sup>
                    </m:sSubSup>
                    <m:r>
                      <a:rPr lang="en-US" altLang="zh-CN" i="1" dirty="0">
                        <a:latin typeface="Cambria Math" panose="02040503050406030204" pitchFamily="18" charset="0"/>
                      </a:rPr>
                      <m:t>+</m:t>
                    </m:r>
                    <m:r>
                      <a:rPr lang="zh-CN" altLang="en-US" i="1" dirty="0" smtClean="0">
                        <a:latin typeface="Cambria Math" panose="02040503050406030204" pitchFamily="18" charset="0"/>
                      </a:rPr>
                      <m:t>𝛿</m:t>
                    </m:r>
                  </m:oMath>
                </a14:m>
                <a:r>
                  <a:rPr lang="zh-CN" altLang="en-US" dirty="0"/>
                  <a:t>  </a:t>
                </a:r>
                <a14:m>
                  <m:oMath xmlns:m="http://schemas.openxmlformats.org/officeDocument/2006/math">
                    <m:r>
                      <a:rPr lang="zh-CN" altLang="en-US" i="1" dirty="0" smtClean="0">
                        <a:latin typeface="Cambria Math" panose="02040503050406030204" pitchFamily="18" charset="0"/>
                      </a:rPr>
                      <m:t>𝛿</m:t>
                    </m:r>
                    <m:r>
                      <a:rPr lang="zh-CN" altLang="en-US" i="1" dirty="0">
                        <a:latin typeface="Cambria Math" panose="02040503050406030204" pitchFamily="18" charset="0"/>
                      </a:rPr>
                      <m:t>即</m:t>
                    </m:r>
                  </m:oMath>
                </a14:m>
                <a:r>
                  <a:rPr lang="zh-CN" altLang="en-US" dirty="0"/>
                  <a:t>为我们需要估计的处理效应</a:t>
                </a:r>
                <a:endParaRPr lang="en-US" altLang="zh-CN" dirty="0"/>
              </a:p>
              <a:p>
                <a:r>
                  <a:rPr lang="zh-CN" altLang="en-US" dirty="0"/>
                  <a:t>由潜在因果模型：</a:t>
                </a:r>
                <a14:m>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Y</m:t>
                        </m:r>
                      </m:e>
                      <m:sub>
                        <m:r>
                          <m:rPr>
                            <m:sty m:val="p"/>
                          </m:rPr>
                          <a:rPr lang="en-US" altLang="zh-CN" i="1">
                            <a:latin typeface="Cambria Math" panose="02040503050406030204" pitchFamily="18" charset="0"/>
                          </a:rPr>
                          <m:t>i</m:t>
                        </m:r>
                      </m:sub>
                    </m:sSub>
                    <m:r>
                      <a:rPr lang="en-US" altLang="zh-CN" b="0" i="1" smtClean="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0</m:t>
                        </m:r>
                      </m:sup>
                    </m:sSubSup>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0</m:t>
                            </m:r>
                          </m:sup>
                        </m:sSubSup>
                        <m:r>
                          <a:rPr lang="en-US" altLang="zh-CN" b="0" i="1" dirty="0" smtClean="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0</m:t>
                            </m:r>
                          </m:sup>
                        </m:sSubSup>
                      </m:e>
                    </m:d>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oMath>
                </a14:m>
                <a:endParaRPr lang="en-US" altLang="zh-CN" dirty="0"/>
              </a:p>
              <a:p>
                <a:r>
                  <a:rPr lang="zh-CN" altLang="en-US" dirty="0"/>
                  <a:t>代入可得：</a:t>
                </a:r>
                <a:r>
                  <a:rPr lang="en-US" altLang="zh-CN" dirty="0"/>
                  <a:t> </a:t>
                </a:r>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Y</m:t>
                        </m:r>
                      </m:e>
                      <m:sub>
                        <m:r>
                          <m:rPr>
                            <m:sty m:val="p"/>
                          </m:rPr>
                          <a:rPr lang="en-US" altLang="zh-CN" i="1">
                            <a:latin typeface="Cambria Math" panose="02040503050406030204" pitchFamily="18" charset="0"/>
                          </a:rPr>
                          <m:t>i</m:t>
                        </m:r>
                      </m:sub>
                    </m:sSub>
                    <m:r>
                      <a:rPr lang="en-US" altLang="zh-CN" i="1">
                        <a:latin typeface="Cambria Math" panose="02040503050406030204" pitchFamily="18" charset="0"/>
                      </a:rPr>
                      <m:t>=</m:t>
                    </m:r>
                    <m:r>
                      <a:rPr lang="zh-CN" altLang="en-US" i="1" dirty="0">
                        <a:latin typeface="Cambria Math" panose="02040503050406030204" pitchFamily="18" charset="0"/>
                      </a:rPr>
                      <m:t>𝛼</m:t>
                    </m:r>
                    <m:r>
                      <a:rPr lang="en-US" altLang="zh-CN" i="1" dirty="0">
                        <a:latin typeface="Cambria Math" panose="02040503050406030204" pitchFamily="18" charset="0"/>
                      </a:rPr>
                      <m:t>+</m:t>
                    </m:r>
                    <m:r>
                      <a:rPr lang="zh-CN" altLang="en-US" i="1" dirty="0">
                        <a:latin typeface="Cambria Math" panose="02040503050406030204" pitchFamily="18" charset="0"/>
                      </a:rPr>
                      <m:t>𝛽</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m:rPr>
                            <m:sty m:val="p"/>
                          </m:rPr>
                          <a:rPr lang="en-US" altLang="zh-CN" i="1" dirty="0">
                            <a:latin typeface="Cambria Math" panose="02040503050406030204" pitchFamily="18" charset="0"/>
                          </a:rPr>
                          <m:t>i</m:t>
                        </m:r>
                      </m:sub>
                    </m:sSub>
                    <m:r>
                      <a:rPr lang="en-US" altLang="zh-CN" i="1" dirty="0">
                        <a:latin typeface="Cambria Math" panose="02040503050406030204" pitchFamily="18" charset="0"/>
                      </a:rPr>
                      <m:t>+</m:t>
                    </m:r>
                    <m:r>
                      <a:rPr lang="zh-CN" altLang="en-US" i="1" dirty="0">
                        <a:latin typeface="Cambria Math" panose="02040503050406030204" pitchFamily="18" charset="0"/>
                      </a:rPr>
                      <m:t>𝛿</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oMath>
                </a14:m>
                <a:endParaRPr lang="en-US" altLang="zh-CN" dirty="0"/>
              </a:p>
              <a:p>
                <a:r>
                  <a:rPr lang="zh-CN" altLang="en-US" dirty="0"/>
                  <a:t>因此，在极限状态的时候，处理效应为</a:t>
                </a:r>
                <a:endParaRPr lang="en-US" altLang="zh-CN" dirty="0"/>
              </a:p>
              <a:p>
                <a14:m>
                  <m:oMath xmlns:m="http://schemas.openxmlformats.org/officeDocument/2006/math">
                    <m:r>
                      <a:rPr lang="en-US" altLang="zh-CN" b="0" i="1" dirty="0" smtClean="0">
                        <a:latin typeface="Cambria Math" panose="02040503050406030204" pitchFamily="18" charset="0"/>
                      </a:rPr>
                      <m:t>                                              </m:t>
                    </m:r>
                    <m:r>
                      <a:rPr lang="zh-CN" altLang="en-US" i="1" dirty="0">
                        <a:latin typeface="Cambria Math" panose="02040503050406030204" pitchFamily="18" charset="0"/>
                      </a:rPr>
                      <m:t>𝛿</m:t>
                    </m:r>
                    <m:r>
                      <a:rPr lang="en-US" altLang="zh-CN" b="0" i="1" dirty="0" smtClean="0">
                        <a:latin typeface="Cambria Math" panose="02040503050406030204" pitchFamily="18" charset="0"/>
                      </a:rPr>
                      <m:t>=</m:t>
                    </m:r>
                    <m:r>
                      <m:rPr>
                        <m:sty m:val="p"/>
                      </m:rPr>
                      <a:rPr lang="en-US" altLang="zh-CN" i="1" dirty="0">
                        <a:latin typeface="Cambria Math" panose="02040503050406030204" pitchFamily="18" charset="0"/>
                      </a:rPr>
                      <m:t>E</m:t>
                    </m:r>
                    <m:r>
                      <a:rPr lang="en-US" altLang="zh-CN"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1</m:t>
                        </m:r>
                      </m:sup>
                    </m:sSubSup>
                    <m:r>
                      <a:rPr lang="en-US" altLang="zh-CN" b="0" i="1" dirty="0" smtClean="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0</m:t>
                        </m:r>
                      </m:sup>
                    </m:sSubSup>
                    <m:r>
                      <a:rPr lang="en-US" altLang="zh-CN" i="1" dirty="0">
                        <a:latin typeface="Cambria Math" panose="02040503050406030204" pitchFamily="18" charset="0"/>
                      </a:rPr>
                      <m:t>|</m:t>
                    </m:r>
                    <m:r>
                      <a:rPr lang="en-US" altLang="zh-CN" i="1" dirty="0">
                        <a:latin typeface="Cambria Math" panose="02040503050406030204" pitchFamily="18" charset="0"/>
                      </a:rPr>
                      <m:t>𝑋</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oMath>
                </a14:m>
                <a:endParaRPr lang="en-US" altLang="zh-CN" dirty="0"/>
              </a:p>
              <a:p>
                <a:r>
                  <a:rPr lang="zh-CN" altLang="en-US" dirty="0"/>
                  <a:t>此时上式被称为局部平均处理效应（</a:t>
                </a:r>
                <a:r>
                  <a:rPr lang="en-US" altLang="zh-CN" dirty="0"/>
                  <a:t>local average treatment effect</a:t>
                </a:r>
                <a:r>
                  <a:rPr lang="zh-CN" altLang="en-US" dirty="0"/>
                  <a:t>，</a:t>
                </a:r>
                <a:r>
                  <a:rPr lang="en-US" altLang="zh-CN" dirty="0"/>
                  <a:t>LATE</a:t>
                </a:r>
                <a:r>
                  <a:rPr lang="zh-CN" altLang="en-US" dirty="0"/>
                  <a:t>）</a:t>
                </a:r>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7CC3F588-19A1-6718-0AA7-343BD0F17EF6}"/>
                  </a:ext>
                </a:extLst>
              </p:cNvPr>
              <p:cNvSpPr>
                <a:spLocks noGrp="1" noRot="1" noChangeAspect="1" noMove="1" noResize="1" noEditPoints="1" noAdjustHandles="1" noChangeArrowheads="1" noChangeShapeType="1" noTextEdit="1"/>
              </p:cNvSpPr>
              <p:nvPr>
                <p:ph idx="1"/>
              </p:nvPr>
            </p:nvSpPr>
            <p:spPr>
              <a:blipFill>
                <a:blip r:embed="rId2"/>
                <a:stretch>
                  <a:fillRect l="-812" t="-39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80881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C0DC29-978F-C23A-048A-AAF64A87DE37}"/>
              </a:ext>
            </a:extLst>
          </p:cNvPr>
          <p:cNvSpPr>
            <a:spLocks noGrp="1"/>
          </p:cNvSpPr>
          <p:nvPr>
            <p:ph type="title"/>
          </p:nvPr>
        </p:nvSpPr>
        <p:spPr/>
        <p:txBody>
          <a:bodyPr/>
          <a:lstStyle/>
          <a:p>
            <a:r>
              <a:rPr lang="zh-CN" altLang="en-US" dirty="0"/>
              <a:t>估计方法</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06F8F771-2A53-61F9-CDB4-F553012C9B94}"/>
                  </a:ext>
                </a:extLst>
              </p:cNvPr>
              <p:cNvSpPr>
                <a:spLocks noGrp="1"/>
              </p:cNvSpPr>
              <p:nvPr>
                <p:ph idx="1"/>
              </p:nvPr>
            </p:nvSpPr>
            <p:spPr>
              <a:xfrm>
                <a:off x="838200" y="2406871"/>
                <a:ext cx="10515600" cy="4351338"/>
              </a:xfrm>
            </p:spPr>
            <p:txBody>
              <a:bodyPr/>
              <a:lstStyle/>
              <a:p>
                <a:r>
                  <a:rPr lang="zh-CN" altLang="en-US" dirty="0"/>
                  <a:t>一般而言，使用</a:t>
                </a:r>
                <a:r>
                  <a:rPr lang="en-US" altLang="zh-CN" dirty="0"/>
                  <a:t>RD</a:t>
                </a:r>
                <a:r>
                  <a:rPr lang="zh-CN" altLang="en-US" dirty="0"/>
                  <a:t>的作者会用以断点值为中心来转化</a:t>
                </a:r>
                <a:r>
                  <a:rPr lang="en-US" altLang="zh-CN" dirty="0"/>
                  <a:t>X</a:t>
                </a:r>
                <a:r>
                  <a:rPr lang="zh-CN" altLang="en-US" dirty="0"/>
                  <a:t>的操作</a:t>
                </a:r>
                <a:endParaRPr lang="en-US" altLang="zh-CN" dirty="0"/>
              </a:p>
              <a:p>
                <a14:m>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Y</m:t>
                        </m:r>
                      </m:e>
                      <m:sub>
                        <m:r>
                          <m:rPr>
                            <m:sty m:val="p"/>
                          </m:rPr>
                          <a:rPr lang="en-US" altLang="zh-CN" i="1">
                            <a:latin typeface="Cambria Math" panose="02040503050406030204" pitchFamily="18" charset="0"/>
                          </a:rPr>
                          <m:t>i</m:t>
                        </m:r>
                      </m:sub>
                    </m:sSub>
                    <m:r>
                      <a:rPr lang="en-US" altLang="zh-CN" i="1">
                        <a:latin typeface="Cambria Math" panose="02040503050406030204" pitchFamily="18" charset="0"/>
                      </a:rPr>
                      <m:t>=</m:t>
                    </m:r>
                    <m:r>
                      <a:rPr lang="zh-CN" altLang="en-US" i="1" dirty="0">
                        <a:latin typeface="Cambria Math" panose="02040503050406030204" pitchFamily="18" charset="0"/>
                      </a:rPr>
                      <m:t>𝛼</m:t>
                    </m:r>
                    <m:r>
                      <a:rPr lang="en-US" altLang="zh-CN" i="1" dirty="0">
                        <a:latin typeface="Cambria Math" panose="02040503050406030204" pitchFamily="18" charset="0"/>
                      </a:rPr>
                      <m:t>+</m:t>
                    </m:r>
                    <m:r>
                      <a:rPr lang="zh-CN" altLang="en-US" i="1" dirty="0">
                        <a:latin typeface="Cambria Math" panose="02040503050406030204" pitchFamily="18" charset="0"/>
                      </a:rPr>
                      <m:t>𝛽</m:t>
                    </m:r>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m:rPr>
                            <m:sty m:val="p"/>
                          </m:rPr>
                          <a:rPr lang="en-US" altLang="zh-CN" i="1" dirty="0">
                            <a:latin typeface="Cambria Math" panose="02040503050406030204" pitchFamily="18" charset="0"/>
                          </a:rPr>
                          <m:t>i</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r>
                      <a:rPr lang="en-US" altLang="zh-CN" i="1" dirty="0">
                        <a:latin typeface="Cambria Math" panose="02040503050406030204" pitchFamily="18" charset="0"/>
                      </a:rPr>
                      <m:t>+</m:t>
                    </m:r>
                    <m:r>
                      <a:rPr lang="zh-CN" altLang="en-US" i="1" dirty="0">
                        <a:latin typeface="Cambria Math" panose="02040503050406030204" pitchFamily="18" charset="0"/>
                      </a:rPr>
                      <m:t>𝛿</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oMath>
                </a14:m>
                <a:endParaRPr lang="en-US" altLang="zh-CN" dirty="0"/>
              </a:p>
              <a:p>
                <a:r>
                  <a:rPr lang="zh-CN" altLang="en-US" dirty="0"/>
                  <a:t>这个式子只需要注意一点，即截距项的解释不一致，其余系数解释无变化</a:t>
                </a:r>
                <a:endParaRPr lang="en-US" altLang="zh-CN" dirty="0"/>
              </a:p>
              <a:p>
                <a:r>
                  <a:rPr lang="zh-CN" altLang="en-US" dirty="0"/>
                  <a:t>进一步讨论</a:t>
                </a:r>
                <a:endParaRPr lang="en-US" altLang="zh-CN" dirty="0"/>
              </a:p>
              <a:p>
                <a:endParaRPr lang="zh-CN" altLang="en-US" dirty="0"/>
              </a:p>
            </p:txBody>
          </p:sp>
        </mc:Choice>
        <mc:Fallback>
          <p:sp>
            <p:nvSpPr>
              <p:cNvPr id="3" name="内容占位符 2">
                <a:extLst>
                  <a:ext uri="{FF2B5EF4-FFF2-40B4-BE49-F238E27FC236}">
                    <a16:creationId xmlns:a16="http://schemas.microsoft.com/office/drawing/2014/main" id="{06F8F771-2A53-61F9-CDB4-F553012C9B94}"/>
                  </a:ext>
                </a:extLst>
              </p:cNvPr>
              <p:cNvSpPr>
                <a:spLocks noGrp="1" noRot="1" noChangeAspect="1" noMove="1" noResize="1" noEditPoints="1" noAdjustHandles="1" noChangeArrowheads="1" noChangeShapeType="1" noTextEdit="1"/>
              </p:cNvSpPr>
              <p:nvPr>
                <p:ph idx="1"/>
              </p:nvPr>
            </p:nvSpPr>
            <p:spPr>
              <a:xfrm>
                <a:off x="838200" y="2406871"/>
                <a:ext cx="10515600" cy="4351338"/>
              </a:xfrm>
              <a:blipFill>
                <a:blip r:embed="rId2"/>
                <a:stretch>
                  <a:fillRect l="-1043" t="-29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29876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954315-93BE-11B4-8B2B-687403A140D0}"/>
              </a:ext>
            </a:extLst>
          </p:cNvPr>
          <p:cNvSpPr>
            <a:spLocks noGrp="1"/>
          </p:cNvSpPr>
          <p:nvPr>
            <p:ph type="title"/>
          </p:nvPr>
        </p:nvSpPr>
        <p:spPr/>
        <p:txBody>
          <a:bodyPr/>
          <a:lstStyle/>
          <a:p>
            <a:endParaRPr lang="zh-CN" altLang="en-US" dirty="0"/>
          </a:p>
        </p:txBody>
      </p:sp>
      <p:pic>
        <p:nvPicPr>
          <p:cNvPr id="5" name="内容占位符 4">
            <a:extLst>
              <a:ext uri="{FF2B5EF4-FFF2-40B4-BE49-F238E27FC236}">
                <a16:creationId xmlns:a16="http://schemas.microsoft.com/office/drawing/2014/main" id="{1E3E7A61-4944-4296-10CB-374FDEC3E9EB}"/>
              </a:ext>
            </a:extLst>
          </p:cNvPr>
          <p:cNvPicPr>
            <a:picLocks noGrp="1" noChangeAspect="1"/>
          </p:cNvPicPr>
          <p:nvPr>
            <p:ph idx="1"/>
          </p:nvPr>
        </p:nvPicPr>
        <p:blipFill>
          <a:blip r:embed="rId2"/>
          <a:stretch>
            <a:fillRect/>
          </a:stretch>
        </p:blipFill>
        <p:spPr>
          <a:xfrm>
            <a:off x="839024" y="1825995"/>
            <a:ext cx="10513952" cy="4350598"/>
          </a:xfrm>
          <a:prstGeom prst="rect">
            <a:avLst/>
          </a:prstGeom>
        </p:spPr>
      </p:pic>
    </p:spTree>
    <p:extLst>
      <p:ext uri="{BB962C8B-B14F-4D97-AF65-F5344CB8AC3E}">
        <p14:creationId xmlns:p14="http://schemas.microsoft.com/office/powerpoint/2010/main" val="2857904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BECF67-88BE-CEC6-12B5-E8FAA47234B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27D5F13-805D-EB69-5BB5-7459E8497AB9}"/>
              </a:ext>
            </a:extLst>
          </p:cNvPr>
          <p:cNvSpPr>
            <a:spLocks noGrp="1"/>
          </p:cNvSpPr>
          <p:nvPr>
            <p:ph idx="1"/>
          </p:nvPr>
        </p:nvSpPr>
        <p:spPr/>
        <p:txBody>
          <a:bodyPr/>
          <a:lstStyle/>
          <a:p>
            <a:r>
              <a:rPr lang="en-US" altLang="zh-CN" dirty="0"/>
              <a:t>1.</a:t>
            </a:r>
            <a:r>
              <a:rPr lang="zh-CN" altLang="en-US" dirty="0"/>
              <a:t>高阶多项式近似的隐含权重不理想</a:t>
            </a:r>
            <a:endParaRPr lang="en-US" altLang="zh-CN" dirty="0"/>
          </a:p>
          <a:p>
            <a:r>
              <a:rPr lang="en-US" altLang="zh-CN" dirty="0"/>
              <a:t>2.</a:t>
            </a:r>
            <a:r>
              <a:rPr lang="zh-CN" altLang="en-US" dirty="0"/>
              <a:t>结果对多项式阶数高度敏感</a:t>
            </a:r>
            <a:endParaRPr lang="en-US" altLang="zh-CN" dirty="0"/>
          </a:p>
          <a:p>
            <a:r>
              <a:rPr lang="en-US" altLang="zh-CN" dirty="0"/>
              <a:t>3.</a:t>
            </a:r>
            <a:r>
              <a:rPr lang="zh-CN" altLang="en-US" dirty="0"/>
              <a:t>传统推断具有不良性质。</a:t>
            </a:r>
            <a:endParaRPr lang="en-US" altLang="zh-CN" dirty="0"/>
          </a:p>
          <a:p>
            <a:endParaRPr lang="en-US" altLang="zh-CN" dirty="0"/>
          </a:p>
          <a:p>
            <a:endParaRPr lang="en-US" altLang="zh-CN" dirty="0"/>
          </a:p>
          <a:p>
            <a:endParaRPr lang="en-US" altLang="zh-CN" dirty="0"/>
          </a:p>
          <a:p>
            <a:r>
              <a:rPr lang="zh-CN" altLang="en-US" dirty="0"/>
              <a:t>因此，我们能看到的多数文章基本使用线性和二次形式的局部回归</a:t>
            </a:r>
            <a:endParaRPr lang="en-US" altLang="zh-CN" dirty="0"/>
          </a:p>
          <a:p>
            <a:pPr lvl="1"/>
            <a:r>
              <a:rPr lang="zh-CN" altLang="en-US" dirty="0"/>
              <a:t>包括所选的这篇文章</a:t>
            </a:r>
          </a:p>
        </p:txBody>
      </p:sp>
      <p:pic>
        <p:nvPicPr>
          <p:cNvPr id="5" name="图片 4">
            <a:extLst>
              <a:ext uri="{FF2B5EF4-FFF2-40B4-BE49-F238E27FC236}">
                <a16:creationId xmlns:a16="http://schemas.microsoft.com/office/drawing/2014/main" id="{F5752CB4-797D-885E-0C1A-BA08C7C2F75E}"/>
              </a:ext>
            </a:extLst>
          </p:cNvPr>
          <p:cNvPicPr>
            <a:picLocks noChangeAspect="1"/>
          </p:cNvPicPr>
          <p:nvPr/>
        </p:nvPicPr>
        <p:blipFill>
          <a:blip r:embed="rId2"/>
          <a:stretch>
            <a:fillRect/>
          </a:stretch>
        </p:blipFill>
        <p:spPr>
          <a:xfrm>
            <a:off x="405727" y="3356034"/>
            <a:ext cx="11380546" cy="1399522"/>
          </a:xfrm>
          <a:prstGeom prst="rect">
            <a:avLst/>
          </a:prstGeom>
        </p:spPr>
      </p:pic>
    </p:spTree>
    <p:extLst>
      <p:ext uri="{BB962C8B-B14F-4D97-AF65-F5344CB8AC3E}">
        <p14:creationId xmlns:p14="http://schemas.microsoft.com/office/powerpoint/2010/main" val="4211982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BC2CA-6877-8490-CEB8-BACD19CB210A}"/>
              </a:ext>
            </a:extLst>
          </p:cNvPr>
          <p:cNvSpPr>
            <a:spLocks noGrp="1"/>
          </p:cNvSpPr>
          <p:nvPr>
            <p:ph type="title"/>
          </p:nvPr>
        </p:nvSpPr>
        <p:spPr/>
        <p:txBody>
          <a:bodyPr>
            <a:normAutofit/>
          </a:bodyPr>
          <a:lstStyle/>
          <a:p>
            <a:r>
              <a:rPr lang="en-US" altLang="zh-CN" dirty="0"/>
              <a:t>The Causal Effects of R&amp;D Grants: Evidence from a Regression Discontinuity</a:t>
            </a:r>
            <a:endParaRPr lang="zh-CN" altLang="en-US" dirty="0"/>
          </a:p>
        </p:txBody>
      </p:sp>
      <p:sp>
        <p:nvSpPr>
          <p:cNvPr id="3" name="内容占位符 2">
            <a:extLst>
              <a:ext uri="{FF2B5EF4-FFF2-40B4-BE49-F238E27FC236}">
                <a16:creationId xmlns:a16="http://schemas.microsoft.com/office/drawing/2014/main" id="{908C50C3-0146-DF66-3E24-B755F57DCD22}"/>
              </a:ext>
            </a:extLst>
          </p:cNvPr>
          <p:cNvSpPr>
            <a:spLocks noGrp="1"/>
          </p:cNvSpPr>
          <p:nvPr>
            <p:ph idx="1"/>
          </p:nvPr>
        </p:nvSpPr>
        <p:spPr/>
        <p:txBody>
          <a:bodyPr/>
          <a:lstStyle/>
          <a:p>
            <a:r>
              <a:rPr lang="zh-CN" altLang="en-US" dirty="0"/>
              <a:t>想要识别什么因果效应</a:t>
            </a:r>
            <a:endParaRPr lang="en-US" altLang="zh-CN" dirty="0"/>
          </a:p>
          <a:p>
            <a:pPr lvl="1"/>
            <a:r>
              <a:rPr lang="zh-CN" altLang="en-US" dirty="0"/>
              <a:t>政府研发补贴对企业产出的效应</a:t>
            </a:r>
            <a:endParaRPr lang="en-US" altLang="zh-CN" dirty="0"/>
          </a:p>
          <a:p>
            <a:r>
              <a:rPr lang="en-US" altLang="zh-CN" dirty="0"/>
              <a:t>Introduction</a:t>
            </a:r>
            <a:r>
              <a:rPr lang="zh-CN" altLang="en-US" dirty="0"/>
              <a:t>，怎么展开的故事</a:t>
            </a:r>
            <a:endParaRPr lang="en-US" altLang="zh-CN" dirty="0"/>
          </a:p>
          <a:p>
            <a:pPr lvl="1"/>
            <a:r>
              <a:rPr lang="zh-CN" altLang="en-US" dirty="0"/>
              <a:t>目前，私人部门对研发的投资往往不足，而政府资金支持被广泛认为是解决这一问题的有效手段</a:t>
            </a:r>
            <a:endParaRPr lang="en-US" altLang="zh-CN" dirty="0"/>
          </a:p>
          <a:p>
            <a:pPr lvl="1"/>
            <a:r>
              <a:rPr lang="zh-CN" altLang="en-US" dirty="0"/>
              <a:t>并且，最为直接有效</a:t>
            </a:r>
            <a:endParaRPr lang="en-US" altLang="zh-CN" dirty="0"/>
          </a:p>
          <a:p>
            <a:pPr lvl="1"/>
            <a:r>
              <a:rPr lang="zh-CN" altLang="en-US" dirty="0"/>
              <a:t>但是，关于研发补贴有效性的实证证据尚未形成明确结论</a:t>
            </a:r>
            <a:endParaRPr lang="en-US" altLang="zh-CN" dirty="0"/>
          </a:p>
          <a:p>
            <a:pPr lvl="1"/>
            <a:r>
              <a:rPr lang="zh-CN" altLang="en-US" dirty="0"/>
              <a:t>从而提出，我们要为此提供稳健性证据</a:t>
            </a:r>
            <a:endParaRPr lang="en-US" altLang="zh-CN" dirty="0"/>
          </a:p>
          <a:p>
            <a:endParaRPr lang="en-US" altLang="zh-CN" dirty="0"/>
          </a:p>
          <a:p>
            <a:pPr lvl="1"/>
            <a:endParaRPr lang="en-US" altLang="zh-CN" dirty="0"/>
          </a:p>
        </p:txBody>
      </p:sp>
    </p:spTree>
    <p:extLst>
      <p:ext uri="{BB962C8B-B14F-4D97-AF65-F5344CB8AC3E}">
        <p14:creationId xmlns:p14="http://schemas.microsoft.com/office/powerpoint/2010/main" val="562459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30486B-D475-C5C5-F9BE-EF3DCFFEC571}"/>
              </a:ext>
            </a:extLst>
          </p:cNvPr>
          <p:cNvSpPr>
            <a:spLocks noGrp="1"/>
          </p:cNvSpPr>
          <p:nvPr>
            <p:ph type="title"/>
          </p:nvPr>
        </p:nvSpPr>
        <p:spPr/>
        <p:txBody>
          <a:bodyPr/>
          <a:lstStyle/>
          <a:p>
            <a:r>
              <a:rPr lang="en-US" altLang="zh-CN" dirty="0"/>
              <a:t>Institutional setting</a:t>
            </a:r>
            <a:endParaRPr lang="zh-CN" altLang="en-US" dirty="0"/>
          </a:p>
        </p:txBody>
      </p:sp>
      <p:sp>
        <p:nvSpPr>
          <p:cNvPr id="3" name="内容占位符 2">
            <a:extLst>
              <a:ext uri="{FF2B5EF4-FFF2-40B4-BE49-F238E27FC236}">
                <a16:creationId xmlns:a16="http://schemas.microsoft.com/office/drawing/2014/main" id="{DF6D6DD8-E11F-28A5-6376-D231EF80E172}"/>
              </a:ext>
            </a:extLst>
          </p:cNvPr>
          <p:cNvSpPr>
            <a:spLocks noGrp="1"/>
          </p:cNvSpPr>
          <p:nvPr>
            <p:ph idx="1"/>
          </p:nvPr>
        </p:nvSpPr>
        <p:spPr/>
        <p:txBody>
          <a:bodyPr/>
          <a:lstStyle/>
          <a:p>
            <a:r>
              <a:rPr lang="zh-CN" altLang="en-US" dirty="0"/>
              <a:t>政府补贴计划</a:t>
            </a:r>
            <a:r>
              <a:rPr lang="en-US" altLang="zh-CN" dirty="0"/>
              <a:t>——The SME Instrument</a:t>
            </a:r>
          </a:p>
          <a:p>
            <a:pPr lvl="1"/>
            <a:r>
              <a:rPr lang="zh-CN" altLang="en-US" dirty="0"/>
              <a:t>企业为申请政府政府该补贴需要通过竞争方式</a:t>
            </a:r>
            <a:endParaRPr lang="en-US" altLang="zh-CN" dirty="0"/>
          </a:p>
          <a:p>
            <a:pPr lvl="1"/>
            <a:r>
              <a:rPr lang="zh-CN" altLang="en-US" dirty="0"/>
              <a:t>具体而言，中小企业需提交一份 </a:t>
            </a:r>
            <a:r>
              <a:rPr lang="en-US" altLang="zh-CN" dirty="0"/>
              <a:t>30 </a:t>
            </a:r>
            <a:r>
              <a:rPr lang="zh-CN" altLang="en-US" dirty="0"/>
              <a:t>页的提案（含商业计划和拟开展活动描述）以参与特定竞争。提案由政策实施者任命的四名独立专家进行评估，评估过程远程进行，专家独立工作，互不知晓彼此的评估结果</a:t>
            </a:r>
            <a:endParaRPr lang="en-US" altLang="zh-CN" dirty="0"/>
          </a:p>
          <a:p>
            <a:pPr lvl="1"/>
            <a:r>
              <a:rPr lang="zh-CN" altLang="en-US" dirty="0"/>
              <a:t>专家从三个维度对项目进行评分：① 影响；② 卓越性；③ 实施质量与效率，每个维度的评分范围为 </a:t>
            </a:r>
            <a:r>
              <a:rPr lang="en-US" altLang="zh-CN" dirty="0"/>
              <a:t>0-5 </a:t>
            </a:r>
            <a:r>
              <a:rPr lang="zh-CN" altLang="en-US" dirty="0"/>
              <a:t>分。项目最终得分为三个维度中位数得分的总和，范围为 </a:t>
            </a:r>
            <a:r>
              <a:rPr lang="en-US" altLang="zh-CN" dirty="0"/>
              <a:t>0-15 </a:t>
            </a:r>
            <a:r>
              <a:rPr lang="zh-CN" altLang="en-US" dirty="0"/>
              <a:t>分。随后根据得分对项目进行排序，仅得分高于最低质量阈值（</a:t>
            </a:r>
            <a:r>
              <a:rPr lang="en-US" altLang="zh-CN" dirty="0"/>
              <a:t>12 </a:t>
            </a:r>
            <a:r>
              <a:rPr lang="zh-CN" altLang="en-US" dirty="0"/>
              <a:t>分）的项目才有资格获得补贴。</a:t>
            </a:r>
            <a:endParaRPr lang="en-US" altLang="zh-CN" dirty="0"/>
          </a:p>
          <a:p>
            <a:pPr lvl="1"/>
            <a:r>
              <a:rPr lang="zh-CN" altLang="en-US" dirty="0"/>
              <a:t>按理说，得分应当作为驱动变量</a:t>
            </a:r>
            <a:endParaRPr lang="en-US" altLang="zh-CN" dirty="0"/>
          </a:p>
          <a:p>
            <a:pPr lvl="1"/>
            <a:r>
              <a:rPr lang="zh-CN" altLang="en-US" dirty="0"/>
              <a:t>但是没搞到数据，因此用排名</a:t>
            </a:r>
          </a:p>
        </p:txBody>
      </p:sp>
    </p:spTree>
    <p:extLst>
      <p:ext uri="{BB962C8B-B14F-4D97-AF65-F5344CB8AC3E}">
        <p14:creationId xmlns:p14="http://schemas.microsoft.com/office/powerpoint/2010/main" val="2134601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740E8C-2FB0-44F7-0486-07A45D5F925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4C7D108-3A5F-215B-8B2E-610F3BC965EF}"/>
              </a:ext>
            </a:extLst>
          </p:cNvPr>
          <p:cNvSpPr>
            <a:spLocks noGrp="1"/>
          </p:cNvSpPr>
          <p:nvPr>
            <p:ph idx="1"/>
          </p:nvPr>
        </p:nvSpPr>
        <p:spPr/>
        <p:txBody>
          <a:bodyPr/>
          <a:lstStyle/>
          <a:p>
            <a:r>
              <a:rPr lang="en-US" altLang="zh-CN" dirty="0"/>
              <a:t>Y</a:t>
            </a:r>
            <a:r>
              <a:rPr lang="zh-CN" altLang="en-US" dirty="0"/>
              <a:t>企业产出</a:t>
            </a:r>
            <a:endParaRPr lang="en-US" altLang="zh-CN" dirty="0"/>
          </a:p>
          <a:p>
            <a:pPr lvl="1"/>
            <a:r>
              <a:rPr lang="zh-CN" altLang="en-US" dirty="0"/>
              <a:t>研发补贴对应专利</a:t>
            </a:r>
            <a:endParaRPr lang="en-US" altLang="zh-CN" dirty="0"/>
          </a:p>
          <a:p>
            <a:pPr lvl="1"/>
            <a:r>
              <a:rPr lang="zh-CN" altLang="en-US" dirty="0"/>
              <a:t>但没有单纯用专利数量</a:t>
            </a:r>
            <a:endParaRPr lang="en-US" altLang="zh-CN" dirty="0"/>
          </a:p>
          <a:p>
            <a:pPr lvl="1"/>
            <a:r>
              <a:rPr lang="zh-CN" altLang="en-US" dirty="0"/>
              <a:t>而是通过专利被引用次数加权</a:t>
            </a:r>
            <a:endParaRPr lang="en-US" altLang="zh-CN" dirty="0"/>
          </a:p>
          <a:p>
            <a:r>
              <a:rPr lang="zh-CN" altLang="en-US" dirty="0"/>
              <a:t>所以到这里，结合之前的，我们就可以梳理一个</a:t>
            </a:r>
            <a:r>
              <a:rPr lang="en-US" altLang="zh-CN" dirty="0"/>
              <a:t>DAG</a:t>
            </a:r>
            <a:endParaRPr lang="zh-CN" altLang="en-US" dirty="0"/>
          </a:p>
        </p:txBody>
      </p:sp>
      <p:graphicFrame>
        <p:nvGraphicFramePr>
          <p:cNvPr id="6" name="图示 5">
            <a:extLst>
              <a:ext uri="{FF2B5EF4-FFF2-40B4-BE49-F238E27FC236}">
                <a16:creationId xmlns:a16="http://schemas.microsoft.com/office/drawing/2014/main" id="{3543E5D3-0357-F5F2-7981-1EC7B05AFD16}"/>
              </a:ext>
            </a:extLst>
          </p:cNvPr>
          <p:cNvGraphicFramePr/>
          <p:nvPr>
            <p:extLst>
              <p:ext uri="{D42A27DB-BD31-4B8C-83A1-F6EECF244321}">
                <p14:modId xmlns:p14="http://schemas.microsoft.com/office/powerpoint/2010/main" val="3580807021"/>
              </p:ext>
            </p:extLst>
          </p:nvPr>
        </p:nvGraphicFramePr>
        <p:xfrm>
          <a:off x="1358605" y="246340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6275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8CFC6-08AE-8A6C-0B98-1DC19EA24BA8}"/>
              </a:ext>
            </a:extLst>
          </p:cNvPr>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126AD4B-19F6-5CB1-603A-F223D4F63D22}"/>
                  </a:ext>
                </a:extLst>
              </p:cNvPr>
              <p:cNvSpPr>
                <a:spLocks noGrp="1"/>
              </p:cNvSpPr>
              <p:nvPr>
                <p:ph idx="1"/>
              </p:nvPr>
            </p:nvSpPr>
            <p:spPr/>
            <p:txBody>
              <a:bodyPr>
                <a:normAutofit fontScale="92500" lnSpcReduction="10000"/>
              </a:bodyPr>
              <a:lstStyle/>
              <a:p>
                <a:r>
                  <a:rPr lang="zh-CN" altLang="en-US" dirty="0"/>
                  <a:t>首先，我们来看他的估计方程</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14:m>
                  <m:oMath xmlns:m="http://schemas.openxmlformats.org/officeDocument/2006/math">
                    <m:sSubSup>
                      <m:sSubSupPr>
                        <m:ctrlPr>
                          <a:rPr lang="en-US" altLang="zh-CN" i="1" dirty="0" smtClean="0">
                            <a:latin typeface="Cambria Math" panose="02040503050406030204" pitchFamily="18" charset="0"/>
                          </a:rPr>
                        </m:ctrlPr>
                      </m:sSubSup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𝑖𝑐</m:t>
                        </m:r>
                      </m:sub>
                      <m:sup>
                        <m:r>
                          <a:rPr lang="en-US" altLang="zh-CN" b="0" i="1" dirty="0" smtClean="0">
                            <a:latin typeface="Cambria Math" panose="02040503050406030204" pitchFamily="18" charset="0"/>
                          </a:rPr>
                          <m:t>𝑝𝑟𝑒</m:t>
                        </m:r>
                      </m:sup>
                    </m:sSubSup>
                    <m:r>
                      <a:rPr lang="zh-CN" altLang="en-US" i="1" dirty="0">
                        <a:latin typeface="Cambria Math" panose="02040503050406030204" pitchFamily="18" charset="0"/>
                      </a:rPr>
                      <m:t>是什么</m:t>
                    </m:r>
                    <m:r>
                      <a:rPr lang="zh-CN" altLang="en-US" i="1" dirty="0" smtClean="0">
                        <a:latin typeface="Cambria Math" panose="02040503050406030204" pitchFamily="18" charset="0"/>
                      </a:rPr>
                      <m:t>呢</m:t>
                    </m:r>
                    <m:r>
                      <a:rPr lang="zh-CN" altLang="en-US" i="1" dirty="0">
                        <a:latin typeface="Cambria Math" panose="02040503050406030204" pitchFamily="18" charset="0"/>
                      </a:rPr>
                      <m:t>？</m:t>
                    </m:r>
                  </m:oMath>
                </a14:m>
                <a:endParaRPr lang="en-US" altLang="zh-CN" i="1" dirty="0">
                  <a:latin typeface="Cambria Math" panose="02040503050406030204" pitchFamily="18" charset="0"/>
                </a:endParaRPr>
              </a:p>
              <a:p>
                <a:pPr lvl="1"/>
                <a:r>
                  <a:rPr lang="en-US" altLang="zh-CN" dirty="0">
                    <a:latin typeface="Cambria Math" panose="02040503050406030204" pitchFamily="18" charset="0"/>
                  </a:rPr>
                  <a:t>Pre</a:t>
                </a:r>
                <a:r>
                  <a:rPr lang="zh-CN" altLang="en-US" dirty="0">
                    <a:latin typeface="Cambria Math" panose="02040503050406030204" pitchFamily="18" charset="0"/>
                  </a:rPr>
                  <a:t>和</a:t>
                </a:r>
                <a:r>
                  <a:rPr lang="en-US" altLang="zh-CN" dirty="0">
                    <a:latin typeface="Cambria Math" panose="02040503050406030204" pitchFamily="18" charset="0"/>
                  </a:rPr>
                  <a:t>post</a:t>
                </a:r>
                <a:r>
                  <a:rPr lang="zh-CN" altLang="en-US" dirty="0">
                    <a:latin typeface="Cambria Math" panose="02040503050406030204" pitchFamily="18" charset="0"/>
                  </a:rPr>
                  <a:t>的</a:t>
                </a:r>
                <a:r>
                  <a:rPr lang="en-US" altLang="zh-CN" dirty="0">
                    <a:latin typeface="Cambria Math" panose="02040503050406030204" pitchFamily="18" charset="0"/>
                  </a:rPr>
                  <a:t>treat</a:t>
                </a:r>
                <a:r>
                  <a:rPr lang="zh-CN" altLang="en-US" dirty="0">
                    <a:latin typeface="Cambria Math" panose="02040503050406030204" pitchFamily="18" charset="0"/>
                  </a:rPr>
                  <a:t>是什么</a:t>
                </a:r>
                <a:endParaRPr lang="en-US" altLang="zh-CN" dirty="0">
                  <a:latin typeface="Cambria Math" panose="02040503050406030204" pitchFamily="18" charset="0"/>
                </a:endParaRPr>
              </a:p>
              <a:p>
                <a:pPr lvl="1"/>
                <a:r>
                  <a:rPr lang="zh-CN" altLang="en-US" dirty="0">
                    <a:latin typeface="Cambria Math" panose="02040503050406030204" pitchFamily="18" charset="0"/>
                  </a:rPr>
                  <a:t>研发补贴</a:t>
                </a:r>
                <a:endParaRPr lang="en-US" altLang="zh-CN" dirty="0">
                  <a:latin typeface="Cambria Math" panose="02040503050406030204" pitchFamily="18" charset="0"/>
                </a:endParaRPr>
              </a:p>
              <a:p>
                <a:pPr lvl="1"/>
                <a:r>
                  <a:rPr lang="zh-CN" altLang="en-US" dirty="0">
                    <a:latin typeface="Cambria Math" panose="02040503050406030204" pitchFamily="18" charset="0"/>
                  </a:rPr>
                  <a:t>在补贴之前，参与竞争的企业的基线特征</a:t>
                </a:r>
                <a:endParaRPr lang="en-US" altLang="zh-CN" dirty="0">
                  <a:latin typeface="Cambria Math" panose="02040503050406030204" pitchFamily="18" charset="0"/>
                </a:endParaRPr>
              </a:p>
            </p:txBody>
          </p:sp>
        </mc:Choice>
        <mc:Fallback xmlns="">
          <p:sp>
            <p:nvSpPr>
              <p:cNvPr id="3" name="内容占位符 2">
                <a:extLst>
                  <a:ext uri="{FF2B5EF4-FFF2-40B4-BE49-F238E27FC236}">
                    <a16:creationId xmlns:a16="http://schemas.microsoft.com/office/drawing/2014/main" id="{6126AD4B-19F6-5CB1-603A-F223D4F63D22}"/>
                  </a:ext>
                </a:extLst>
              </p:cNvPr>
              <p:cNvSpPr>
                <a:spLocks noGrp="1" noRot="1" noChangeAspect="1" noMove="1" noResize="1" noEditPoints="1" noAdjustHandles="1" noChangeArrowheads="1" noChangeShapeType="1" noTextEdit="1"/>
              </p:cNvSpPr>
              <p:nvPr>
                <p:ph idx="1"/>
              </p:nvPr>
            </p:nvSpPr>
            <p:spPr>
              <a:blipFill>
                <a:blip r:embed="rId2"/>
                <a:stretch>
                  <a:fillRect l="-928" t="-294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C28DF534-EAE5-8108-7A8E-759FB7674248}"/>
              </a:ext>
            </a:extLst>
          </p:cNvPr>
          <p:cNvPicPr>
            <a:picLocks noChangeAspect="1"/>
          </p:cNvPicPr>
          <p:nvPr/>
        </p:nvPicPr>
        <p:blipFill>
          <a:blip r:embed="rId3"/>
          <a:stretch>
            <a:fillRect/>
          </a:stretch>
        </p:blipFill>
        <p:spPr>
          <a:xfrm>
            <a:off x="838200" y="2294323"/>
            <a:ext cx="8619309" cy="2096588"/>
          </a:xfrm>
          <a:prstGeom prst="rect">
            <a:avLst/>
          </a:prstGeom>
        </p:spPr>
      </p:pic>
    </p:spTree>
    <p:extLst>
      <p:ext uri="{BB962C8B-B14F-4D97-AF65-F5344CB8AC3E}">
        <p14:creationId xmlns:p14="http://schemas.microsoft.com/office/powerpoint/2010/main" val="3581335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169605-1BCA-49B7-4755-5222F39F9EA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7227DA7-FBA7-051D-986C-27ECABCEBC94}"/>
              </a:ext>
            </a:extLst>
          </p:cNvPr>
          <p:cNvSpPr>
            <a:spLocks noGrp="1"/>
          </p:cNvSpPr>
          <p:nvPr>
            <p:ph idx="1"/>
          </p:nvPr>
        </p:nvSpPr>
        <p:spPr/>
        <p:txBody>
          <a:bodyPr/>
          <a:lstStyle/>
          <a:p>
            <a:r>
              <a:rPr lang="en-US" altLang="zh-CN" dirty="0"/>
              <a:t>Rank</a:t>
            </a:r>
            <a:r>
              <a:rPr lang="zh-CN" altLang="en-US" dirty="0"/>
              <a:t>为驱动变量，即企业排名</a:t>
            </a:r>
            <a:endParaRPr lang="en-US" altLang="zh-CN" dirty="0"/>
          </a:p>
          <a:p>
            <a:endParaRPr lang="en-US" altLang="zh-CN" dirty="0"/>
          </a:p>
          <a:p>
            <a:endParaRPr lang="en-US" altLang="zh-CN" dirty="0"/>
          </a:p>
          <a:p>
            <a:endParaRPr lang="en-US" altLang="zh-CN" dirty="0"/>
          </a:p>
          <a:p>
            <a:r>
              <a:rPr lang="zh-CN" altLang="en-US" dirty="0"/>
              <a:t>也就是说他只采用一二阶项去拟合</a:t>
            </a:r>
            <a:endParaRPr lang="en-US" altLang="zh-CN" dirty="0"/>
          </a:p>
          <a:p>
            <a:endParaRPr lang="zh-CN" altLang="en-US" dirty="0"/>
          </a:p>
        </p:txBody>
      </p:sp>
      <p:pic>
        <p:nvPicPr>
          <p:cNvPr id="5" name="图片 4">
            <a:extLst>
              <a:ext uri="{FF2B5EF4-FFF2-40B4-BE49-F238E27FC236}">
                <a16:creationId xmlns:a16="http://schemas.microsoft.com/office/drawing/2014/main" id="{050FA04F-4F70-5F48-B671-2EE1AC83C3FC}"/>
              </a:ext>
            </a:extLst>
          </p:cNvPr>
          <p:cNvPicPr>
            <a:picLocks noChangeAspect="1"/>
          </p:cNvPicPr>
          <p:nvPr/>
        </p:nvPicPr>
        <p:blipFill>
          <a:blip r:embed="rId2"/>
          <a:stretch>
            <a:fillRect/>
          </a:stretch>
        </p:blipFill>
        <p:spPr>
          <a:xfrm>
            <a:off x="1230579" y="2389217"/>
            <a:ext cx="8711939" cy="1390008"/>
          </a:xfrm>
          <a:prstGeom prst="rect">
            <a:avLst/>
          </a:prstGeom>
        </p:spPr>
      </p:pic>
    </p:spTree>
    <p:extLst>
      <p:ext uri="{BB962C8B-B14F-4D97-AF65-F5344CB8AC3E}">
        <p14:creationId xmlns:p14="http://schemas.microsoft.com/office/powerpoint/2010/main" val="2495387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37441C-F7D1-D02F-1BE3-404EC62D718D}"/>
              </a:ext>
            </a:extLst>
          </p:cNvPr>
          <p:cNvSpPr>
            <a:spLocks noGrp="1"/>
          </p:cNvSpPr>
          <p:nvPr>
            <p:ph type="title"/>
          </p:nvPr>
        </p:nvSpPr>
        <p:spPr/>
        <p:txBody>
          <a:bodyPr/>
          <a:lstStyle/>
          <a:p>
            <a:r>
              <a:rPr lang="en-US" altLang="zh-CN" dirty="0"/>
              <a:t>RD</a:t>
            </a:r>
            <a:r>
              <a:rPr lang="zh-CN" altLang="en-US" dirty="0"/>
              <a:t>有效性检验</a:t>
            </a:r>
          </a:p>
        </p:txBody>
      </p:sp>
      <p:sp>
        <p:nvSpPr>
          <p:cNvPr id="3" name="内容占位符 2">
            <a:extLst>
              <a:ext uri="{FF2B5EF4-FFF2-40B4-BE49-F238E27FC236}">
                <a16:creationId xmlns:a16="http://schemas.microsoft.com/office/drawing/2014/main" id="{C6F7A7AC-7CCA-E3F4-3B9A-5FA6D1E7638B}"/>
              </a:ext>
            </a:extLst>
          </p:cNvPr>
          <p:cNvSpPr>
            <a:spLocks noGrp="1"/>
          </p:cNvSpPr>
          <p:nvPr>
            <p:ph idx="1"/>
          </p:nvPr>
        </p:nvSpPr>
        <p:spPr/>
        <p:txBody>
          <a:bodyPr>
            <a:normAutofit lnSpcReduction="10000"/>
          </a:bodyPr>
          <a:lstStyle/>
          <a:p>
            <a:r>
              <a:rPr lang="en-US" altLang="zh-CN" dirty="0"/>
              <a:t>1.</a:t>
            </a:r>
            <a:r>
              <a:rPr lang="zh-CN" altLang="en-US" dirty="0"/>
              <a:t>补贴（即处理）不应影响排名</a:t>
            </a:r>
            <a:endParaRPr lang="en-US" altLang="zh-CN" dirty="0"/>
          </a:p>
          <a:p>
            <a:pPr lvl="1"/>
            <a:r>
              <a:rPr lang="zh-CN" altLang="en-US" dirty="0"/>
              <a:t>如我们一开始</a:t>
            </a:r>
            <a:r>
              <a:rPr lang="en-US" altLang="zh-CN" dirty="0"/>
              <a:t>DAG</a:t>
            </a:r>
            <a:r>
              <a:rPr lang="zh-CN" altLang="en-US" dirty="0"/>
              <a:t>所言，</a:t>
            </a:r>
            <a:r>
              <a:rPr lang="en-US" altLang="zh-CN" dirty="0"/>
              <a:t>X</a:t>
            </a:r>
            <a:r>
              <a:rPr lang="zh-CN" altLang="en-US" dirty="0"/>
              <a:t>决定</a:t>
            </a:r>
            <a:r>
              <a:rPr lang="en-US" altLang="zh-CN" dirty="0"/>
              <a:t>D</a:t>
            </a:r>
          </a:p>
          <a:p>
            <a:pPr lvl="1"/>
            <a:r>
              <a:rPr lang="zh-CN" altLang="en-US" dirty="0"/>
              <a:t>这里所说的是</a:t>
            </a:r>
            <a:r>
              <a:rPr lang="en-US" altLang="zh-CN" dirty="0"/>
              <a:t>D</a:t>
            </a:r>
            <a:r>
              <a:rPr lang="zh-CN" altLang="en-US" dirty="0"/>
              <a:t>不能反过来影响</a:t>
            </a:r>
            <a:r>
              <a:rPr lang="en-US" altLang="zh-CN" dirty="0"/>
              <a:t>X</a:t>
            </a:r>
          </a:p>
          <a:p>
            <a:r>
              <a:rPr lang="zh-CN" altLang="en-US" dirty="0"/>
              <a:t>本文的潜在担忧</a:t>
            </a:r>
            <a:endParaRPr lang="en-US" altLang="zh-CN" dirty="0"/>
          </a:p>
          <a:p>
            <a:pPr lvl="1"/>
            <a:r>
              <a:rPr lang="zh-CN" altLang="en-US" dirty="0"/>
              <a:t>之前参与过或者获得过补贴的企业</a:t>
            </a:r>
            <a:endParaRPr lang="en-US" altLang="zh-CN" dirty="0"/>
          </a:p>
          <a:p>
            <a:pPr lvl="1"/>
            <a:r>
              <a:rPr lang="zh-CN" altLang="en-US" dirty="0"/>
              <a:t>测试了获得第一阶段补贴是否与获得第二阶段补贴的概率相关</a:t>
            </a:r>
            <a:endParaRPr lang="en-US" altLang="zh-CN" dirty="0"/>
          </a:p>
          <a:p>
            <a:pPr lvl="1"/>
            <a:r>
              <a:rPr lang="zh-CN" altLang="en-US" dirty="0"/>
              <a:t>未发现相关证据</a:t>
            </a:r>
            <a:endParaRPr lang="en-US" altLang="zh-CN" dirty="0"/>
          </a:p>
          <a:p>
            <a:r>
              <a:rPr lang="zh-CN" altLang="en-US" dirty="0"/>
              <a:t>那如果</a:t>
            </a:r>
            <a:r>
              <a:rPr lang="en-US" altLang="zh-CN" dirty="0"/>
              <a:t>D</a:t>
            </a:r>
            <a:r>
              <a:rPr lang="zh-CN" altLang="en-US" dirty="0"/>
              <a:t>确实对</a:t>
            </a:r>
            <a:r>
              <a:rPr lang="en-US" altLang="zh-CN" dirty="0"/>
              <a:t>X</a:t>
            </a:r>
            <a:r>
              <a:rPr lang="zh-CN" altLang="en-US" dirty="0"/>
              <a:t>有影响会发生什么？</a:t>
            </a:r>
            <a:endParaRPr lang="en-US" altLang="zh-CN" dirty="0"/>
          </a:p>
          <a:p>
            <a:pPr lvl="1"/>
            <a:r>
              <a:rPr lang="zh-CN" altLang="en-US" dirty="0"/>
              <a:t>那么断点附件的分配便不再随机</a:t>
            </a:r>
            <a:endParaRPr lang="en-US" altLang="zh-CN" dirty="0"/>
          </a:p>
          <a:p>
            <a:pPr lvl="1"/>
            <a:r>
              <a:rPr lang="zh-CN" altLang="en-US" dirty="0"/>
              <a:t>如果第一次补贴后，第二次更容易获得补贴，那么在断点周围第一次获得补贴的企业分布多</a:t>
            </a:r>
          </a:p>
        </p:txBody>
      </p:sp>
    </p:spTree>
    <p:extLst>
      <p:ext uri="{BB962C8B-B14F-4D97-AF65-F5344CB8AC3E}">
        <p14:creationId xmlns:p14="http://schemas.microsoft.com/office/powerpoint/2010/main" val="2057654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0F38E7-4B89-4140-E3A3-0A261637E61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B3255A9-042C-89F6-C8AF-F77B7F2582B3}"/>
              </a:ext>
            </a:extLst>
          </p:cNvPr>
          <p:cNvSpPr>
            <a:spLocks noGrp="1"/>
          </p:cNvSpPr>
          <p:nvPr>
            <p:ph idx="1"/>
          </p:nvPr>
        </p:nvSpPr>
        <p:spPr/>
        <p:txBody>
          <a:bodyPr/>
          <a:lstStyle/>
          <a:p>
            <a:r>
              <a:rPr lang="en-US" altLang="zh-CN" dirty="0"/>
              <a:t>2.</a:t>
            </a:r>
            <a:r>
              <a:rPr lang="zh-CN" altLang="en-US" dirty="0"/>
              <a:t>阈值必须外生于排名</a:t>
            </a:r>
            <a:endParaRPr lang="en-US" altLang="zh-CN" dirty="0"/>
          </a:p>
          <a:p>
            <a:pPr lvl="1"/>
            <a:r>
              <a:rPr lang="en-US" altLang="zh-CN" dirty="0"/>
              <a:t>C0</a:t>
            </a:r>
            <a:r>
              <a:rPr lang="zh-CN" altLang="en-US" dirty="0"/>
              <a:t>外生于</a:t>
            </a:r>
            <a:r>
              <a:rPr lang="en-US" altLang="zh-CN" dirty="0"/>
              <a:t>X</a:t>
            </a:r>
          </a:p>
          <a:p>
            <a:pPr lvl="1"/>
            <a:r>
              <a:rPr lang="zh-CN" altLang="en-US" dirty="0"/>
              <a:t>会导致什么？</a:t>
            </a:r>
            <a:endParaRPr lang="en-US" altLang="zh-CN" dirty="0"/>
          </a:p>
          <a:p>
            <a:pPr lvl="1"/>
            <a:r>
              <a:rPr lang="zh-CN" altLang="en-US" dirty="0"/>
              <a:t>断点附近的分布非随机</a:t>
            </a:r>
            <a:endParaRPr lang="en-US" altLang="zh-CN" dirty="0"/>
          </a:p>
          <a:p>
            <a:r>
              <a:rPr lang="zh-CN" altLang="en-US" dirty="0"/>
              <a:t>怎么避免？</a:t>
            </a:r>
            <a:endParaRPr lang="en-US" altLang="zh-CN" dirty="0"/>
          </a:p>
          <a:p>
            <a:pPr lvl="1"/>
            <a:r>
              <a:rPr lang="zh-CN" altLang="en-US" dirty="0"/>
              <a:t>评估过程远程进行，单个专家不知道其他专家的评分。最终得分（进而排名）是四名独立专家评分的汇总（即中位数），因此即使某一专家有操纵评估的意图，也极不可能直接导致企业获得获奖排名。</a:t>
            </a:r>
          </a:p>
        </p:txBody>
      </p:sp>
    </p:spTree>
    <p:extLst>
      <p:ext uri="{BB962C8B-B14F-4D97-AF65-F5344CB8AC3E}">
        <p14:creationId xmlns:p14="http://schemas.microsoft.com/office/powerpoint/2010/main" val="3351855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54A360-7483-FBA3-FC46-BBF512D97E2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BA9C68B-52B1-3EBA-73AE-1FD627EEA86E}"/>
              </a:ext>
            </a:extLst>
          </p:cNvPr>
          <p:cNvSpPr>
            <a:spLocks noGrp="1"/>
          </p:cNvSpPr>
          <p:nvPr>
            <p:ph idx="1"/>
          </p:nvPr>
        </p:nvSpPr>
        <p:spPr>
          <a:xfrm>
            <a:off x="838199" y="2055813"/>
            <a:ext cx="6907435" cy="4351338"/>
          </a:xfrm>
        </p:spPr>
        <p:txBody>
          <a:bodyPr/>
          <a:lstStyle/>
          <a:p>
            <a:r>
              <a:rPr lang="en-US" altLang="zh-CN" dirty="0"/>
              <a:t>3.</a:t>
            </a:r>
            <a:r>
              <a:rPr lang="zh-CN" altLang="en-US" dirty="0"/>
              <a:t>申请者可能会通过提交高质量提案并申请相对较少的资金，以提高在预算约束下获得补贴的机会，从而操纵排名。</a:t>
            </a:r>
            <a:endParaRPr lang="en-US" altLang="zh-CN" dirty="0"/>
          </a:p>
          <a:p>
            <a:pPr lvl="1"/>
            <a:r>
              <a:rPr lang="zh-CN" altLang="en-US" dirty="0"/>
              <a:t>本质是说</a:t>
            </a:r>
            <a:r>
              <a:rPr lang="en-US" altLang="zh-CN" dirty="0"/>
              <a:t>X</a:t>
            </a:r>
            <a:r>
              <a:rPr lang="zh-CN" altLang="en-US" dirty="0"/>
              <a:t>外生于申请者个体因素</a:t>
            </a:r>
            <a:endParaRPr lang="en-US" altLang="zh-CN" dirty="0"/>
          </a:p>
          <a:p>
            <a:pPr lvl="1"/>
            <a:r>
              <a:rPr lang="zh-CN" altLang="en-US" dirty="0"/>
              <a:t>若存在这种情况，获奖企业的申请资金应系统性地低于未获奖企业。</a:t>
            </a:r>
            <a:endParaRPr lang="en-US" altLang="zh-CN" dirty="0"/>
          </a:p>
          <a:p>
            <a:r>
              <a:rPr lang="zh-CN" altLang="en-US" dirty="0"/>
              <a:t>图中展示的在做什么</a:t>
            </a:r>
            <a:endParaRPr lang="en-US" altLang="zh-CN" dirty="0"/>
          </a:p>
          <a:p>
            <a:pPr lvl="1"/>
            <a:r>
              <a:rPr lang="zh-CN" altLang="en-US" dirty="0"/>
              <a:t>企业的个体特征在断点处是否连续</a:t>
            </a:r>
            <a:endParaRPr lang="en-US" altLang="zh-CN" dirty="0"/>
          </a:p>
          <a:p>
            <a:pPr lvl="1"/>
            <a:r>
              <a:rPr lang="zh-CN" altLang="en-US" dirty="0"/>
              <a:t>利润率、现金流、企业位于南部、风险投资中心关联度、高科技、人均</a:t>
            </a:r>
            <a:r>
              <a:rPr lang="en-US" altLang="zh-CN" dirty="0"/>
              <a:t>GDP</a:t>
            </a:r>
            <a:r>
              <a:rPr lang="zh-CN" altLang="en-US" dirty="0"/>
              <a:t>、申请资金、首次申请</a:t>
            </a:r>
            <a:endParaRPr lang="en-US" altLang="zh-CN" dirty="0"/>
          </a:p>
          <a:p>
            <a:endParaRPr lang="zh-CN" altLang="en-US" dirty="0"/>
          </a:p>
        </p:txBody>
      </p:sp>
      <p:pic>
        <p:nvPicPr>
          <p:cNvPr id="5" name="图片 4">
            <a:extLst>
              <a:ext uri="{FF2B5EF4-FFF2-40B4-BE49-F238E27FC236}">
                <a16:creationId xmlns:a16="http://schemas.microsoft.com/office/drawing/2014/main" id="{5FAD1774-1922-EF70-7114-54DA3F5978DC}"/>
              </a:ext>
            </a:extLst>
          </p:cNvPr>
          <p:cNvPicPr>
            <a:picLocks noChangeAspect="1"/>
          </p:cNvPicPr>
          <p:nvPr/>
        </p:nvPicPr>
        <p:blipFill>
          <a:blip r:embed="rId2"/>
          <a:stretch>
            <a:fillRect/>
          </a:stretch>
        </p:blipFill>
        <p:spPr>
          <a:xfrm>
            <a:off x="7745635" y="0"/>
            <a:ext cx="4303313" cy="6858000"/>
          </a:xfrm>
          <a:prstGeom prst="rect">
            <a:avLst/>
          </a:prstGeom>
        </p:spPr>
      </p:pic>
    </p:spTree>
    <p:extLst>
      <p:ext uri="{BB962C8B-B14F-4D97-AF65-F5344CB8AC3E}">
        <p14:creationId xmlns:p14="http://schemas.microsoft.com/office/powerpoint/2010/main" val="154066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66D09B-A50E-623A-AD7B-A220F381214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8958684-55AA-1C5F-7CE2-ABC99E78CE06}"/>
              </a:ext>
            </a:extLst>
          </p:cNvPr>
          <p:cNvSpPr>
            <a:spLocks noGrp="1"/>
          </p:cNvSpPr>
          <p:nvPr>
            <p:ph idx="1"/>
          </p:nvPr>
        </p:nvSpPr>
        <p:spPr>
          <a:xfrm>
            <a:off x="838200" y="1825625"/>
            <a:ext cx="5257800" cy="4351338"/>
          </a:xfrm>
        </p:spPr>
        <p:txBody>
          <a:bodyPr>
            <a:normAutofit/>
          </a:bodyPr>
          <a:lstStyle/>
          <a:p>
            <a:r>
              <a:rPr lang="en-US" altLang="zh-CN" dirty="0"/>
              <a:t>4.</a:t>
            </a:r>
            <a:r>
              <a:rPr lang="zh-CN" altLang="en-US" dirty="0"/>
              <a:t>检验阈值两侧企业是否存在系统性差异</a:t>
            </a:r>
            <a:endParaRPr lang="en-US" altLang="zh-CN" dirty="0"/>
          </a:p>
          <a:p>
            <a:pPr lvl="1"/>
            <a:r>
              <a:rPr lang="zh-CN" altLang="en-US" dirty="0"/>
              <a:t>其实刚才的图也是在做这个事情</a:t>
            </a:r>
            <a:endParaRPr lang="en-US" altLang="zh-CN" dirty="0"/>
          </a:p>
          <a:p>
            <a:pPr lvl="1"/>
            <a:r>
              <a:rPr lang="zh-CN" altLang="en-US" dirty="0"/>
              <a:t>投资、被引加权专利数、私募股权、资产、员工数、营收</a:t>
            </a:r>
            <a:endParaRPr lang="en-US" altLang="zh-CN" dirty="0"/>
          </a:p>
          <a:p>
            <a:r>
              <a:rPr lang="zh-CN" altLang="en-US" dirty="0"/>
              <a:t>并进一步进行回归</a:t>
            </a:r>
            <a:endParaRPr lang="en-US" altLang="zh-CN" dirty="0"/>
          </a:p>
          <a:p>
            <a:pPr lvl="1"/>
            <a:r>
              <a:rPr lang="zh-CN" altLang="en-US" dirty="0"/>
              <a:t>估计将分配前企业产出</a:t>
            </a:r>
            <a:r>
              <a:rPr lang="en-US" altLang="zh-CN" dirty="0"/>
              <a:t>/</a:t>
            </a:r>
            <a:r>
              <a:rPr lang="zh-CN" altLang="en-US" dirty="0"/>
              <a:t>基线协变量作为因变量，以是否获得补贴</a:t>
            </a:r>
            <a:r>
              <a:rPr lang="en-US" altLang="zh-CN" dirty="0"/>
              <a:t>D</a:t>
            </a:r>
            <a:r>
              <a:rPr lang="zh-CN" altLang="en-US" dirty="0"/>
              <a:t>、阈值两侧的线性或二次排名以及竞争固定效应作为自变量的模型</a:t>
            </a:r>
          </a:p>
        </p:txBody>
      </p:sp>
      <p:pic>
        <p:nvPicPr>
          <p:cNvPr id="5" name="图片 4">
            <a:extLst>
              <a:ext uri="{FF2B5EF4-FFF2-40B4-BE49-F238E27FC236}">
                <a16:creationId xmlns:a16="http://schemas.microsoft.com/office/drawing/2014/main" id="{D70AD10F-80B3-CC81-A02A-93DFD91FAF72}"/>
              </a:ext>
            </a:extLst>
          </p:cNvPr>
          <p:cNvPicPr>
            <a:picLocks noChangeAspect="1"/>
          </p:cNvPicPr>
          <p:nvPr/>
        </p:nvPicPr>
        <p:blipFill>
          <a:blip r:embed="rId2"/>
          <a:stretch>
            <a:fillRect/>
          </a:stretch>
        </p:blipFill>
        <p:spPr>
          <a:xfrm>
            <a:off x="7272143" y="0"/>
            <a:ext cx="4780033" cy="6858000"/>
          </a:xfrm>
          <a:prstGeom prst="rect">
            <a:avLst/>
          </a:prstGeom>
        </p:spPr>
      </p:pic>
    </p:spTree>
    <p:extLst>
      <p:ext uri="{BB962C8B-B14F-4D97-AF65-F5344CB8AC3E}">
        <p14:creationId xmlns:p14="http://schemas.microsoft.com/office/powerpoint/2010/main" val="408905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01DB3-0AA6-1349-E7DA-8F7A4A333A6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3F6AD22-1410-666C-0213-C98E81761FB4}"/>
              </a:ext>
            </a:extLst>
          </p:cNvPr>
          <p:cNvSpPr>
            <a:spLocks noGrp="1"/>
          </p:cNvSpPr>
          <p:nvPr>
            <p:ph idx="1"/>
          </p:nvPr>
        </p:nvSpPr>
        <p:spPr>
          <a:xfrm>
            <a:off x="838200" y="1904002"/>
            <a:ext cx="5157651" cy="4351338"/>
          </a:xfrm>
        </p:spPr>
        <p:txBody>
          <a:bodyPr/>
          <a:lstStyle/>
          <a:p>
            <a:r>
              <a:rPr lang="zh-CN" altLang="en-US" dirty="0"/>
              <a:t>可以看到分别报告放入一阶项和二阶项的拟合结果</a:t>
            </a:r>
            <a:endParaRPr lang="en-US" altLang="zh-CN" dirty="0"/>
          </a:p>
          <a:p>
            <a:r>
              <a:rPr lang="zh-CN" altLang="en-US" dirty="0"/>
              <a:t>对比断点两侧企业特征是否有显著差异</a:t>
            </a:r>
            <a:endParaRPr lang="en-US" altLang="zh-CN" dirty="0"/>
          </a:p>
          <a:p>
            <a:pPr lvl="1"/>
            <a:r>
              <a:rPr lang="zh-CN" altLang="en-US" dirty="0"/>
              <a:t>和刚才的</a:t>
            </a:r>
            <a:r>
              <a:rPr lang="en-US" altLang="zh-CN" dirty="0"/>
              <a:t>fig</a:t>
            </a:r>
            <a:r>
              <a:rPr lang="zh-CN" altLang="en-US" dirty="0"/>
              <a:t>说的一个事情</a:t>
            </a:r>
            <a:endParaRPr lang="en-US" altLang="zh-CN" dirty="0"/>
          </a:p>
          <a:p>
            <a:endParaRPr lang="zh-CN" altLang="en-US" dirty="0"/>
          </a:p>
        </p:txBody>
      </p:sp>
      <p:pic>
        <p:nvPicPr>
          <p:cNvPr id="5" name="图片 4">
            <a:extLst>
              <a:ext uri="{FF2B5EF4-FFF2-40B4-BE49-F238E27FC236}">
                <a16:creationId xmlns:a16="http://schemas.microsoft.com/office/drawing/2014/main" id="{6A1ABD23-3863-FA37-4DF1-14856A5914F9}"/>
              </a:ext>
            </a:extLst>
          </p:cNvPr>
          <p:cNvPicPr>
            <a:picLocks noChangeAspect="1"/>
          </p:cNvPicPr>
          <p:nvPr/>
        </p:nvPicPr>
        <p:blipFill>
          <a:blip r:embed="rId2"/>
          <a:stretch>
            <a:fillRect/>
          </a:stretch>
        </p:blipFill>
        <p:spPr>
          <a:xfrm>
            <a:off x="6096000" y="256254"/>
            <a:ext cx="5630061" cy="6601746"/>
          </a:xfrm>
          <a:prstGeom prst="rect">
            <a:avLst/>
          </a:prstGeom>
        </p:spPr>
      </p:pic>
    </p:spTree>
    <p:extLst>
      <p:ext uri="{BB962C8B-B14F-4D97-AF65-F5344CB8AC3E}">
        <p14:creationId xmlns:p14="http://schemas.microsoft.com/office/powerpoint/2010/main" val="2332528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DD6951-7EB7-411D-A95F-ECF7F41226F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C22CEB4-599C-E19C-DC3B-60825D054B98}"/>
              </a:ext>
            </a:extLst>
          </p:cNvPr>
          <p:cNvSpPr>
            <a:spLocks noGrp="1"/>
          </p:cNvSpPr>
          <p:nvPr>
            <p:ph idx="1"/>
          </p:nvPr>
        </p:nvSpPr>
        <p:spPr/>
        <p:txBody>
          <a:bodyPr/>
          <a:lstStyle/>
          <a:p>
            <a:r>
              <a:rPr lang="en-US" altLang="zh-CN" dirty="0"/>
              <a:t>5.</a:t>
            </a:r>
            <a:r>
              <a:rPr lang="zh-CN" altLang="en-US" dirty="0"/>
              <a:t> “卓越印章” 即授予因预算不足未获补贴企业的 “质量标签”</a:t>
            </a:r>
            <a:endParaRPr lang="en-US" altLang="zh-CN" dirty="0"/>
          </a:p>
          <a:p>
            <a:r>
              <a:rPr lang="zh-CN" altLang="en-US" dirty="0"/>
              <a:t>专家事先知道获得 “卓越印章” 所需的最低质量阈值得分（即 </a:t>
            </a:r>
            <a:r>
              <a:rPr lang="en-US" altLang="zh-CN" dirty="0"/>
              <a:t>12 </a:t>
            </a:r>
            <a:r>
              <a:rPr lang="zh-CN" altLang="en-US" dirty="0"/>
              <a:t>分），这可能增加操纵的可能性</a:t>
            </a:r>
            <a:endParaRPr lang="en-US" altLang="zh-CN" dirty="0"/>
          </a:p>
          <a:p>
            <a:r>
              <a:rPr lang="zh-CN" altLang="en-US" dirty="0"/>
              <a:t>为避免这种情况，重新设定阈值（使零位于最后一个获得 “卓越印章” 的企业和第一个未获得 “卓越印章” 的企业之间），重新进行上述测试</a:t>
            </a:r>
            <a:endParaRPr lang="en-US" altLang="zh-CN" dirty="0"/>
          </a:p>
          <a:p>
            <a:r>
              <a:rPr lang="zh-CN" altLang="en-US" dirty="0"/>
              <a:t>换句话来说，作者考虑到卓越印章作为我们之前说过的预期干预</a:t>
            </a:r>
            <a:endParaRPr lang="en-US" altLang="zh-CN" dirty="0"/>
          </a:p>
          <a:p>
            <a:pPr lvl="1"/>
            <a:r>
              <a:rPr lang="zh-CN" altLang="en-US" dirty="0"/>
              <a:t>即卓越印章作为未获补贴企业的一个断点</a:t>
            </a:r>
            <a:endParaRPr lang="en-US" altLang="zh-CN" dirty="0"/>
          </a:p>
          <a:p>
            <a:pPr lvl="1"/>
            <a:r>
              <a:rPr lang="zh-CN" altLang="en-US" dirty="0"/>
              <a:t>获得卓越印章的企业，可能存在激励投入研发</a:t>
            </a:r>
          </a:p>
        </p:txBody>
      </p:sp>
    </p:spTree>
    <p:extLst>
      <p:ext uri="{BB962C8B-B14F-4D97-AF65-F5344CB8AC3E}">
        <p14:creationId xmlns:p14="http://schemas.microsoft.com/office/powerpoint/2010/main" val="993378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63DB68-7254-AFF5-B6BF-FA0211D13D0C}"/>
              </a:ext>
            </a:extLst>
          </p:cNvPr>
          <p:cNvSpPr>
            <a:spLocks noGrp="1"/>
          </p:cNvSpPr>
          <p:nvPr>
            <p:ph type="title"/>
          </p:nvPr>
        </p:nvSpPr>
        <p:spPr/>
        <p:txBody>
          <a:bodyPr/>
          <a:lstStyle/>
          <a:p>
            <a:r>
              <a:rPr lang="zh-CN" altLang="en-US" dirty="0"/>
              <a:t>结果</a:t>
            </a:r>
          </a:p>
        </p:txBody>
      </p:sp>
      <p:sp>
        <p:nvSpPr>
          <p:cNvPr id="3" name="内容占位符 2">
            <a:extLst>
              <a:ext uri="{FF2B5EF4-FFF2-40B4-BE49-F238E27FC236}">
                <a16:creationId xmlns:a16="http://schemas.microsoft.com/office/drawing/2014/main" id="{4DDDE33E-2B60-B971-3EA2-330CE421AD7E}"/>
              </a:ext>
            </a:extLst>
          </p:cNvPr>
          <p:cNvSpPr>
            <a:spLocks noGrp="1"/>
          </p:cNvSpPr>
          <p:nvPr>
            <p:ph idx="1"/>
          </p:nvPr>
        </p:nvSpPr>
        <p:spPr>
          <a:xfrm>
            <a:off x="838200" y="2506662"/>
            <a:ext cx="6483260" cy="4351338"/>
          </a:xfrm>
        </p:spPr>
        <p:txBody>
          <a:bodyPr/>
          <a:lstStyle/>
          <a:p>
            <a:r>
              <a:rPr lang="zh-CN" altLang="en-US" dirty="0"/>
              <a:t>首先，展示处理后产出变量在断点处的不连续性图形证据</a:t>
            </a:r>
            <a:endParaRPr lang="en-US" altLang="zh-CN" dirty="0"/>
          </a:p>
          <a:p>
            <a:r>
              <a:rPr lang="zh-CN" altLang="en-US" dirty="0"/>
              <a:t>其次，公司年龄、企业失败率存在负向断点</a:t>
            </a:r>
            <a:endParaRPr lang="en-US" altLang="zh-CN" dirty="0"/>
          </a:p>
        </p:txBody>
      </p:sp>
      <p:pic>
        <p:nvPicPr>
          <p:cNvPr id="4" name="图片 3">
            <a:extLst>
              <a:ext uri="{FF2B5EF4-FFF2-40B4-BE49-F238E27FC236}">
                <a16:creationId xmlns:a16="http://schemas.microsoft.com/office/drawing/2014/main" id="{C2D00800-4E13-C256-98CE-4D3D49A9302E}"/>
              </a:ext>
            </a:extLst>
          </p:cNvPr>
          <p:cNvPicPr>
            <a:picLocks/>
          </p:cNvPicPr>
          <p:nvPr/>
        </p:nvPicPr>
        <p:blipFill>
          <a:blip r:embed="rId2"/>
          <a:srcRect t="46667"/>
          <a:stretch>
            <a:fillRect/>
          </a:stretch>
        </p:blipFill>
        <p:spPr>
          <a:xfrm>
            <a:off x="7412736" y="0"/>
            <a:ext cx="4779264" cy="3657600"/>
          </a:xfrm>
          <a:prstGeom prst="rect">
            <a:avLst/>
          </a:prstGeom>
        </p:spPr>
      </p:pic>
      <p:pic>
        <p:nvPicPr>
          <p:cNvPr id="6" name="图片 5">
            <a:extLst>
              <a:ext uri="{FF2B5EF4-FFF2-40B4-BE49-F238E27FC236}">
                <a16:creationId xmlns:a16="http://schemas.microsoft.com/office/drawing/2014/main" id="{3D3B37B5-D977-30BF-02B0-C0434A0D6932}"/>
              </a:ext>
            </a:extLst>
          </p:cNvPr>
          <p:cNvPicPr>
            <a:picLocks noChangeAspect="1"/>
          </p:cNvPicPr>
          <p:nvPr/>
        </p:nvPicPr>
        <p:blipFill>
          <a:blip r:embed="rId3"/>
          <a:stretch>
            <a:fillRect/>
          </a:stretch>
        </p:blipFill>
        <p:spPr>
          <a:xfrm>
            <a:off x="7321460" y="3747032"/>
            <a:ext cx="4870540" cy="3110968"/>
          </a:xfrm>
          <a:prstGeom prst="rect">
            <a:avLst/>
          </a:prstGeom>
        </p:spPr>
      </p:pic>
    </p:spTree>
    <p:extLst>
      <p:ext uri="{BB962C8B-B14F-4D97-AF65-F5344CB8AC3E}">
        <p14:creationId xmlns:p14="http://schemas.microsoft.com/office/powerpoint/2010/main" val="788492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4D6E2D-2FD4-BF1D-DEAA-D2A10EA9BD4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AF2A0A4-3122-66F4-FA52-741BE7FC18B6}"/>
              </a:ext>
            </a:extLst>
          </p:cNvPr>
          <p:cNvSpPr>
            <a:spLocks noGrp="1"/>
          </p:cNvSpPr>
          <p:nvPr>
            <p:ph idx="1"/>
          </p:nvPr>
        </p:nvSpPr>
        <p:spPr>
          <a:xfrm>
            <a:off x="838200" y="1825625"/>
            <a:ext cx="5522900" cy="4351338"/>
          </a:xfrm>
        </p:spPr>
        <p:txBody>
          <a:bodyPr>
            <a:normAutofit fontScale="92500" lnSpcReduction="10000"/>
          </a:bodyPr>
          <a:lstStyle/>
          <a:p>
            <a:r>
              <a:rPr lang="zh-CN" altLang="en-US" dirty="0"/>
              <a:t>检验补贴是否会提高企业投资</a:t>
            </a:r>
            <a:endParaRPr lang="en-US" altLang="zh-CN" dirty="0"/>
          </a:p>
          <a:p>
            <a:pPr lvl="1"/>
            <a:r>
              <a:rPr lang="zh-CN" altLang="en-US" dirty="0"/>
              <a:t>企业投资定义为固定资产净值的年度变动，我们将企业在 </a:t>
            </a:r>
            <a:r>
              <a:rPr lang="en-US" altLang="zh-CN" dirty="0"/>
              <a:t>t </a:t>
            </a:r>
            <a:r>
              <a:rPr lang="zh-CN" altLang="en-US" dirty="0"/>
              <a:t>期（即竞争年度）和 </a:t>
            </a:r>
            <a:r>
              <a:rPr lang="en-US" altLang="zh-CN" dirty="0"/>
              <a:t>t+1 </a:t>
            </a:r>
            <a:r>
              <a:rPr lang="zh-CN" altLang="en-US" dirty="0"/>
              <a:t>期的投资累计，并以补贴前的总资产为基数进行标准化。</a:t>
            </a:r>
            <a:endParaRPr lang="en-US" altLang="zh-CN" dirty="0"/>
          </a:p>
          <a:p>
            <a:r>
              <a:rPr lang="zh-CN" altLang="en-US" dirty="0"/>
              <a:t>更换不同带宽</a:t>
            </a:r>
            <a:endParaRPr lang="en-US" altLang="zh-CN" dirty="0"/>
          </a:p>
          <a:p>
            <a:r>
              <a:rPr lang="zh-CN" altLang="en-US" dirty="0"/>
              <a:t>模型拟合不同</a:t>
            </a:r>
            <a:endParaRPr lang="en-US" altLang="zh-CN" dirty="0"/>
          </a:p>
          <a:p>
            <a:r>
              <a:rPr lang="zh-CN" altLang="en-US" dirty="0"/>
              <a:t>说明补贴对企业投资产生了正向且统计显著的影响</a:t>
            </a:r>
            <a:endParaRPr lang="en-US" altLang="zh-CN" dirty="0"/>
          </a:p>
          <a:p>
            <a:r>
              <a:rPr lang="en-US" altLang="zh-CN" dirty="0"/>
              <a:t>BIC</a:t>
            </a:r>
            <a:r>
              <a:rPr lang="zh-CN" altLang="en-US" dirty="0"/>
              <a:t>模型拟合的越好，复杂度越低的</a:t>
            </a:r>
          </a:p>
        </p:txBody>
      </p:sp>
      <p:pic>
        <p:nvPicPr>
          <p:cNvPr id="5" name="图片 4">
            <a:extLst>
              <a:ext uri="{FF2B5EF4-FFF2-40B4-BE49-F238E27FC236}">
                <a16:creationId xmlns:a16="http://schemas.microsoft.com/office/drawing/2014/main" id="{C89B8289-B15A-7F77-973C-83C95197B54B}"/>
              </a:ext>
            </a:extLst>
          </p:cNvPr>
          <p:cNvPicPr>
            <a:picLocks noChangeAspect="1"/>
          </p:cNvPicPr>
          <p:nvPr/>
        </p:nvPicPr>
        <p:blipFill>
          <a:blip r:embed="rId2"/>
          <a:stretch>
            <a:fillRect/>
          </a:stretch>
        </p:blipFill>
        <p:spPr>
          <a:xfrm>
            <a:off x="6361100" y="2024142"/>
            <a:ext cx="5548667" cy="3954303"/>
          </a:xfrm>
          <a:prstGeom prst="rect">
            <a:avLst/>
          </a:prstGeom>
        </p:spPr>
      </p:pic>
    </p:spTree>
    <p:extLst>
      <p:ext uri="{BB962C8B-B14F-4D97-AF65-F5344CB8AC3E}">
        <p14:creationId xmlns:p14="http://schemas.microsoft.com/office/powerpoint/2010/main" val="2804350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1B57C6-1149-F92D-244A-34CE05D0200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B827315-8A4E-DAF1-E1E5-F4133C8CD761}"/>
              </a:ext>
            </a:extLst>
          </p:cNvPr>
          <p:cNvSpPr>
            <a:spLocks noGrp="1"/>
          </p:cNvSpPr>
          <p:nvPr>
            <p:ph idx="1"/>
          </p:nvPr>
        </p:nvSpPr>
        <p:spPr>
          <a:xfrm>
            <a:off x="838200" y="1825625"/>
            <a:ext cx="5823857" cy="4351338"/>
          </a:xfrm>
        </p:spPr>
        <p:txBody>
          <a:bodyPr/>
          <a:lstStyle/>
          <a:p>
            <a:r>
              <a:rPr lang="zh-CN" altLang="en-US" dirty="0"/>
              <a:t>进一步区分有形资产</a:t>
            </a:r>
            <a:r>
              <a:rPr lang="en-US" altLang="zh-CN" dirty="0"/>
              <a:t>/</a:t>
            </a:r>
            <a:r>
              <a:rPr lang="zh-CN" altLang="en-US" dirty="0"/>
              <a:t>无形资产</a:t>
            </a:r>
            <a:endParaRPr lang="en-US" altLang="zh-CN" dirty="0"/>
          </a:p>
          <a:p>
            <a:r>
              <a:rPr lang="zh-CN" altLang="en-US" dirty="0"/>
              <a:t>结果显示，对无形资产投资的影响系统性地大于对有形资产投资的影响</a:t>
            </a:r>
            <a:endParaRPr lang="en-US" altLang="zh-CN" dirty="0"/>
          </a:p>
          <a:p>
            <a:r>
              <a:rPr lang="zh-CN" altLang="en-US" dirty="0"/>
              <a:t>无形资产的不透明性和信息不对称使其融资更具挑战性，导致企业面临金融约束</a:t>
            </a:r>
            <a:endParaRPr lang="en-US" altLang="zh-CN" dirty="0"/>
          </a:p>
        </p:txBody>
      </p:sp>
      <p:pic>
        <p:nvPicPr>
          <p:cNvPr id="5" name="图片 4">
            <a:extLst>
              <a:ext uri="{FF2B5EF4-FFF2-40B4-BE49-F238E27FC236}">
                <a16:creationId xmlns:a16="http://schemas.microsoft.com/office/drawing/2014/main" id="{3BC104CA-9340-7FD4-9591-819BCD092A69}"/>
              </a:ext>
            </a:extLst>
          </p:cNvPr>
          <p:cNvPicPr>
            <a:picLocks noChangeAspect="1"/>
          </p:cNvPicPr>
          <p:nvPr/>
        </p:nvPicPr>
        <p:blipFill>
          <a:blip r:embed="rId2"/>
          <a:stretch>
            <a:fillRect/>
          </a:stretch>
        </p:blipFill>
        <p:spPr>
          <a:xfrm>
            <a:off x="6839830" y="422904"/>
            <a:ext cx="5132964" cy="2805441"/>
          </a:xfrm>
          <a:prstGeom prst="rect">
            <a:avLst/>
          </a:prstGeom>
        </p:spPr>
      </p:pic>
      <p:pic>
        <p:nvPicPr>
          <p:cNvPr id="7" name="图片 6">
            <a:extLst>
              <a:ext uri="{FF2B5EF4-FFF2-40B4-BE49-F238E27FC236}">
                <a16:creationId xmlns:a16="http://schemas.microsoft.com/office/drawing/2014/main" id="{432575E9-E4D0-86A1-2492-DDCFDEAD8C96}"/>
              </a:ext>
            </a:extLst>
          </p:cNvPr>
          <p:cNvPicPr>
            <a:picLocks noChangeAspect="1"/>
          </p:cNvPicPr>
          <p:nvPr/>
        </p:nvPicPr>
        <p:blipFill>
          <a:blip r:embed="rId3"/>
          <a:stretch>
            <a:fillRect/>
          </a:stretch>
        </p:blipFill>
        <p:spPr>
          <a:xfrm>
            <a:off x="6858827" y="3429000"/>
            <a:ext cx="5471987" cy="3150741"/>
          </a:xfrm>
          <a:prstGeom prst="rect">
            <a:avLst/>
          </a:prstGeom>
        </p:spPr>
      </p:pic>
    </p:spTree>
    <p:extLst>
      <p:ext uri="{BB962C8B-B14F-4D97-AF65-F5344CB8AC3E}">
        <p14:creationId xmlns:p14="http://schemas.microsoft.com/office/powerpoint/2010/main" val="1801408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785442-707D-8081-2D2F-A22F7B8BFE6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6182F16-3507-624F-2680-2163AD96A1AF}"/>
              </a:ext>
            </a:extLst>
          </p:cNvPr>
          <p:cNvSpPr>
            <a:spLocks noGrp="1"/>
          </p:cNvSpPr>
          <p:nvPr>
            <p:ph idx="1"/>
          </p:nvPr>
        </p:nvSpPr>
        <p:spPr>
          <a:xfrm>
            <a:off x="838200" y="1825625"/>
            <a:ext cx="5257800" cy="4351338"/>
          </a:xfrm>
        </p:spPr>
        <p:txBody>
          <a:bodyPr/>
          <a:lstStyle/>
          <a:p>
            <a:r>
              <a:rPr lang="zh-CN" altLang="en-US" dirty="0"/>
              <a:t>估计补贴对于企业后续创新的影响</a:t>
            </a:r>
            <a:endParaRPr lang="en-US" altLang="zh-CN" dirty="0"/>
          </a:p>
          <a:p>
            <a:pPr lvl="1"/>
            <a:r>
              <a:rPr lang="zh-CN" altLang="en-US" dirty="0"/>
              <a:t>专利数据，并通过专利被引次数对专利进行质量调整</a:t>
            </a:r>
            <a:endParaRPr lang="en-US" altLang="zh-CN" dirty="0"/>
          </a:p>
          <a:p>
            <a:r>
              <a:rPr lang="zh-CN" altLang="en-US" dirty="0"/>
              <a:t>在所有设定中，补贴均显著增加了经引用加权的专利对数</a:t>
            </a:r>
            <a:endParaRPr lang="en-US" altLang="zh-CN" dirty="0"/>
          </a:p>
          <a:p>
            <a:r>
              <a:rPr lang="zh-CN" altLang="en-US" dirty="0"/>
              <a:t>第二个图为简单的专利数据</a:t>
            </a:r>
          </a:p>
        </p:txBody>
      </p:sp>
      <p:pic>
        <p:nvPicPr>
          <p:cNvPr id="5" name="图片 4">
            <a:extLst>
              <a:ext uri="{FF2B5EF4-FFF2-40B4-BE49-F238E27FC236}">
                <a16:creationId xmlns:a16="http://schemas.microsoft.com/office/drawing/2014/main" id="{9F00CB39-78FE-3DAA-68C5-A18070EE0904}"/>
              </a:ext>
            </a:extLst>
          </p:cNvPr>
          <p:cNvPicPr>
            <a:picLocks noChangeAspect="1"/>
          </p:cNvPicPr>
          <p:nvPr/>
        </p:nvPicPr>
        <p:blipFill>
          <a:blip r:embed="rId2"/>
          <a:stretch>
            <a:fillRect/>
          </a:stretch>
        </p:blipFill>
        <p:spPr>
          <a:xfrm>
            <a:off x="5889330" y="1825625"/>
            <a:ext cx="5751965" cy="2343393"/>
          </a:xfrm>
          <a:prstGeom prst="rect">
            <a:avLst/>
          </a:prstGeom>
        </p:spPr>
      </p:pic>
      <p:pic>
        <p:nvPicPr>
          <p:cNvPr id="7" name="图片 6">
            <a:extLst>
              <a:ext uri="{FF2B5EF4-FFF2-40B4-BE49-F238E27FC236}">
                <a16:creationId xmlns:a16="http://schemas.microsoft.com/office/drawing/2014/main" id="{2EC81A02-F07A-D0F9-B3BB-025E29606B2C}"/>
              </a:ext>
            </a:extLst>
          </p:cNvPr>
          <p:cNvPicPr>
            <a:picLocks noChangeAspect="1"/>
          </p:cNvPicPr>
          <p:nvPr/>
        </p:nvPicPr>
        <p:blipFill>
          <a:blip r:embed="rId3"/>
          <a:stretch>
            <a:fillRect/>
          </a:stretch>
        </p:blipFill>
        <p:spPr>
          <a:xfrm>
            <a:off x="6583610" y="4303955"/>
            <a:ext cx="4363403" cy="2365061"/>
          </a:xfrm>
          <a:prstGeom prst="rect">
            <a:avLst/>
          </a:prstGeom>
        </p:spPr>
      </p:pic>
    </p:spTree>
    <p:extLst>
      <p:ext uri="{BB962C8B-B14F-4D97-AF65-F5344CB8AC3E}">
        <p14:creationId xmlns:p14="http://schemas.microsoft.com/office/powerpoint/2010/main" val="5279725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020C9E-6969-664B-BBC9-45A2A35BE0C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E3F9660-6430-1BBF-51E2-9F025754A006}"/>
              </a:ext>
            </a:extLst>
          </p:cNvPr>
          <p:cNvSpPr>
            <a:spLocks noGrp="1"/>
          </p:cNvSpPr>
          <p:nvPr>
            <p:ph idx="1"/>
          </p:nvPr>
        </p:nvSpPr>
        <p:spPr/>
        <p:txBody>
          <a:bodyPr/>
          <a:lstStyle/>
          <a:p>
            <a:r>
              <a:rPr lang="zh-CN" altLang="en-US" dirty="0"/>
              <a:t>进一步分析加权专利数量的增长的来源</a:t>
            </a:r>
            <a:endParaRPr lang="en-US" altLang="zh-CN" dirty="0"/>
          </a:p>
          <a:p>
            <a:r>
              <a:rPr lang="zh-CN" altLang="en-US" dirty="0"/>
              <a:t>扩展边际（</a:t>
            </a:r>
            <a:r>
              <a:rPr lang="en-US" altLang="zh-CN" dirty="0"/>
              <a:t>Extensive Margin</a:t>
            </a:r>
            <a:r>
              <a:rPr lang="zh-CN" altLang="en-US" dirty="0"/>
              <a:t>）</a:t>
            </a:r>
            <a:r>
              <a:rPr lang="en-US" altLang="zh-CN" dirty="0"/>
              <a:t>——</a:t>
            </a:r>
            <a:r>
              <a:rPr lang="zh-CN" altLang="en-US" dirty="0"/>
              <a:t>“从无到有” 的维度</a:t>
            </a:r>
            <a:endParaRPr lang="en-US" altLang="zh-CN" dirty="0"/>
          </a:p>
          <a:p>
            <a:pPr lvl="1"/>
            <a:r>
              <a:rPr lang="zh-CN" altLang="en-US" dirty="0"/>
              <a:t>指那些没有研发补贴就完全不会提交专利申请的企业 </a:t>
            </a:r>
            <a:r>
              <a:rPr lang="en-US" altLang="zh-CN" dirty="0"/>
              <a:t>—— </a:t>
            </a:r>
            <a:r>
              <a:rPr lang="zh-CN" altLang="en-US" dirty="0"/>
              <a:t>补贴的介入让这类企业首次产生了专利申请行为（比如原本没能力 </a:t>
            </a:r>
            <a:r>
              <a:rPr lang="en-US" altLang="zh-CN" dirty="0"/>
              <a:t>/ </a:t>
            </a:r>
            <a:r>
              <a:rPr lang="zh-CN" altLang="en-US" dirty="0"/>
              <a:t>没意愿开展可专利化研发的初创企业，靠补贴启动项目并申请专利）。</a:t>
            </a:r>
            <a:endParaRPr lang="en-US" altLang="zh-CN" dirty="0"/>
          </a:p>
          <a:p>
            <a:r>
              <a:rPr lang="zh-CN" altLang="en-US" dirty="0"/>
              <a:t>集约边际（</a:t>
            </a:r>
            <a:r>
              <a:rPr lang="en-US" altLang="zh-CN" dirty="0"/>
              <a:t>Intensive Margin</a:t>
            </a:r>
            <a:r>
              <a:rPr lang="zh-CN" altLang="en-US" dirty="0"/>
              <a:t>）</a:t>
            </a:r>
            <a:r>
              <a:rPr lang="en-US" altLang="zh-CN" dirty="0"/>
              <a:t>——</a:t>
            </a:r>
            <a:r>
              <a:rPr lang="zh-CN" altLang="en-US" dirty="0"/>
              <a:t>“从少到多” 的维度</a:t>
            </a:r>
            <a:endParaRPr lang="en-US" altLang="zh-CN" dirty="0"/>
          </a:p>
          <a:p>
            <a:pPr lvl="1"/>
            <a:r>
              <a:rPr lang="zh-CN" altLang="en-US" dirty="0"/>
              <a:t>指那些即便没有补贴也会提交专利申请的企业 </a:t>
            </a:r>
            <a:r>
              <a:rPr lang="en-US" altLang="zh-CN" dirty="0"/>
              <a:t>—— </a:t>
            </a:r>
            <a:r>
              <a:rPr lang="zh-CN" altLang="en-US" dirty="0"/>
              <a:t>补贴的介入让这类企业的专利申请数量更多、质量更高</a:t>
            </a:r>
            <a:endParaRPr lang="en-US" altLang="zh-CN" dirty="0"/>
          </a:p>
        </p:txBody>
      </p:sp>
    </p:spTree>
    <p:extLst>
      <p:ext uri="{BB962C8B-B14F-4D97-AF65-F5344CB8AC3E}">
        <p14:creationId xmlns:p14="http://schemas.microsoft.com/office/powerpoint/2010/main" val="470378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0BCCF-5ABD-ECA9-638F-F94017BB646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0361489-45DF-14BA-2282-D6DE072957DC}"/>
              </a:ext>
            </a:extLst>
          </p:cNvPr>
          <p:cNvSpPr>
            <a:spLocks noGrp="1"/>
          </p:cNvSpPr>
          <p:nvPr>
            <p:ph idx="1"/>
          </p:nvPr>
        </p:nvSpPr>
        <p:spPr>
          <a:xfrm>
            <a:off x="838200" y="1825625"/>
            <a:ext cx="6084899" cy="4351338"/>
          </a:xfrm>
        </p:spPr>
        <p:txBody>
          <a:bodyPr>
            <a:normAutofit lnSpcReduction="10000"/>
          </a:bodyPr>
          <a:lstStyle/>
          <a:p>
            <a:r>
              <a:rPr lang="en-US" altLang="zh-CN" dirty="0"/>
              <a:t>B7 Y</a:t>
            </a:r>
            <a:r>
              <a:rPr lang="zh-CN" altLang="en-US" dirty="0"/>
              <a:t>为专利申请</a:t>
            </a:r>
            <a:r>
              <a:rPr lang="en-US" altLang="zh-CN" dirty="0"/>
              <a:t>dummy</a:t>
            </a:r>
          </a:p>
          <a:p>
            <a:pPr lvl="1"/>
            <a:r>
              <a:rPr lang="zh-CN" altLang="en-US" dirty="0"/>
              <a:t>检验从无到有的效应</a:t>
            </a:r>
            <a:endParaRPr lang="en-US" altLang="zh-CN" dirty="0"/>
          </a:p>
          <a:p>
            <a:pPr lvl="1"/>
            <a:r>
              <a:rPr lang="zh-CN" altLang="en-US" dirty="0"/>
              <a:t>让原本不会申请专利的企业，开始提交专利申请（科技创新）</a:t>
            </a:r>
            <a:endParaRPr lang="en-US" altLang="zh-CN" dirty="0"/>
          </a:p>
          <a:p>
            <a:r>
              <a:rPr lang="en-US" altLang="zh-CN" dirty="0"/>
              <a:t>B8 </a:t>
            </a:r>
            <a:r>
              <a:rPr lang="zh-CN" altLang="en-US" dirty="0"/>
              <a:t>拆分样本 补贴前有无专利的企业</a:t>
            </a:r>
            <a:endParaRPr lang="en-US" altLang="zh-CN" dirty="0"/>
          </a:p>
          <a:p>
            <a:pPr lvl="1"/>
            <a:r>
              <a:rPr lang="zh-CN" altLang="en-US" dirty="0"/>
              <a:t>二者均正显著</a:t>
            </a:r>
            <a:endParaRPr lang="en-US" altLang="zh-CN" dirty="0"/>
          </a:p>
          <a:p>
            <a:pPr lvl="1"/>
            <a:r>
              <a:rPr lang="zh-CN" altLang="en-US" dirty="0"/>
              <a:t>但集约边际的效应更大点</a:t>
            </a:r>
            <a:endParaRPr lang="en-US" altLang="zh-CN" dirty="0"/>
          </a:p>
          <a:p>
            <a:pPr lvl="1"/>
            <a:r>
              <a:rPr lang="zh-CN" altLang="en-US" dirty="0"/>
              <a:t>无显著差异</a:t>
            </a:r>
            <a:endParaRPr lang="en-US" altLang="zh-CN" dirty="0"/>
          </a:p>
          <a:p>
            <a:r>
              <a:rPr lang="zh-CN" altLang="en-US" dirty="0"/>
              <a:t>扩展效应尤为重要，因为它表明企业的行为发生了显著变化，这对企业未来的增长前景具有重要意义。</a:t>
            </a:r>
            <a:endParaRPr lang="en-US" altLang="zh-CN" dirty="0"/>
          </a:p>
        </p:txBody>
      </p:sp>
      <p:pic>
        <p:nvPicPr>
          <p:cNvPr id="5" name="图片 4">
            <a:extLst>
              <a:ext uri="{FF2B5EF4-FFF2-40B4-BE49-F238E27FC236}">
                <a16:creationId xmlns:a16="http://schemas.microsoft.com/office/drawing/2014/main" id="{554FF369-6140-B750-0806-6602E5833233}"/>
              </a:ext>
            </a:extLst>
          </p:cNvPr>
          <p:cNvPicPr>
            <a:picLocks noChangeAspect="1"/>
          </p:cNvPicPr>
          <p:nvPr/>
        </p:nvPicPr>
        <p:blipFill>
          <a:blip r:embed="rId2"/>
          <a:stretch>
            <a:fillRect/>
          </a:stretch>
        </p:blipFill>
        <p:spPr>
          <a:xfrm>
            <a:off x="6923099" y="0"/>
            <a:ext cx="5207346" cy="6858000"/>
          </a:xfrm>
          <a:prstGeom prst="rect">
            <a:avLst/>
          </a:prstGeom>
        </p:spPr>
      </p:pic>
    </p:spTree>
    <p:extLst>
      <p:ext uri="{BB962C8B-B14F-4D97-AF65-F5344CB8AC3E}">
        <p14:creationId xmlns:p14="http://schemas.microsoft.com/office/powerpoint/2010/main" val="3741701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9677D-2337-D3AD-E107-5771D98DB3E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9EA1D07-C092-B39D-F22B-B79479728C16}"/>
              </a:ext>
            </a:extLst>
          </p:cNvPr>
          <p:cNvSpPr>
            <a:spLocks noGrp="1"/>
          </p:cNvSpPr>
          <p:nvPr>
            <p:ph idx="1"/>
          </p:nvPr>
        </p:nvSpPr>
        <p:spPr>
          <a:xfrm>
            <a:off x="838200" y="1825625"/>
            <a:ext cx="5771606" cy="4351338"/>
          </a:xfrm>
        </p:spPr>
        <p:txBody>
          <a:bodyPr/>
          <a:lstStyle/>
          <a:p>
            <a:r>
              <a:rPr lang="zh-CN" altLang="en-US" dirty="0"/>
              <a:t>考察研发补贴对后续外部融资的影响</a:t>
            </a:r>
            <a:endParaRPr lang="en-US" altLang="zh-CN" dirty="0"/>
          </a:p>
          <a:p>
            <a:pPr lvl="1"/>
            <a:r>
              <a:rPr lang="zh-CN" altLang="en-US" dirty="0"/>
              <a:t>政府补贴：降低潜在投资者感知的风险，进而提高其投资意愿，增加企业融资</a:t>
            </a:r>
            <a:endParaRPr lang="en-US" altLang="zh-CN" dirty="0"/>
          </a:p>
          <a:p>
            <a:r>
              <a:rPr lang="en-US" altLang="zh-CN" dirty="0"/>
              <a:t>Y</a:t>
            </a:r>
            <a:r>
              <a:rPr lang="zh-CN" altLang="en-US" dirty="0"/>
              <a:t>为是否获得私募股权投资的</a:t>
            </a:r>
            <a:r>
              <a:rPr lang="en-US" altLang="zh-CN" dirty="0"/>
              <a:t>dummy</a:t>
            </a:r>
          </a:p>
          <a:p>
            <a:r>
              <a:rPr lang="en-US" altLang="zh-CN" dirty="0"/>
              <a:t>Y</a:t>
            </a:r>
            <a:r>
              <a:rPr lang="zh-CN" altLang="en-US" dirty="0"/>
              <a:t>为获得的股权金额加 </a:t>
            </a:r>
            <a:r>
              <a:rPr lang="en-US" altLang="zh-CN" dirty="0"/>
              <a:t>1 </a:t>
            </a:r>
            <a:r>
              <a:rPr lang="zh-CN" altLang="en-US" dirty="0"/>
              <a:t>的对数</a:t>
            </a:r>
            <a:endParaRPr lang="en-US" altLang="zh-CN" dirty="0"/>
          </a:p>
          <a:p>
            <a:r>
              <a:rPr lang="en-US" altLang="zh-CN" dirty="0"/>
              <a:t>Y</a:t>
            </a:r>
            <a:r>
              <a:rPr lang="zh-CN" altLang="en-US" dirty="0"/>
              <a:t>为股权交易数量加 </a:t>
            </a:r>
            <a:r>
              <a:rPr lang="en-US" altLang="zh-CN" dirty="0"/>
              <a:t>1 </a:t>
            </a:r>
            <a:r>
              <a:rPr lang="zh-CN" altLang="en-US" dirty="0"/>
              <a:t>的对数</a:t>
            </a:r>
          </a:p>
        </p:txBody>
      </p:sp>
      <p:pic>
        <p:nvPicPr>
          <p:cNvPr id="5" name="图片 4">
            <a:extLst>
              <a:ext uri="{FF2B5EF4-FFF2-40B4-BE49-F238E27FC236}">
                <a16:creationId xmlns:a16="http://schemas.microsoft.com/office/drawing/2014/main" id="{EDB18505-15AF-772D-EC12-C647002D09C5}"/>
              </a:ext>
            </a:extLst>
          </p:cNvPr>
          <p:cNvPicPr>
            <a:picLocks noChangeAspect="1"/>
          </p:cNvPicPr>
          <p:nvPr/>
        </p:nvPicPr>
        <p:blipFill>
          <a:blip r:embed="rId2"/>
          <a:stretch>
            <a:fillRect/>
          </a:stretch>
        </p:blipFill>
        <p:spPr>
          <a:xfrm>
            <a:off x="7206853" y="0"/>
            <a:ext cx="4883567" cy="3170613"/>
          </a:xfrm>
          <a:prstGeom prst="rect">
            <a:avLst/>
          </a:prstGeom>
        </p:spPr>
      </p:pic>
      <p:pic>
        <p:nvPicPr>
          <p:cNvPr id="7" name="图片 6">
            <a:extLst>
              <a:ext uri="{FF2B5EF4-FFF2-40B4-BE49-F238E27FC236}">
                <a16:creationId xmlns:a16="http://schemas.microsoft.com/office/drawing/2014/main" id="{E5D82281-1CB8-A98A-7013-2ECC75699B86}"/>
              </a:ext>
            </a:extLst>
          </p:cNvPr>
          <p:cNvPicPr>
            <a:picLocks noChangeAspect="1"/>
          </p:cNvPicPr>
          <p:nvPr/>
        </p:nvPicPr>
        <p:blipFill>
          <a:blip r:embed="rId3"/>
          <a:stretch>
            <a:fillRect/>
          </a:stretch>
        </p:blipFill>
        <p:spPr>
          <a:xfrm>
            <a:off x="7264658" y="1926918"/>
            <a:ext cx="4927342" cy="2622327"/>
          </a:xfrm>
          <a:prstGeom prst="rect">
            <a:avLst/>
          </a:prstGeom>
        </p:spPr>
      </p:pic>
      <p:pic>
        <p:nvPicPr>
          <p:cNvPr id="9" name="图片 8">
            <a:extLst>
              <a:ext uri="{FF2B5EF4-FFF2-40B4-BE49-F238E27FC236}">
                <a16:creationId xmlns:a16="http://schemas.microsoft.com/office/drawing/2014/main" id="{7036873B-74D6-E709-7C8D-3AF86EEB98BD}"/>
              </a:ext>
            </a:extLst>
          </p:cNvPr>
          <p:cNvPicPr>
            <a:picLocks noChangeAspect="1"/>
          </p:cNvPicPr>
          <p:nvPr/>
        </p:nvPicPr>
        <p:blipFill>
          <a:blip r:embed="rId4"/>
          <a:stretch>
            <a:fillRect/>
          </a:stretch>
        </p:blipFill>
        <p:spPr>
          <a:xfrm>
            <a:off x="7206852" y="4235672"/>
            <a:ext cx="4883567" cy="2622328"/>
          </a:xfrm>
          <a:prstGeom prst="rect">
            <a:avLst/>
          </a:prstGeom>
        </p:spPr>
      </p:pic>
    </p:spTree>
    <p:extLst>
      <p:ext uri="{BB962C8B-B14F-4D97-AF65-F5344CB8AC3E}">
        <p14:creationId xmlns:p14="http://schemas.microsoft.com/office/powerpoint/2010/main" val="13559490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6A53F1-BD58-7638-7500-5640E7CAE30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5699193-4886-44E2-FF29-0D8CD89A51A2}"/>
              </a:ext>
            </a:extLst>
          </p:cNvPr>
          <p:cNvSpPr>
            <a:spLocks noGrp="1"/>
          </p:cNvSpPr>
          <p:nvPr>
            <p:ph idx="1"/>
          </p:nvPr>
        </p:nvSpPr>
        <p:spPr>
          <a:xfrm>
            <a:off x="838200" y="1825625"/>
            <a:ext cx="6189617" cy="4351338"/>
          </a:xfrm>
        </p:spPr>
        <p:txBody>
          <a:bodyPr/>
          <a:lstStyle/>
          <a:p>
            <a:r>
              <a:rPr lang="zh-CN" altLang="en-US" dirty="0"/>
              <a:t>考察补贴是否能促进企业在总资产、员工人数和收入方面的增长</a:t>
            </a:r>
            <a:endParaRPr lang="en-US" altLang="zh-CN" dirty="0"/>
          </a:p>
          <a:p>
            <a:pPr lvl="1"/>
            <a:r>
              <a:rPr lang="zh-CN" altLang="en-US" dirty="0"/>
              <a:t>以 </a:t>
            </a:r>
            <a:r>
              <a:rPr lang="en-US" altLang="zh-CN" dirty="0"/>
              <a:t>t+1 </a:t>
            </a:r>
            <a:r>
              <a:rPr lang="zh-CN" altLang="en-US" dirty="0"/>
              <a:t>期（即竞争后的次年）的对数化产出作为因变量</a:t>
            </a:r>
            <a:endParaRPr lang="en-US" altLang="zh-CN" dirty="0"/>
          </a:p>
          <a:p>
            <a:pPr lvl="1"/>
            <a:r>
              <a:rPr lang="zh-CN" altLang="en-US" dirty="0"/>
              <a:t>控制 </a:t>
            </a:r>
            <a:r>
              <a:rPr lang="en-US" altLang="zh-CN" dirty="0"/>
              <a:t>t-1 </a:t>
            </a:r>
            <a:r>
              <a:rPr lang="zh-CN" altLang="en-US" dirty="0"/>
              <a:t>期（即竞争前一年）的对数化产出</a:t>
            </a:r>
            <a:endParaRPr lang="en-US" altLang="zh-CN" dirty="0"/>
          </a:p>
          <a:p>
            <a:r>
              <a:rPr lang="zh-CN" altLang="en-US" dirty="0"/>
              <a:t>资产增长率提高了 </a:t>
            </a:r>
            <a:r>
              <a:rPr lang="en-US" altLang="zh-CN" dirty="0"/>
              <a:t>48%-56%</a:t>
            </a:r>
            <a:r>
              <a:rPr lang="zh-CN" altLang="en-US" dirty="0"/>
              <a:t>（面板 </a:t>
            </a:r>
            <a:r>
              <a:rPr lang="en-US" altLang="zh-CN" dirty="0"/>
              <a:t>A</a:t>
            </a:r>
            <a:r>
              <a:rPr lang="zh-CN" altLang="en-US" dirty="0"/>
              <a:t>），就业增长率提高了 </a:t>
            </a:r>
            <a:r>
              <a:rPr lang="en-US" altLang="zh-CN" dirty="0"/>
              <a:t>24%-33%</a:t>
            </a:r>
            <a:r>
              <a:rPr lang="zh-CN" altLang="en-US" dirty="0"/>
              <a:t>（面板 </a:t>
            </a:r>
            <a:r>
              <a:rPr lang="en-US" altLang="zh-CN" dirty="0"/>
              <a:t>B</a:t>
            </a:r>
            <a:r>
              <a:rPr lang="zh-CN" altLang="en-US" dirty="0"/>
              <a:t>），收入增幅约为 </a:t>
            </a:r>
            <a:r>
              <a:rPr lang="en-US" altLang="zh-CN" dirty="0"/>
              <a:t>28%-48%</a:t>
            </a:r>
            <a:r>
              <a:rPr lang="zh-CN" altLang="en-US" dirty="0"/>
              <a:t>（面板 </a:t>
            </a:r>
            <a:r>
              <a:rPr lang="en-US" altLang="zh-CN" dirty="0"/>
              <a:t>C</a:t>
            </a:r>
            <a:r>
              <a:rPr lang="zh-CN" altLang="en-US" dirty="0"/>
              <a:t>）。</a:t>
            </a:r>
          </a:p>
        </p:txBody>
      </p:sp>
      <p:pic>
        <p:nvPicPr>
          <p:cNvPr id="5" name="图片 4">
            <a:extLst>
              <a:ext uri="{FF2B5EF4-FFF2-40B4-BE49-F238E27FC236}">
                <a16:creationId xmlns:a16="http://schemas.microsoft.com/office/drawing/2014/main" id="{FEF6FF6B-0A85-B766-95DF-0B44869614A1}"/>
              </a:ext>
            </a:extLst>
          </p:cNvPr>
          <p:cNvPicPr>
            <a:picLocks noChangeAspect="1"/>
          </p:cNvPicPr>
          <p:nvPr/>
        </p:nvPicPr>
        <p:blipFill>
          <a:blip r:embed="rId2"/>
          <a:stretch>
            <a:fillRect/>
          </a:stretch>
        </p:blipFill>
        <p:spPr>
          <a:xfrm>
            <a:off x="7197997" y="0"/>
            <a:ext cx="4902200" cy="6858000"/>
          </a:xfrm>
          <a:prstGeom prst="rect">
            <a:avLst/>
          </a:prstGeom>
        </p:spPr>
      </p:pic>
    </p:spTree>
    <p:extLst>
      <p:ext uri="{BB962C8B-B14F-4D97-AF65-F5344CB8AC3E}">
        <p14:creationId xmlns:p14="http://schemas.microsoft.com/office/powerpoint/2010/main" val="1928320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5FCB8F-6BFC-5A26-87FA-6010BBE2CCF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92A71B4-2BA0-307E-B12B-322551DE2127}"/>
              </a:ext>
            </a:extLst>
          </p:cNvPr>
          <p:cNvSpPr>
            <a:spLocks noGrp="1"/>
          </p:cNvSpPr>
          <p:nvPr>
            <p:ph idx="1"/>
          </p:nvPr>
        </p:nvSpPr>
        <p:spPr>
          <a:xfrm>
            <a:off x="838200" y="2732936"/>
            <a:ext cx="5627914" cy="4351338"/>
          </a:xfrm>
        </p:spPr>
        <p:txBody>
          <a:bodyPr/>
          <a:lstStyle/>
          <a:p>
            <a:r>
              <a:rPr lang="zh-CN" altLang="en-US" dirty="0"/>
              <a:t>考察了补贴是否能降低企业在 </a:t>
            </a:r>
            <a:r>
              <a:rPr lang="en-US" altLang="zh-CN" dirty="0"/>
              <a:t>2019 </a:t>
            </a:r>
            <a:r>
              <a:rPr lang="zh-CN" altLang="en-US" dirty="0"/>
              <a:t>年前因破产、解散、清算或资不抵债而退出市场的概率</a:t>
            </a:r>
            <a:endParaRPr lang="en-US" altLang="zh-CN" dirty="0"/>
          </a:p>
          <a:p>
            <a:r>
              <a:rPr lang="zh-CN" altLang="en-US" dirty="0"/>
              <a:t>结果显示，补贴使企业失败的概率降低了约 </a:t>
            </a:r>
            <a:r>
              <a:rPr lang="en-US" altLang="zh-CN" dirty="0"/>
              <a:t>4-7 </a:t>
            </a:r>
            <a:r>
              <a:rPr lang="zh-CN" altLang="en-US" dirty="0"/>
              <a:t>个百分点</a:t>
            </a:r>
          </a:p>
        </p:txBody>
      </p:sp>
      <p:pic>
        <p:nvPicPr>
          <p:cNvPr id="5" name="图片 4">
            <a:extLst>
              <a:ext uri="{FF2B5EF4-FFF2-40B4-BE49-F238E27FC236}">
                <a16:creationId xmlns:a16="http://schemas.microsoft.com/office/drawing/2014/main" id="{A4989B44-B102-C725-DE26-53E2EA1081DD}"/>
              </a:ext>
            </a:extLst>
          </p:cNvPr>
          <p:cNvPicPr>
            <a:picLocks noChangeAspect="1"/>
          </p:cNvPicPr>
          <p:nvPr/>
        </p:nvPicPr>
        <p:blipFill>
          <a:blip r:embed="rId2"/>
          <a:stretch>
            <a:fillRect/>
          </a:stretch>
        </p:blipFill>
        <p:spPr>
          <a:xfrm>
            <a:off x="6466114" y="2110317"/>
            <a:ext cx="5563376" cy="3781953"/>
          </a:xfrm>
          <a:prstGeom prst="rect">
            <a:avLst/>
          </a:prstGeom>
        </p:spPr>
      </p:pic>
    </p:spTree>
    <p:extLst>
      <p:ext uri="{BB962C8B-B14F-4D97-AF65-F5344CB8AC3E}">
        <p14:creationId xmlns:p14="http://schemas.microsoft.com/office/powerpoint/2010/main" val="3456532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CF4D1-5F2F-8CED-ECF4-BE0728A7569E}"/>
              </a:ext>
            </a:extLst>
          </p:cNvPr>
          <p:cNvSpPr>
            <a:spLocks noGrp="1"/>
          </p:cNvSpPr>
          <p:nvPr>
            <p:ph type="title"/>
          </p:nvPr>
        </p:nvSpPr>
        <p:spPr/>
        <p:txBody>
          <a:bodyPr/>
          <a:lstStyle/>
          <a:p>
            <a:r>
              <a:rPr lang="zh-CN" altLang="en-US" dirty="0"/>
              <a:t>异质性分析</a:t>
            </a:r>
          </a:p>
        </p:txBody>
      </p:sp>
      <p:sp>
        <p:nvSpPr>
          <p:cNvPr id="3" name="内容占位符 2">
            <a:extLst>
              <a:ext uri="{FF2B5EF4-FFF2-40B4-BE49-F238E27FC236}">
                <a16:creationId xmlns:a16="http://schemas.microsoft.com/office/drawing/2014/main" id="{3EEFBC59-2C76-F60B-62F7-C2740CB583BC}"/>
              </a:ext>
            </a:extLst>
          </p:cNvPr>
          <p:cNvSpPr>
            <a:spLocks noGrp="1"/>
          </p:cNvSpPr>
          <p:nvPr>
            <p:ph idx="1"/>
          </p:nvPr>
        </p:nvSpPr>
        <p:spPr>
          <a:xfrm>
            <a:off x="838200" y="1825625"/>
            <a:ext cx="4752703" cy="4351338"/>
          </a:xfrm>
        </p:spPr>
        <p:txBody>
          <a:bodyPr>
            <a:normAutofit fontScale="92500" lnSpcReduction="10000"/>
          </a:bodyPr>
          <a:lstStyle/>
          <a:p>
            <a:r>
              <a:rPr lang="zh-CN" altLang="en-US" dirty="0"/>
              <a:t>金融约束对创新型企业的影响尤为严重</a:t>
            </a:r>
            <a:endParaRPr lang="en-US" altLang="zh-CN" dirty="0"/>
          </a:p>
          <a:p>
            <a:pPr lvl="1"/>
            <a:r>
              <a:rPr lang="zh-CN" altLang="en-US" dirty="0"/>
              <a:t>政府补贴目的</a:t>
            </a:r>
            <a:r>
              <a:rPr lang="en-US" altLang="zh-CN" dirty="0"/>
              <a:t>——</a:t>
            </a:r>
            <a:r>
              <a:rPr lang="zh-CN" altLang="en-US" dirty="0"/>
              <a:t>帮助资金受限的企业开展否则无法进行的创新项目</a:t>
            </a:r>
            <a:endParaRPr lang="en-US" altLang="zh-CN" dirty="0"/>
          </a:p>
          <a:p>
            <a:r>
              <a:rPr lang="zh-CN" altLang="en-US" dirty="0"/>
              <a:t>企业年龄和规模作为企业金融脆弱性的代理变量</a:t>
            </a:r>
            <a:endParaRPr lang="en-US" altLang="zh-CN" dirty="0"/>
          </a:p>
          <a:p>
            <a:r>
              <a:rPr lang="zh-CN" altLang="en-US" dirty="0"/>
              <a:t>较老或较大的企业获得的处理效应幅度系统性地小于较年轻或较小的企业。这表明研发补贴对更可能面临金融约束的企业产生了更强的影响。</a:t>
            </a:r>
          </a:p>
        </p:txBody>
      </p:sp>
      <p:pic>
        <p:nvPicPr>
          <p:cNvPr id="5" name="图片 4">
            <a:extLst>
              <a:ext uri="{FF2B5EF4-FFF2-40B4-BE49-F238E27FC236}">
                <a16:creationId xmlns:a16="http://schemas.microsoft.com/office/drawing/2014/main" id="{84996278-0792-656C-5711-FB122E68825C}"/>
              </a:ext>
            </a:extLst>
          </p:cNvPr>
          <p:cNvPicPr>
            <a:picLocks noChangeAspect="1"/>
          </p:cNvPicPr>
          <p:nvPr/>
        </p:nvPicPr>
        <p:blipFill>
          <a:blip r:embed="rId2"/>
          <a:stretch>
            <a:fillRect/>
          </a:stretch>
        </p:blipFill>
        <p:spPr>
          <a:xfrm>
            <a:off x="5475938" y="1027906"/>
            <a:ext cx="6716062" cy="5239481"/>
          </a:xfrm>
          <a:prstGeom prst="rect">
            <a:avLst/>
          </a:prstGeom>
        </p:spPr>
      </p:pic>
    </p:spTree>
    <p:extLst>
      <p:ext uri="{BB962C8B-B14F-4D97-AF65-F5344CB8AC3E}">
        <p14:creationId xmlns:p14="http://schemas.microsoft.com/office/powerpoint/2010/main" val="802948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C54C0A-0707-44EB-1F78-8A4046D1ACB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341EDC7-0739-F22C-CBFE-67061510F861}"/>
              </a:ext>
            </a:extLst>
          </p:cNvPr>
          <p:cNvSpPr>
            <a:spLocks noGrp="1"/>
          </p:cNvSpPr>
          <p:nvPr>
            <p:ph idx="1"/>
          </p:nvPr>
        </p:nvSpPr>
        <p:spPr>
          <a:xfrm>
            <a:off x="838200" y="1825625"/>
            <a:ext cx="4961709" cy="4351338"/>
          </a:xfrm>
        </p:spPr>
        <p:txBody>
          <a:bodyPr>
            <a:normAutofit fontScale="92500" lnSpcReduction="10000"/>
          </a:bodyPr>
          <a:lstStyle/>
          <a:p>
            <a:r>
              <a:rPr lang="zh-CN" altLang="en-US" dirty="0"/>
              <a:t>考察研发补贴的影响是否因受益企业所在国家的经济发展水平而异</a:t>
            </a:r>
            <a:r>
              <a:rPr lang="en-US" altLang="zh-CN" dirty="0"/>
              <a:t>——</a:t>
            </a:r>
            <a:r>
              <a:rPr lang="zh-CN" altLang="en-US" dirty="0"/>
              <a:t>采用人均 </a:t>
            </a:r>
            <a:r>
              <a:rPr lang="en-US" altLang="zh-CN" dirty="0"/>
              <a:t>GDP </a:t>
            </a:r>
            <a:r>
              <a:rPr lang="zh-CN" altLang="en-US" dirty="0"/>
              <a:t>作为指标，根据中位数将国家分为两组</a:t>
            </a:r>
            <a:endParaRPr lang="en-US" altLang="zh-CN" dirty="0"/>
          </a:p>
          <a:p>
            <a:r>
              <a:rPr lang="zh-CN" altLang="en-US" dirty="0"/>
              <a:t>随着经济发展水平的提高，研发补贴的效应总体上呈下降趋势</a:t>
            </a:r>
            <a:endParaRPr lang="en-US" altLang="zh-CN" dirty="0"/>
          </a:p>
          <a:p>
            <a:r>
              <a:rPr lang="zh-CN" altLang="en-US" dirty="0"/>
              <a:t>进一步分析，分析欧洲地区企业</a:t>
            </a:r>
          </a:p>
          <a:p>
            <a:r>
              <a:rPr lang="zh-CN" altLang="en-US" dirty="0"/>
              <a:t>效果相同，研发补贴对经济落后地区的企业总体上更有益。</a:t>
            </a:r>
          </a:p>
        </p:txBody>
      </p:sp>
      <p:pic>
        <p:nvPicPr>
          <p:cNvPr id="5" name="图片 4">
            <a:extLst>
              <a:ext uri="{FF2B5EF4-FFF2-40B4-BE49-F238E27FC236}">
                <a16:creationId xmlns:a16="http://schemas.microsoft.com/office/drawing/2014/main" id="{B802EB42-82B4-D441-F2EB-B8F52412E2A8}"/>
              </a:ext>
            </a:extLst>
          </p:cNvPr>
          <p:cNvPicPr>
            <a:picLocks noChangeAspect="1"/>
          </p:cNvPicPr>
          <p:nvPr/>
        </p:nvPicPr>
        <p:blipFill>
          <a:blip r:embed="rId2"/>
          <a:stretch>
            <a:fillRect/>
          </a:stretch>
        </p:blipFill>
        <p:spPr>
          <a:xfrm>
            <a:off x="5995526" y="1825625"/>
            <a:ext cx="5657337" cy="4751184"/>
          </a:xfrm>
          <a:prstGeom prst="rect">
            <a:avLst/>
          </a:prstGeom>
        </p:spPr>
      </p:pic>
    </p:spTree>
    <p:extLst>
      <p:ext uri="{BB962C8B-B14F-4D97-AF65-F5344CB8AC3E}">
        <p14:creationId xmlns:p14="http://schemas.microsoft.com/office/powerpoint/2010/main" val="3829094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75F843-E16F-0A22-E482-C13AD894E361}"/>
              </a:ext>
            </a:extLst>
          </p:cNvPr>
          <p:cNvSpPr>
            <a:spLocks noGrp="1"/>
          </p:cNvSpPr>
          <p:nvPr>
            <p:ph type="title"/>
          </p:nvPr>
        </p:nvSpPr>
        <p:spPr/>
        <p:txBody>
          <a:bodyPr/>
          <a:lstStyle/>
          <a:p>
            <a:r>
              <a:rPr lang="zh-CN" altLang="en-US" dirty="0"/>
              <a:t>机制检验</a:t>
            </a:r>
          </a:p>
        </p:txBody>
      </p:sp>
      <p:sp>
        <p:nvSpPr>
          <p:cNvPr id="3" name="内容占位符 2">
            <a:extLst>
              <a:ext uri="{FF2B5EF4-FFF2-40B4-BE49-F238E27FC236}">
                <a16:creationId xmlns:a16="http://schemas.microsoft.com/office/drawing/2014/main" id="{295AA3E7-C1F3-BDB0-7F11-2CFC1F3EC845}"/>
              </a:ext>
            </a:extLst>
          </p:cNvPr>
          <p:cNvSpPr>
            <a:spLocks noGrp="1"/>
          </p:cNvSpPr>
          <p:nvPr>
            <p:ph idx="1"/>
          </p:nvPr>
        </p:nvSpPr>
        <p:spPr>
          <a:xfrm>
            <a:off x="838200" y="1825625"/>
            <a:ext cx="10767052" cy="4351338"/>
          </a:xfrm>
        </p:spPr>
        <p:txBody>
          <a:bodyPr>
            <a:normAutofit fontScale="92500" lnSpcReduction="10000"/>
          </a:bodyPr>
          <a:lstStyle/>
          <a:p>
            <a:r>
              <a:rPr lang="zh-CN" altLang="en-US" dirty="0"/>
              <a:t>研发补贴怎么实现其积极影响</a:t>
            </a:r>
            <a:endParaRPr lang="en-US" altLang="zh-CN" dirty="0"/>
          </a:p>
          <a:p>
            <a:pPr lvl="1"/>
            <a:r>
              <a:rPr lang="zh-CN" altLang="en-US" dirty="0"/>
              <a:t>资金支持和认证效应</a:t>
            </a:r>
            <a:endParaRPr lang="en-US" altLang="zh-CN" dirty="0"/>
          </a:p>
          <a:p>
            <a:r>
              <a:rPr lang="zh-CN" altLang="en-US" dirty="0"/>
              <a:t>资金支持</a:t>
            </a:r>
            <a:endParaRPr lang="en-US" altLang="zh-CN" dirty="0"/>
          </a:p>
          <a:p>
            <a:pPr lvl="1"/>
            <a:r>
              <a:rPr lang="zh-CN" altLang="en-US" dirty="0"/>
              <a:t>补贴资金使企业能够成功开发技术</a:t>
            </a:r>
            <a:endParaRPr lang="en-US" altLang="zh-CN" dirty="0"/>
          </a:p>
          <a:p>
            <a:r>
              <a:rPr lang="zh-CN" altLang="en-US" dirty="0"/>
              <a:t>认证效应</a:t>
            </a:r>
            <a:endParaRPr lang="en-US" altLang="zh-CN" dirty="0"/>
          </a:p>
          <a:p>
            <a:pPr lvl="1"/>
            <a:r>
              <a:rPr lang="zh-CN" altLang="en-US" dirty="0"/>
              <a:t>补贴向市场传递了企业（或项目）质量的正向信号</a:t>
            </a:r>
            <a:endParaRPr lang="en-US" altLang="zh-CN" dirty="0"/>
          </a:p>
          <a:p>
            <a:r>
              <a:rPr lang="zh-CN" altLang="en-US" dirty="0"/>
              <a:t>如果纯认证效应存在，那么获得 “卓越印章” 认证的企业与既未获得补贴也未获得 “卓越印章” 认证的企业在处理后的产出上应存在统计显著差异</a:t>
            </a:r>
            <a:endParaRPr lang="en-US" altLang="zh-CN" dirty="0"/>
          </a:p>
          <a:p>
            <a:pPr lvl="1"/>
            <a:r>
              <a:rPr lang="zh-CN" altLang="en-US" dirty="0"/>
              <a:t>将最后一个获得 “卓越印章” 认证的企业和第一个未获得该认证的企业之间设置为新阈值</a:t>
            </a:r>
            <a:endParaRPr lang="en-US" altLang="zh-CN" dirty="0"/>
          </a:p>
          <a:p>
            <a:endParaRPr lang="zh-CN" altLang="en-US" dirty="0"/>
          </a:p>
        </p:txBody>
      </p:sp>
      <p:pic>
        <p:nvPicPr>
          <p:cNvPr id="5" name="图片 4">
            <a:extLst>
              <a:ext uri="{FF2B5EF4-FFF2-40B4-BE49-F238E27FC236}">
                <a16:creationId xmlns:a16="http://schemas.microsoft.com/office/drawing/2014/main" id="{5DFA01F0-2A7E-7C5F-767A-48F75D74341F}"/>
              </a:ext>
            </a:extLst>
          </p:cNvPr>
          <p:cNvPicPr>
            <a:picLocks noChangeAspect="1"/>
          </p:cNvPicPr>
          <p:nvPr/>
        </p:nvPicPr>
        <p:blipFill>
          <a:blip r:embed="rId2"/>
          <a:stretch>
            <a:fillRect/>
          </a:stretch>
        </p:blipFill>
        <p:spPr>
          <a:xfrm>
            <a:off x="6970129" y="49220"/>
            <a:ext cx="4635123" cy="3552810"/>
          </a:xfrm>
          <a:prstGeom prst="rect">
            <a:avLst/>
          </a:prstGeom>
        </p:spPr>
      </p:pic>
    </p:spTree>
    <p:extLst>
      <p:ext uri="{BB962C8B-B14F-4D97-AF65-F5344CB8AC3E}">
        <p14:creationId xmlns:p14="http://schemas.microsoft.com/office/powerpoint/2010/main" val="33708782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3E201-A244-AA22-6DE1-D79EE8BB249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B536F68-AF2F-2D32-545E-6A3E027A6424}"/>
              </a:ext>
            </a:extLst>
          </p:cNvPr>
          <p:cNvSpPr>
            <a:spLocks noGrp="1"/>
          </p:cNvSpPr>
          <p:nvPr>
            <p:ph idx="1"/>
          </p:nvPr>
        </p:nvSpPr>
        <p:spPr>
          <a:xfrm>
            <a:off x="838200" y="1825625"/>
            <a:ext cx="5787766" cy="4351338"/>
          </a:xfrm>
        </p:spPr>
        <p:txBody>
          <a:bodyPr/>
          <a:lstStyle/>
          <a:p>
            <a:r>
              <a:rPr lang="zh-CN" altLang="en-US" dirty="0"/>
              <a:t>接着，将样本限制为获奖企业和获得 “卓越印章” 认证的企业，重新估计上述方程</a:t>
            </a:r>
            <a:endParaRPr lang="en-US" altLang="zh-CN" dirty="0"/>
          </a:p>
          <a:p>
            <a:pPr lvl="1"/>
            <a:r>
              <a:rPr lang="zh-CN" altLang="en-US" dirty="0"/>
              <a:t>此时断点左边，卓越印章</a:t>
            </a:r>
            <a:endParaRPr lang="en-US" altLang="zh-CN" dirty="0"/>
          </a:p>
          <a:p>
            <a:pPr lvl="1"/>
            <a:r>
              <a:rPr lang="zh-CN" altLang="en-US" dirty="0"/>
              <a:t>右边，获得补贴企业</a:t>
            </a:r>
            <a:endParaRPr lang="en-US" altLang="zh-CN" dirty="0"/>
          </a:p>
          <a:p>
            <a:r>
              <a:rPr lang="zh-CN" altLang="en-US" dirty="0"/>
              <a:t>如果纯认证效应较强，那么获奖企业与获得 “卓越印章” 认证的企业之间的差异应小于基准估算结果。</a:t>
            </a:r>
            <a:endParaRPr lang="en-US" altLang="zh-CN" dirty="0"/>
          </a:p>
          <a:p>
            <a:r>
              <a:rPr lang="zh-CN" altLang="en-US" dirty="0"/>
              <a:t>表明纯认证效应弱于补贴效应</a:t>
            </a:r>
          </a:p>
        </p:txBody>
      </p:sp>
      <p:pic>
        <p:nvPicPr>
          <p:cNvPr id="5" name="图片 4">
            <a:extLst>
              <a:ext uri="{FF2B5EF4-FFF2-40B4-BE49-F238E27FC236}">
                <a16:creationId xmlns:a16="http://schemas.microsoft.com/office/drawing/2014/main" id="{664EB3E6-2654-D6FE-42B0-A764023D9012}"/>
              </a:ext>
            </a:extLst>
          </p:cNvPr>
          <p:cNvPicPr>
            <a:picLocks noChangeAspect="1"/>
          </p:cNvPicPr>
          <p:nvPr/>
        </p:nvPicPr>
        <p:blipFill>
          <a:blip r:embed="rId2"/>
          <a:stretch>
            <a:fillRect/>
          </a:stretch>
        </p:blipFill>
        <p:spPr>
          <a:xfrm>
            <a:off x="6861097" y="1825625"/>
            <a:ext cx="4727834" cy="4413642"/>
          </a:xfrm>
          <a:prstGeom prst="rect">
            <a:avLst/>
          </a:prstGeom>
        </p:spPr>
      </p:pic>
    </p:spTree>
    <p:extLst>
      <p:ext uri="{BB962C8B-B14F-4D97-AF65-F5344CB8AC3E}">
        <p14:creationId xmlns:p14="http://schemas.microsoft.com/office/powerpoint/2010/main" val="3887497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E2D348-CB52-C3B1-0338-1DAE495485F0}"/>
              </a:ext>
            </a:extLst>
          </p:cNvPr>
          <p:cNvSpPr>
            <a:spLocks noGrp="1"/>
          </p:cNvSpPr>
          <p:nvPr>
            <p:ph type="title"/>
          </p:nvPr>
        </p:nvSpPr>
        <p:spPr/>
        <p:txBody>
          <a:bodyPr/>
          <a:lstStyle/>
          <a:p>
            <a:r>
              <a:rPr lang="zh-CN" altLang="en-US" dirty="0"/>
              <a:t>回到</a:t>
            </a:r>
            <a:r>
              <a:rPr lang="en-US" altLang="zh-CN" dirty="0"/>
              <a:t>RD</a:t>
            </a:r>
            <a:r>
              <a:rPr lang="zh-CN" altLang="en-US" dirty="0"/>
              <a:t>的基本设计</a:t>
            </a:r>
          </a:p>
        </p:txBody>
      </p:sp>
      <p:sp>
        <p:nvSpPr>
          <p:cNvPr id="3" name="内容占位符 2">
            <a:extLst>
              <a:ext uri="{FF2B5EF4-FFF2-40B4-BE49-F238E27FC236}">
                <a16:creationId xmlns:a16="http://schemas.microsoft.com/office/drawing/2014/main" id="{745841B3-D489-B7AA-E374-E6DBC16187F8}"/>
              </a:ext>
            </a:extLst>
          </p:cNvPr>
          <p:cNvSpPr>
            <a:spLocks noGrp="1"/>
          </p:cNvSpPr>
          <p:nvPr>
            <p:ph idx="1"/>
          </p:nvPr>
        </p:nvSpPr>
        <p:spPr/>
        <p:txBody>
          <a:bodyPr/>
          <a:lstStyle/>
          <a:p>
            <a:r>
              <a:rPr lang="zh-CN" altLang="en-US" dirty="0"/>
              <a:t>既然高阶项有这些问题，那直接线性不行吗</a:t>
            </a:r>
            <a:endParaRPr lang="en-US" altLang="zh-CN" dirty="0"/>
          </a:p>
          <a:p>
            <a:r>
              <a:rPr lang="en-US" altLang="zh-CN" dirty="0"/>
              <a:t>of course not!</a:t>
            </a:r>
          </a:p>
          <a:p>
            <a:r>
              <a:rPr lang="zh-CN" altLang="en-US" dirty="0"/>
              <a:t>我们拟合出来的结果是由</a:t>
            </a:r>
            <a:endParaRPr lang="en-US" altLang="zh-CN" dirty="0"/>
          </a:p>
          <a:p>
            <a:r>
              <a:rPr lang="zh-CN" altLang="en-US" dirty="0"/>
              <a:t>于模型错误设定产生</a:t>
            </a:r>
            <a:endParaRPr lang="en-US" altLang="zh-CN" dirty="0"/>
          </a:p>
          <a:p>
            <a:r>
              <a:rPr lang="en-US" altLang="zh-CN" dirty="0"/>
              <a:t>Treat off</a:t>
            </a:r>
          </a:p>
          <a:p>
            <a:r>
              <a:rPr lang="zh-CN" altLang="en-US" dirty="0"/>
              <a:t>局部线性非参数回归</a:t>
            </a:r>
          </a:p>
        </p:txBody>
      </p:sp>
      <p:pic>
        <p:nvPicPr>
          <p:cNvPr id="5" name="图片 4">
            <a:extLst>
              <a:ext uri="{FF2B5EF4-FFF2-40B4-BE49-F238E27FC236}">
                <a16:creationId xmlns:a16="http://schemas.microsoft.com/office/drawing/2014/main" id="{330E798B-C9DB-7064-675E-CC9CC7AE4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1833" y="2470480"/>
            <a:ext cx="5540832" cy="3706483"/>
          </a:xfrm>
          <a:prstGeom prst="rect">
            <a:avLst/>
          </a:prstGeom>
        </p:spPr>
      </p:pic>
    </p:spTree>
    <p:extLst>
      <p:ext uri="{BB962C8B-B14F-4D97-AF65-F5344CB8AC3E}">
        <p14:creationId xmlns:p14="http://schemas.microsoft.com/office/powerpoint/2010/main" val="16369174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5414BE-015E-9BFB-AB82-205178BAD9EB}"/>
              </a:ext>
            </a:extLst>
          </p:cNvPr>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ED999F9-B092-BDB7-D2A6-6ECE8D10C665}"/>
                  </a:ext>
                </a:extLst>
              </p:cNvPr>
              <p:cNvSpPr>
                <a:spLocks noGrp="1"/>
              </p:cNvSpPr>
              <p:nvPr>
                <p:ph idx="1"/>
              </p:nvPr>
            </p:nvSpPr>
            <p:spPr/>
            <p:txBody>
              <a:bodyPr/>
              <a:lstStyle/>
              <a:p>
                <a:r>
                  <a:rPr lang="zh-CN" altLang="en-US" dirty="0"/>
                  <a:t>非参数回归的核心思想在于不预设</a:t>
                </a:r>
                <a:r>
                  <a:rPr lang="en-US" altLang="zh-CN" dirty="0"/>
                  <a:t>X</a:t>
                </a:r>
                <a:r>
                  <a:rPr lang="zh-CN" altLang="en-US" dirty="0"/>
                  <a:t>与</a:t>
                </a:r>
                <a:r>
                  <a:rPr lang="en-US" altLang="zh-CN" dirty="0"/>
                  <a:t>Y</a:t>
                </a:r>
                <a:r>
                  <a:rPr lang="zh-CN" altLang="en-US" dirty="0"/>
                  <a:t>的全局关系</a:t>
                </a:r>
                <a:endParaRPr lang="en-US" altLang="zh-CN" dirty="0"/>
              </a:p>
              <a:p>
                <a:r>
                  <a:rPr lang="zh-CN" altLang="en-US" dirty="0"/>
                  <a:t>模型可以写作</a:t>
                </a:r>
                <a:endParaRPr lang="en-US" altLang="zh-CN" dirty="0"/>
              </a:p>
              <a:p>
                <a14:m>
                  <m:oMath xmlns:m="http://schemas.openxmlformats.org/officeDocument/2006/math">
                    <m:d>
                      <m:dPr>
                        <m:ctrlPr>
                          <a:rPr lang="en-US" altLang="zh-CN" i="1" dirty="0" smtClean="0">
                            <a:latin typeface="Cambria Math" panose="02040503050406030204" pitchFamily="18" charset="0"/>
                          </a:rPr>
                        </m:ctrlPr>
                      </m:dPr>
                      <m:e>
                        <m:acc>
                          <m:accPr>
                            <m:chr m:val="̂"/>
                            <m:ctrlPr>
                              <a:rPr lang="en-US" altLang="zh-CN" i="1" dirty="0" smtClean="0">
                                <a:latin typeface="Cambria Math" panose="02040503050406030204" pitchFamily="18" charset="0"/>
                              </a:rPr>
                            </m:ctrlPr>
                          </m:accPr>
                          <m:e>
                            <m:r>
                              <a:rPr lang="en-US" altLang="zh-CN" b="0" i="1" dirty="0" smtClean="0">
                                <a:latin typeface="Cambria Math" panose="02040503050406030204" pitchFamily="18" charset="0"/>
                              </a:rPr>
                              <m:t>𝑎</m:t>
                            </m:r>
                          </m:e>
                        </m:acc>
                        <m:r>
                          <a:rPr lang="en-US" altLang="zh-CN" b="0" i="1" dirty="0" smtClean="0">
                            <a:latin typeface="Cambria Math" panose="02040503050406030204" pitchFamily="18" charset="0"/>
                          </a:rPr>
                          <m:t>,</m:t>
                        </m:r>
                        <m:acc>
                          <m:accPr>
                            <m:chr m:val="̂"/>
                            <m:ctrlPr>
                              <a:rPr lang="en-US" altLang="zh-CN" i="1" dirty="0">
                                <a:latin typeface="Cambria Math" panose="02040503050406030204" pitchFamily="18" charset="0"/>
                              </a:rPr>
                            </m:ctrlPr>
                          </m:accPr>
                          <m:e>
                            <m:r>
                              <a:rPr lang="en-US" altLang="zh-CN" b="0" i="1" dirty="0" smtClean="0">
                                <a:latin typeface="Cambria Math" panose="02040503050406030204" pitchFamily="18" charset="0"/>
                              </a:rPr>
                              <m:t>𝑏</m:t>
                            </m:r>
                          </m:e>
                        </m:acc>
                      </m:e>
                    </m:d>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sPre>
                          <m:sPrePr>
                            <m:ctrlPr>
                              <a:rPr lang="en-US" altLang="zh-CN" i="1" dirty="0">
                                <a:latin typeface="Cambria Math" panose="02040503050406030204" pitchFamily="18" charset="0"/>
                              </a:rPr>
                            </m:ctrlPr>
                          </m:sPrePr>
                          <m:sub>
                            <m:r>
                              <a:rPr lang="en-US" altLang="zh-CN" i="1" dirty="0">
                                <a:latin typeface="Cambria Math" panose="02040503050406030204" pitchFamily="18" charset="0"/>
                              </a:rPr>
                              <m:t>𝑎</m:t>
                            </m:r>
                            <m:r>
                              <a:rPr lang="en-US" altLang="zh-CN" i="1" dirty="0">
                                <a:latin typeface="Cambria Math" panose="02040503050406030204" pitchFamily="18" charset="0"/>
                              </a:rPr>
                              <m:t>,</m:t>
                            </m:r>
                            <m:r>
                              <a:rPr lang="en-US" altLang="zh-CN" i="1" dirty="0">
                                <a:latin typeface="Cambria Math" panose="02040503050406030204" pitchFamily="18" charset="0"/>
                              </a:rPr>
                              <m:t>𝑏</m:t>
                            </m:r>
                          </m:sub>
                          <m:sup/>
                          <m:e>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𝑛</m:t>
                                </m:r>
                              </m:sup>
                              <m:e>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𝑦</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a:latin typeface="Cambria Math" panose="02040503050406030204" pitchFamily="18" charset="0"/>
                                  </a:rPr>
                                  <m:t>𝑎</m:t>
                                </m:r>
                                <m:r>
                                  <a:rPr lang="en-US" altLang="zh-CN" i="1" dirty="0">
                                    <a:latin typeface="Cambria Math" panose="02040503050406030204" pitchFamily="18" charset="0"/>
                                  </a:rPr>
                                  <m:t>−</m:t>
                                </m:r>
                                <m:r>
                                  <a:rPr lang="en-US" altLang="zh-CN" i="1" dirty="0">
                                    <a:latin typeface="Cambria Math" panose="02040503050406030204" pitchFamily="18" charset="0"/>
                                  </a:rPr>
                                  <m:t>𝑏</m:t>
                                </m:r>
                                <m:r>
                                  <a:rPr lang="en-US" altLang="zh-CN" i="1" dirty="0">
                                    <a:latin typeface="Cambria Math" panose="02040503050406030204" pitchFamily="18" charset="0"/>
                                  </a:rPr>
                                  <m:t>(</m:t>
                                </m:r>
                              </m:e>
                            </m:nary>
                          </m:e>
                        </m:sPr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e>
                      <m:sup>
                        <m:r>
                          <a:rPr lang="en-US" altLang="zh-CN" b="0" i="1" dirty="0" smtClean="0">
                            <a:latin typeface="Cambria Math" panose="02040503050406030204" pitchFamily="18" charset="0"/>
                          </a:rPr>
                          <m:t>2</m:t>
                        </m:r>
                      </m:sup>
                    </m:sSup>
                    <m:r>
                      <a:rPr lang="en-US" altLang="zh-CN" b="0" i="1" dirty="0" smtClean="0">
                        <a:latin typeface="Cambria Math" panose="02040503050406030204" pitchFamily="18" charset="0"/>
                      </a:rPr>
                      <m:t>𝐾</m:t>
                    </m:r>
                    <m:d>
                      <m:dPr>
                        <m:ctrlPr>
                          <a:rPr lang="en-US" altLang="zh-CN" b="0" i="1" dirty="0" smtClean="0">
                            <a:latin typeface="Cambria Math" panose="02040503050406030204" pitchFamily="18" charset="0"/>
                          </a:rPr>
                        </m:ctrlPr>
                      </m:dPr>
                      <m:e>
                        <m:f>
                          <m:fPr>
                            <m:ctrlPr>
                              <a:rPr lang="en-US" altLang="zh-CN" b="0" i="1" dirty="0" smtClean="0">
                                <a:latin typeface="Cambria Math" panose="02040503050406030204" pitchFamily="18" charset="0"/>
                              </a:rPr>
                            </m:ctrlPr>
                          </m:fPr>
                          <m:num>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0</m:t>
                                </m:r>
                              </m:sub>
                            </m:sSub>
                          </m:num>
                          <m:den>
                            <m:r>
                              <a:rPr lang="en-US" altLang="zh-CN" b="0" i="1" dirty="0" smtClean="0">
                                <a:latin typeface="Cambria Math" panose="02040503050406030204" pitchFamily="18" charset="0"/>
                              </a:rPr>
                              <m:t>h</m:t>
                            </m:r>
                          </m:den>
                        </m:f>
                      </m:e>
                    </m:d>
                    <m:r>
                      <a:rPr lang="en-US" altLang="zh-CN" b="0" i="1" dirty="0" smtClean="0">
                        <a:latin typeface="Cambria Math" panose="02040503050406030204" pitchFamily="18" charset="0"/>
                      </a:rPr>
                      <m:t>1</m:t>
                    </m:r>
                    <m:d>
                      <m:dPr>
                        <m:ctrlPr>
                          <a:rPr lang="en-US" altLang="zh-CN" b="0" i="1" dirty="0" smtClean="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&gt;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0</m:t>
                            </m:r>
                          </m:sub>
                        </m:sSub>
                      </m:e>
                    </m:d>
                  </m:oMath>
                </a14:m>
                <a:endParaRPr lang="en-US" altLang="zh-CN" b="0" dirty="0"/>
              </a:p>
              <a:p>
                <a:r>
                  <a:rPr lang="zh-CN" altLang="en-US" dirty="0"/>
                  <a:t>注意</a:t>
                </a:r>
                <a14:m>
                  <m:oMath xmlns:m="http://schemas.openxmlformats.org/officeDocument/2006/math">
                    <m:d>
                      <m:dPr>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𝑥</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0</m:t>
                                </m:r>
                              </m:sub>
                            </m:sSub>
                          </m:num>
                          <m:den>
                            <m:r>
                              <a:rPr lang="en-US" altLang="zh-CN" i="1" dirty="0">
                                <a:latin typeface="Cambria Math" panose="02040503050406030204" pitchFamily="18" charset="0"/>
                              </a:rPr>
                              <m:t>h</m:t>
                            </m:r>
                          </m:den>
                        </m:f>
                      </m:e>
                    </m:d>
                    <m:r>
                      <a:rPr lang="zh-CN" altLang="en-US" i="1" dirty="0" smtClean="0">
                        <a:latin typeface="Cambria Math" panose="02040503050406030204" pitchFamily="18" charset="0"/>
                      </a:rPr>
                      <m:t>，</m:t>
                    </m:r>
                  </m:oMath>
                </a14:m>
                <a:r>
                  <a:rPr lang="zh-CN" altLang="en-US" dirty="0"/>
                  <a:t>这是一个三角核的模型，对于靠近中心观测值更重视（权重更大）</a:t>
                </a:r>
                <a:endParaRPr lang="en-US" altLang="zh-CN" dirty="0"/>
              </a:p>
              <a:p>
                <a:r>
                  <a:rPr lang="zh-CN" altLang="en-US" dirty="0"/>
                  <a:t>矩阵核对于带宽内权重一致</a:t>
                </a:r>
              </a:p>
            </p:txBody>
          </p:sp>
        </mc:Choice>
        <mc:Fallback xmlns="">
          <p:sp>
            <p:nvSpPr>
              <p:cNvPr id="3" name="内容占位符 2">
                <a:extLst>
                  <a:ext uri="{FF2B5EF4-FFF2-40B4-BE49-F238E27FC236}">
                    <a16:creationId xmlns:a16="http://schemas.microsoft.com/office/drawing/2014/main" id="{CED999F9-B092-BDB7-D2A6-6ECE8D10C665}"/>
                  </a:ext>
                </a:extLst>
              </p:cNvPr>
              <p:cNvSpPr>
                <a:spLocks noGrp="1" noRot="1" noChangeAspect="1" noMove="1" noResize="1" noEditPoints="1" noAdjustHandles="1" noChangeArrowheads="1" noChangeShapeType="1" noTextEdit="1"/>
              </p:cNvSpPr>
              <p:nvPr>
                <p:ph idx="1"/>
              </p:nvPr>
            </p:nvSpPr>
            <p:spPr>
              <a:blipFill>
                <a:blip r:embed="rId2"/>
                <a:stretch>
                  <a:fillRect l="-1043" t="-2381" r="-1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07558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2C6B2D-FD68-E614-1824-CAD9143178FD}"/>
              </a:ext>
            </a:extLst>
          </p:cNvPr>
          <p:cNvSpPr>
            <a:spLocks noGrp="1"/>
          </p:cNvSpPr>
          <p:nvPr>
            <p:ph type="title"/>
          </p:nvPr>
        </p:nvSpPr>
        <p:spPr/>
        <p:txBody>
          <a:bodyPr/>
          <a:lstStyle/>
          <a:p>
            <a:r>
              <a:rPr lang="en-US" altLang="zh-CN" dirty="0"/>
              <a:t>fuzzy RD design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7489900-F562-BC72-750B-925D1E3BC60E}"/>
                  </a:ext>
                </a:extLst>
              </p:cNvPr>
              <p:cNvSpPr>
                <a:spLocks noGrp="1"/>
              </p:cNvSpPr>
              <p:nvPr>
                <p:ph idx="1"/>
              </p:nvPr>
            </p:nvSpPr>
            <p:spPr/>
            <p:txBody>
              <a:bodyPr/>
              <a:lstStyle/>
              <a:p>
                <a:r>
                  <a:rPr lang="en-US" altLang="zh-CN" dirty="0"/>
                  <a:t>sharp RD</a:t>
                </a:r>
                <a:r>
                  <a:rPr lang="zh-CN" altLang="en-US" dirty="0"/>
                  <a:t>是跨越断点后，处理状态是给定的</a:t>
                </a:r>
                <a:endParaRPr lang="en-US" altLang="zh-CN" dirty="0"/>
              </a:p>
              <a:p>
                <a:r>
                  <a:rPr lang="zh-CN" altLang="en-US" dirty="0"/>
                  <a:t>而</a:t>
                </a:r>
                <a:r>
                  <a:rPr lang="en-US" altLang="zh-CN" dirty="0"/>
                  <a:t>fuzzy</a:t>
                </a:r>
                <a:r>
                  <a:rPr lang="zh-CN" altLang="en-US" dirty="0"/>
                  <a:t>的受处理概率是不连续的，其正式定义为</a:t>
                </a:r>
                <a:r>
                  <a:rPr lang="en-US" altLang="zh-CN" dirty="0"/>
                  <a:t>:</a:t>
                </a:r>
              </a:p>
              <a:p>
                <a14:m>
                  <m:oMath xmlns:m="http://schemas.openxmlformats.org/officeDocument/2006/math">
                    <m:func>
                      <m:funcPr>
                        <m:ctrlPr>
                          <a:rPr lang="pt-BR" altLang="zh-CN" i="1" smtClean="0">
                            <a:latin typeface="Cambria Math" panose="02040503050406030204" pitchFamily="18" charset="0"/>
                          </a:rPr>
                        </m:ctrlPr>
                      </m:funcPr>
                      <m:fName>
                        <m:limLow>
                          <m:limLowPr>
                            <m:ctrlPr>
                              <a:rPr lang="pt-BR" altLang="zh-CN" i="1" smtClean="0">
                                <a:latin typeface="Cambria Math" panose="02040503050406030204" pitchFamily="18" charset="0"/>
                              </a:rPr>
                            </m:ctrlPr>
                          </m:limLowPr>
                          <m:e>
                            <m:r>
                              <m:rPr>
                                <m:sty m:val="p"/>
                              </m:rPr>
                              <a:rPr lang="pt-BR" altLang="zh-CN" i="0" smtClean="0">
                                <a:latin typeface="Cambria Math" panose="02040503050406030204" pitchFamily="18" charset="0"/>
                              </a:rPr>
                              <m:t>lim</m:t>
                            </m:r>
                          </m:e>
                          <m:lim>
                            <m:sSub>
                              <m:sSubPr>
                                <m:ctrlPr>
                                  <a:rPr lang="pt-BR" altLang="zh-CN" i="1" smtClean="0">
                                    <a:latin typeface="Cambria Math" panose="02040503050406030204" pitchFamily="18" charset="0"/>
                                  </a:rPr>
                                </m:ctrlPr>
                              </m:sSubPr>
                              <m:e>
                                <m:r>
                                  <m:rPr>
                                    <m:sty m:val="p"/>
                                  </m:rPr>
                                  <a:rPr lang="en-US" altLang="zh-CN" i="1">
                                    <a:latin typeface="Cambria Math" panose="02040503050406030204" pitchFamily="18" charset="0"/>
                                  </a:rPr>
                                  <m:t>X</m:t>
                                </m:r>
                              </m:e>
                              <m:sub>
                                <m:r>
                                  <a:rPr lang="en-US" altLang="zh-CN" b="0" i="1" smtClean="0">
                                    <a:latin typeface="Cambria Math" panose="02040503050406030204" pitchFamily="18" charset="0"/>
                                  </a:rPr>
                                  <m:t>𝑖</m:t>
                                </m:r>
                              </m:sub>
                            </m:sSub>
                            <m:r>
                              <a:rPr lang="pt-BR" altLang="zh-CN" i="1" smtClean="0">
                                <a:latin typeface="Cambria Math" panose="02040503050406030204" pitchFamily="18" charset="0"/>
                              </a:rPr>
                              <m:t>→</m:t>
                            </m:r>
                            <m:sSub>
                              <m:sSubPr>
                                <m:ctrlPr>
                                  <a:rPr lang="pt-BR" altLang="zh-CN"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0</m:t>
                                </m:r>
                              </m:sub>
                            </m:sSub>
                          </m:lim>
                        </m:limLow>
                      </m:fName>
                      <m:e>
                        <m:r>
                          <a:rPr lang="en-US" altLang="zh-CN" b="0" i="1" smtClean="0">
                            <a:latin typeface="Cambria Math" panose="02040503050406030204" pitchFamily="18" charset="0"/>
                          </a:rPr>
                          <m:t>𝑃𝑟</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e>
                    </m:func>
                  </m:oMath>
                </a14:m>
                <a:r>
                  <a:rPr lang="pt-BR" altLang="zh-CN" dirty="0"/>
                  <a:t> </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0</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oMath>
                </a14:m>
                <a:r>
                  <a:rPr lang="pt-BR" altLang="zh-CN" dirty="0"/>
                  <a:t> </a:t>
                </a:r>
                <a14:m>
                  <m:oMath xmlns:m="http://schemas.openxmlformats.org/officeDocument/2006/math">
                    <m:func>
                      <m:funcPr>
                        <m:ctrlPr>
                          <a:rPr lang="pt-BR" altLang="zh-CN" i="1">
                            <a:latin typeface="Cambria Math" panose="02040503050406030204" pitchFamily="18" charset="0"/>
                          </a:rPr>
                        </m:ctrlPr>
                      </m:funcPr>
                      <m:fName>
                        <m:limLow>
                          <m:limLowPr>
                            <m:ctrlPr>
                              <a:rPr lang="pt-BR" altLang="zh-CN" i="1">
                                <a:latin typeface="Cambria Math" panose="02040503050406030204" pitchFamily="18" charset="0"/>
                              </a:rPr>
                            </m:ctrlPr>
                          </m:limLowPr>
                          <m:e>
                            <m:r>
                              <m:rPr>
                                <m:sty m:val="p"/>
                              </m:rPr>
                              <a:rPr lang="pt-BR" altLang="zh-CN">
                                <a:latin typeface="Cambria Math" panose="02040503050406030204" pitchFamily="18" charset="0"/>
                              </a:rPr>
                              <m:t>lim</m:t>
                            </m:r>
                          </m:e>
                          <m:lim>
                            <m:sSub>
                              <m:sSubPr>
                                <m:ctrlPr>
                                  <a:rPr lang="pt-BR" altLang="zh-CN" i="1">
                                    <a:latin typeface="Cambria Math" panose="02040503050406030204" pitchFamily="18" charset="0"/>
                                  </a:rPr>
                                </m:ctrlPr>
                              </m:sSubPr>
                              <m:e>
                                <m:r>
                                  <m:rPr>
                                    <m:sty m:val="p"/>
                                  </m:rPr>
                                  <a:rPr lang="en-US" altLang="zh-CN" i="1">
                                    <a:latin typeface="Cambria Math" panose="02040503050406030204" pitchFamily="18" charset="0"/>
                                  </a:rPr>
                                  <m:t>X</m:t>
                                </m:r>
                              </m:e>
                              <m:sub>
                                <m:r>
                                  <a:rPr lang="en-US" altLang="zh-CN" i="1">
                                    <a:latin typeface="Cambria Math" panose="02040503050406030204" pitchFamily="18" charset="0"/>
                                  </a:rPr>
                                  <m:t>𝑖</m:t>
                                </m:r>
                              </m:sub>
                            </m:sSub>
                            <m:r>
                              <a:rPr lang="pt-BR" altLang="zh-CN" i="1" smtClean="0">
                                <a:latin typeface="Cambria Math" panose="02040503050406030204" pitchFamily="18" charset="0"/>
                                <a:ea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0</m:t>
                                </m:r>
                              </m:sub>
                            </m:sSub>
                          </m:lim>
                        </m:limLow>
                      </m:fName>
                      <m:e>
                        <m:r>
                          <a:rPr lang="en-US" altLang="zh-CN" i="1">
                            <a:latin typeface="Cambria Math" panose="02040503050406030204" pitchFamily="18" charset="0"/>
                          </a:rPr>
                          <m:t>𝑃𝑟</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r>
                          <a:rPr lang="en-US" altLang="zh-CN" i="1">
                            <a:latin typeface="Cambria Math" panose="02040503050406030204" pitchFamily="18" charset="0"/>
                          </a:rPr>
                          <m:t>=</m:t>
                        </m:r>
                      </m:e>
                    </m:func>
                  </m:oMath>
                </a14:m>
                <a:r>
                  <a:rPr lang="pt-BR" altLang="zh-CN" dirty="0"/>
                  <a:t> </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0</m:t>
                        </m:r>
                      </m:sub>
                    </m:sSub>
                    <m:r>
                      <a:rPr lang="en-US" altLang="zh-CN" i="1">
                        <a:latin typeface="Cambria Math" panose="02040503050406030204" pitchFamily="18" charset="0"/>
                      </a:rPr>
                      <m:t>)</m:t>
                    </m:r>
                  </m:oMath>
                </a14:m>
                <a:endParaRPr lang="en-US" altLang="zh-CN" dirty="0"/>
              </a:p>
              <a:p>
                <a:r>
                  <a:rPr lang="zh-CN" altLang="en-US" dirty="0"/>
                  <a:t>识别假设仍然为连续性假设</a:t>
                </a:r>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17489900-F562-BC72-750B-925D1E3BC60E}"/>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74D29EAE-42F1-8988-C6A2-2DB09284C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1379" y="1162297"/>
            <a:ext cx="4338756" cy="3073879"/>
          </a:xfrm>
          <a:prstGeom prst="rect">
            <a:avLst/>
          </a:prstGeom>
        </p:spPr>
      </p:pic>
      <p:pic>
        <p:nvPicPr>
          <p:cNvPr id="6" name="图片 5">
            <a:extLst>
              <a:ext uri="{FF2B5EF4-FFF2-40B4-BE49-F238E27FC236}">
                <a16:creationId xmlns:a16="http://schemas.microsoft.com/office/drawing/2014/main" id="{09706BA0-B267-6345-26CE-D080C25FB2D4}"/>
              </a:ext>
            </a:extLst>
          </p:cNvPr>
          <p:cNvPicPr>
            <a:picLocks noChangeAspect="1"/>
          </p:cNvPicPr>
          <p:nvPr/>
        </p:nvPicPr>
        <p:blipFill>
          <a:blip r:embed="rId4"/>
          <a:stretch>
            <a:fillRect/>
          </a:stretch>
        </p:blipFill>
        <p:spPr>
          <a:xfrm>
            <a:off x="1148315" y="4469439"/>
            <a:ext cx="9193619" cy="1127818"/>
          </a:xfrm>
          <a:prstGeom prst="rect">
            <a:avLst/>
          </a:prstGeom>
        </p:spPr>
      </p:pic>
    </p:spTree>
    <p:extLst>
      <p:ext uri="{BB962C8B-B14F-4D97-AF65-F5344CB8AC3E}">
        <p14:creationId xmlns:p14="http://schemas.microsoft.com/office/powerpoint/2010/main" val="10447921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B099D7-D6E7-6E99-9A38-B2A277EF8C8C}"/>
              </a:ext>
            </a:extLst>
          </p:cNvPr>
          <p:cNvSpPr>
            <a:spLocks noGrp="1"/>
          </p:cNvSpPr>
          <p:nvPr>
            <p:ph type="title"/>
          </p:nvPr>
        </p:nvSpPr>
        <p:spPr/>
        <p:txBody>
          <a:bodyPr/>
          <a:lstStyle/>
          <a:p>
            <a:r>
              <a:rPr lang="zh-CN" altLang="en-US" dirty="0"/>
              <a:t>识别挑战</a:t>
            </a:r>
          </a:p>
        </p:txBody>
      </p:sp>
      <p:sp>
        <p:nvSpPr>
          <p:cNvPr id="3" name="内容占位符 2">
            <a:extLst>
              <a:ext uri="{FF2B5EF4-FFF2-40B4-BE49-F238E27FC236}">
                <a16:creationId xmlns:a16="http://schemas.microsoft.com/office/drawing/2014/main" id="{CE578DDF-A478-442A-9C7D-45C8443B7A40}"/>
              </a:ext>
            </a:extLst>
          </p:cNvPr>
          <p:cNvSpPr>
            <a:spLocks noGrp="1"/>
          </p:cNvSpPr>
          <p:nvPr>
            <p:ph idx="1"/>
          </p:nvPr>
        </p:nvSpPr>
        <p:spPr/>
        <p:txBody>
          <a:bodyPr/>
          <a:lstStyle/>
          <a:p>
            <a:r>
              <a:rPr lang="en-US" altLang="zh-CN" dirty="0"/>
              <a:t>1.</a:t>
            </a:r>
            <a:r>
              <a:rPr lang="zh-CN" altLang="en-US" dirty="0"/>
              <a:t>连续性假设的检验</a:t>
            </a:r>
            <a:endParaRPr lang="en-US" altLang="zh-CN" dirty="0"/>
          </a:p>
          <a:p>
            <a:pPr lvl="1"/>
            <a:r>
              <a:rPr lang="en-US" altLang="zh-CN" dirty="0"/>
              <a:t>McCrary, J. (2008).</a:t>
            </a:r>
            <a:r>
              <a:rPr lang="zh-CN" altLang="en-US" dirty="0"/>
              <a:t>麦克拉里密度检验</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试想现在两个病房，两个病人均面临着危重病情，一个病房接受着治疗，但是另一个没有得到治疗。 </a:t>
            </a:r>
            <a:endParaRPr lang="en-US" altLang="zh-CN" dirty="0"/>
          </a:p>
          <a:p>
            <a:pPr lvl="1"/>
            <a:r>
              <a:rPr lang="zh-CN" altLang="en-US" dirty="0"/>
              <a:t>你会怎么做？</a:t>
            </a:r>
            <a:endParaRPr lang="en-US" altLang="zh-CN" dirty="0"/>
          </a:p>
          <a:p>
            <a:pPr lvl="1"/>
            <a:endParaRPr lang="en-US" altLang="zh-CN" dirty="0"/>
          </a:p>
          <a:p>
            <a:pPr lvl="1"/>
            <a:endParaRPr lang="zh-CN" altLang="en-US" dirty="0"/>
          </a:p>
        </p:txBody>
      </p:sp>
      <p:pic>
        <p:nvPicPr>
          <p:cNvPr id="5" name="图片 4" descr="文本&#10;&#10;AI 生成的内容可能不正确。">
            <a:extLst>
              <a:ext uri="{FF2B5EF4-FFF2-40B4-BE49-F238E27FC236}">
                <a16:creationId xmlns:a16="http://schemas.microsoft.com/office/drawing/2014/main" id="{98AC86D5-3978-1A16-9497-A7DDF7CE92C5}"/>
              </a:ext>
            </a:extLst>
          </p:cNvPr>
          <p:cNvPicPr>
            <a:picLocks noChangeAspect="1"/>
          </p:cNvPicPr>
          <p:nvPr/>
        </p:nvPicPr>
        <p:blipFill>
          <a:blip r:embed="rId2"/>
          <a:stretch>
            <a:fillRect/>
          </a:stretch>
        </p:blipFill>
        <p:spPr>
          <a:xfrm>
            <a:off x="838200" y="2771584"/>
            <a:ext cx="10012392" cy="2077671"/>
          </a:xfrm>
          <a:prstGeom prst="rect">
            <a:avLst/>
          </a:prstGeom>
        </p:spPr>
      </p:pic>
    </p:spTree>
    <p:extLst>
      <p:ext uri="{BB962C8B-B14F-4D97-AF65-F5344CB8AC3E}">
        <p14:creationId xmlns:p14="http://schemas.microsoft.com/office/powerpoint/2010/main" val="42703128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4F3B7B-949C-C112-B7ED-A6953A8183E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B3E43EC-D555-B67E-5A13-F02AB8E13369}"/>
              </a:ext>
            </a:extLst>
          </p:cNvPr>
          <p:cNvSpPr>
            <a:spLocks noGrp="1"/>
          </p:cNvSpPr>
          <p:nvPr>
            <p:ph idx="1"/>
          </p:nvPr>
        </p:nvSpPr>
        <p:spPr/>
        <p:txBody>
          <a:bodyPr/>
          <a:lstStyle/>
          <a:p>
            <a:r>
              <a:rPr lang="zh-CN" altLang="en-US" dirty="0"/>
              <a:t>去那个能够得到治疗的房间</a:t>
            </a:r>
            <a:endParaRPr lang="en-US" altLang="zh-CN" dirty="0"/>
          </a:p>
          <a:p>
            <a:r>
              <a:rPr lang="zh-CN" altLang="en-US" dirty="0"/>
              <a:t>这样会导致什么？</a:t>
            </a:r>
            <a:endParaRPr lang="en-US" altLang="zh-CN" dirty="0"/>
          </a:p>
          <a:p>
            <a:pPr lvl="1"/>
            <a:r>
              <a:rPr lang="zh-CN" altLang="en-US" dirty="0"/>
              <a:t>能够得到治疗的房间人数很多</a:t>
            </a:r>
            <a:endParaRPr lang="en-US" altLang="zh-CN" dirty="0"/>
          </a:p>
          <a:p>
            <a:r>
              <a:rPr lang="zh-CN" altLang="en-US" dirty="0"/>
              <a:t>麦克拉里密度检验的核心</a:t>
            </a:r>
            <a:endParaRPr lang="en-US" altLang="zh-CN" dirty="0"/>
          </a:p>
          <a:p>
            <a:pPr lvl="1"/>
            <a:r>
              <a:rPr lang="zh-CN" altLang="en-US" dirty="0"/>
              <a:t>当断点附近出现了类似的景象时，就有一些暗示性证据表明了人们对驱动变量</a:t>
            </a:r>
            <a:r>
              <a:rPr lang="en-US" altLang="zh-CN" dirty="0"/>
              <a:t>X</a:t>
            </a:r>
            <a:r>
              <a:rPr lang="zh-CN" altLang="en-US" dirty="0"/>
              <a:t>进行分类</a:t>
            </a:r>
            <a:endParaRPr lang="en-US" altLang="zh-CN" dirty="0"/>
          </a:p>
          <a:p>
            <a:pPr lvl="1"/>
            <a:r>
              <a:rPr lang="zh-CN" altLang="en-US" dirty="0"/>
              <a:t>从而会导致潜在因果在断点处不连续</a:t>
            </a:r>
            <a:endParaRPr lang="en-US" altLang="zh-CN" dirty="0"/>
          </a:p>
          <a:p>
            <a:pPr lvl="1"/>
            <a:r>
              <a:rPr lang="zh-CN" altLang="en-US" dirty="0"/>
              <a:t>驱动变量</a:t>
            </a:r>
            <a:r>
              <a:rPr lang="en-US" altLang="zh-CN" dirty="0"/>
              <a:t>X</a:t>
            </a:r>
            <a:r>
              <a:rPr lang="zh-CN" altLang="en-US" dirty="0"/>
              <a:t>在断点处的密度分布应该连续</a:t>
            </a:r>
            <a:endParaRPr lang="en-US" altLang="zh-CN" dirty="0"/>
          </a:p>
          <a:p>
            <a:r>
              <a:rPr lang="zh-CN" altLang="en-US" dirty="0"/>
              <a:t>但是这个方法真的能解决所有问题吗？</a:t>
            </a:r>
            <a:endParaRPr lang="en-US" altLang="zh-CN" dirty="0"/>
          </a:p>
          <a:p>
            <a:endParaRPr lang="zh-CN" altLang="en-US" dirty="0"/>
          </a:p>
        </p:txBody>
      </p:sp>
    </p:spTree>
    <p:extLst>
      <p:ext uri="{BB962C8B-B14F-4D97-AF65-F5344CB8AC3E}">
        <p14:creationId xmlns:p14="http://schemas.microsoft.com/office/powerpoint/2010/main" val="42530794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704B7C-C75D-0B8C-87E4-49063DC65FC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CB6FAAF-9B26-97C5-FE07-0C78D3290C7B}"/>
              </a:ext>
            </a:extLst>
          </p:cNvPr>
          <p:cNvSpPr>
            <a:spLocks noGrp="1"/>
          </p:cNvSpPr>
          <p:nvPr>
            <p:ph idx="1"/>
          </p:nvPr>
        </p:nvSpPr>
        <p:spPr>
          <a:xfrm>
            <a:off x="838200" y="1825624"/>
            <a:ext cx="10515600" cy="4626933"/>
          </a:xfrm>
        </p:spPr>
        <p:txBody>
          <a:bodyPr>
            <a:normAutofit fontScale="92500" lnSpcReduction="10000"/>
          </a:bodyPr>
          <a:lstStyle/>
          <a:p>
            <a:r>
              <a:rPr lang="en-US" altLang="zh-CN" dirty="0"/>
              <a:t>2.</a:t>
            </a:r>
            <a:r>
              <a:rPr lang="zh-CN" altLang="en-US" dirty="0"/>
              <a:t>麦克拉里密度检验的特殊情况</a:t>
            </a:r>
            <a:endParaRPr lang="en-US" altLang="zh-CN" dirty="0"/>
          </a:p>
          <a:p>
            <a:r>
              <a:rPr lang="en-US" altLang="zh-CN" dirty="0"/>
              <a:t>Almond(2010). Estimating marginal returns to medical care: Evidence from at-risk newborns.</a:t>
            </a:r>
          </a:p>
          <a:p>
            <a:r>
              <a:rPr lang="zh-CN" altLang="en-US" dirty="0"/>
              <a:t>想要估计医疗支出的效用情况</a:t>
            </a:r>
            <a:endParaRPr lang="en-US" altLang="zh-CN" dirty="0"/>
          </a:p>
          <a:p>
            <a:r>
              <a:rPr lang="zh-CN" altLang="en-US" dirty="0"/>
              <a:t>看似很艰难</a:t>
            </a:r>
            <a:r>
              <a:rPr lang="en-US" altLang="zh-CN" dirty="0"/>
              <a:t>——</a:t>
            </a:r>
            <a:r>
              <a:rPr lang="zh-CN" altLang="en-US" dirty="0"/>
              <a:t>设计</a:t>
            </a:r>
            <a:endParaRPr lang="en-US" altLang="zh-CN" dirty="0"/>
          </a:p>
          <a:p>
            <a:pPr lvl="1"/>
            <a:r>
              <a:rPr lang="zh-CN" altLang="en-US" dirty="0"/>
              <a:t>在美国，出生体重较低的婴儿往往会得到高度的医疗关注。</a:t>
            </a:r>
            <a:endParaRPr lang="en-US" altLang="zh-CN" dirty="0"/>
          </a:p>
          <a:p>
            <a:pPr lvl="1"/>
            <a:r>
              <a:rPr lang="zh-CN" altLang="en-US" dirty="0"/>
              <a:t>因此，研究者将出生体重</a:t>
            </a:r>
            <a:r>
              <a:rPr lang="en-US" altLang="zh-CN" dirty="0"/>
              <a:t>1500</a:t>
            </a:r>
            <a:r>
              <a:rPr lang="zh-CN" altLang="en-US" dirty="0"/>
              <a:t>克作为阈值，死亡率作为结果变量设置准自然实验。</a:t>
            </a:r>
            <a:endParaRPr lang="en-US" altLang="zh-CN" dirty="0"/>
          </a:p>
          <a:p>
            <a:pPr lvl="1"/>
            <a:r>
              <a:rPr lang="zh-CN" altLang="en-US" dirty="0"/>
              <a:t>如果，极限状态下，出生体重低于</a:t>
            </a:r>
            <a:r>
              <a:rPr lang="en-US" altLang="zh-CN" dirty="0"/>
              <a:t>1500</a:t>
            </a:r>
            <a:r>
              <a:rPr lang="zh-CN" altLang="en-US" dirty="0"/>
              <a:t>克的婴儿死亡率低于高于</a:t>
            </a:r>
            <a:r>
              <a:rPr lang="en-US" altLang="zh-CN" dirty="0"/>
              <a:t>1500</a:t>
            </a:r>
            <a:r>
              <a:rPr lang="zh-CN" altLang="en-US" dirty="0"/>
              <a:t>克</a:t>
            </a:r>
            <a:endParaRPr lang="en-US" altLang="zh-CN" dirty="0"/>
          </a:p>
          <a:p>
            <a:r>
              <a:rPr lang="zh-CN" altLang="en-US" dirty="0"/>
              <a:t>事实证明确实如此，作者发现当出生体重从临界值上方跨越至 </a:t>
            </a:r>
            <a:r>
              <a:rPr lang="en-US" altLang="zh-CN" dirty="0"/>
              <a:t>1500 </a:t>
            </a:r>
            <a:r>
              <a:rPr lang="zh-CN" altLang="en-US" dirty="0"/>
              <a:t>克时，死亡率下降约 </a:t>
            </a:r>
            <a:r>
              <a:rPr lang="en-US" altLang="zh-CN" dirty="0"/>
              <a:t>1 </a:t>
            </a:r>
            <a:r>
              <a:rPr lang="zh-CN" altLang="en-US" dirty="0"/>
              <a:t>个百分点，相较于 </a:t>
            </a:r>
            <a:r>
              <a:rPr lang="en-US" altLang="zh-CN" dirty="0"/>
              <a:t>5.5% </a:t>
            </a:r>
            <a:r>
              <a:rPr lang="zh-CN" altLang="en-US" dirty="0"/>
              <a:t>的平均婴儿死亡率，该降幅十分显著。</a:t>
            </a:r>
            <a:endParaRPr lang="en-US" altLang="zh-CN" dirty="0"/>
          </a:p>
          <a:p>
            <a:endParaRPr lang="zh-CN" altLang="en-US" dirty="0"/>
          </a:p>
        </p:txBody>
      </p:sp>
    </p:spTree>
    <p:extLst>
      <p:ext uri="{BB962C8B-B14F-4D97-AF65-F5344CB8AC3E}">
        <p14:creationId xmlns:p14="http://schemas.microsoft.com/office/powerpoint/2010/main" val="23766785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C2776B-3C0A-8483-FD7D-738D14A9E4C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F6C279E-3D82-C8D0-1636-6F422EC4FC33}"/>
              </a:ext>
            </a:extLst>
          </p:cNvPr>
          <p:cNvSpPr>
            <a:spLocks noGrp="1"/>
          </p:cNvSpPr>
          <p:nvPr>
            <p:ph idx="1"/>
          </p:nvPr>
        </p:nvSpPr>
        <p:spPr/>
        <p:txBody>
          <a:bodyPr/>
          <a:lstStyle/>
          <a:p>
            <a:r>
              <a:rPr lang="zh-CN" altLang="en-US" dirty="0"/>
              <a:t>如图展示的是驱动变量，即新生儿体重的分布情况</a:t>
            </a:r>
          </a:p>
        </p:txBody>
      </p:sp>
      <p:pic>
        <p:nvPicPr>
          <p:cNvPr id="5" name="图片 4">
            <a:extLst>
              <a:ext uri="{FF2B5EF4-FFF2-40B4-BE49-F238E27FC236}">
                <a16:creationId xmlns:a16="http://schemas.microsoft.com/office/drawing/2014/main" id="{AD17F5EA-ADED-734C-57FF-CFA256979447}"/>
              </a:ext>
            </a:extLst>
          </p:cNvPr>
          <p:cNvPicPr>
            <a:picLocks noChangeAspect="1"/>
          </p:cNvPicPr>
          <p:nvPr/>
        </p:nvPicPr>
        <p:blipFill>
          <a:blip r:embed="rId2"/>
          <a:stretch>
            <a:fillRect/>
          </a:stretch>
        </p:blipFill>
        <p:spPr>
          <a:xfrm>
            <a:off x="2045858" y="2366633"/>
            <a:ext cx="7559695" cy="3810330"/>
          </a:xfrm>
          <a:prstGeom prst="rect">
            <a:avLst/>
          </a:prstGeom>
        </p:spPr>
      </p:pic>
    </p:spTree>
    <p:extLst>
      <p:ext uri="{BB962C8B-B14F-4D97-AF65-F5344CB8AC3E}">
        <p14:creationId xmlns:p14="http://schemas.microsoft.com/office/powerpoint/2010/main" val="1254018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42693-AA3F-317A-EBE8-10C049E9D2C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B38A816-E83B-C867-356D-4C96A39D1953}"/>
              </a:ext>
            </a:extLst>
          </p:cNvPr>
          <p:cNvSpPr>
            <a:spLocks noGrp="1"/>
          </p:cNvSpPr>
          <p:nvPr>
            <p:ph idx="1"/>
          </p:nvPr>
        </p:nvSpPr>
        <p:spPr/>
        <p:txBody>
          <a:bodyPr/>
          <a:lstStyle/>
          <a:p>
            <a:r>
              <a:rPr lang="en-US" altLang="zh-CN" dirty="0"/>
              <a:t>Almond</a:t>
            </a:r>
            <a:r>
              <a:rPr lang="zh-CN" altLang="en-US" dirty="0"/>
              <a:t>怎么做的呢</a:t>
            </a:r>
            <a:endParaRPr lang="en-US" altLang="zh-CN" dirty="0"/>
          </a:p>
          <a:p>
            <a:pPr lvl="1"/>
            <a:r>
              <a:rPr lang="en-US" altLang="zh-CN" dirty="0"/>
              <a:t>1.</a:t>
            </a:r>
            <a:r>
              <a:rPr lang="zh-CN" altLang="en-US" dirty="0"/>
              <a:t>将全国性数据按克数汇总新生儿数量并作为</a:t>
            </a:r>
            <a:r>
              <a:rPr lang="en-US" altLang="zh-CN" dirty="0"/>
              <a:t>Y</a:t>
            </a:r>
            <a:r>
              <a:rPr lang="zh-CN" altLang="en-US" dirty="0"/>
              <a:t>，用</a:t>
            </a:r>
            <a:r>
              <a:rPr lang="en-US" altLang="zh-CN" dirty="0"/>
              <a:t>RD</a:t>
            </a:r>
            <a:r>
              <a:rPr lang="zh-CN" altLang="en-US" dirty="0"/>
              <a:t>进行估计，结果未发现</a:t>
            </a:r>
            <a:r>
              <a:rPr lang="en-US" altLang="zh-CN" dirty="0"/>
              <a:t>1500</a:t>
            </a:r>
            <a:r>
              <a:rPr lang="zh-CN" altLang="en-US" dirty="0"/>
              <a:t>克阈值附近存在操纵</a:t>
            </a:r>
            <a:endParaRPr lang="en-US" altLang="zh-CN" dirty="0"/>
          </a:p>
          <a:p>
            <a:pPr lvl="1"/>
            <a:r>
              <a:rPr lang="en-US" altLang="zh-CN" dirty="0"/>
              <a:t>2.1400 </a:t>
            </a:r>
            <a:r>
              <a:rPr lang="zh-CN" altLang="en-US" dirty="0"/>
              <a:t>克和 </a:t>
            </a:r>
            <a:r>
              <a:rPr lang="en-US" altLang="zh-CN" dirty="0"/>
              <a:t>1600 </a:t>
            </a:r>
            <a:r>
              <a:rPr lang="zh-CN" altLang="en-US" dirty="0"/>
              <a:t>克阈值附近也存在类似堆积，因此 </a:t>
            </a:r>
            <a:r>
              <a:rPr lang="en-US" altLang="zh-CN" dirty="0"/>
              <a:t>1500 </a:t>
            </a:r>
            <a:r>
              <a:rPr lang="zh-CN" altLang="en-US" dirty="0"/>
              <a:t>克阈值处的堆积是 “正常” 的，不存在异常操纵。</a:t>
            </a:r>
            <a:endParaRPr lang="en-US" altLang="zh-CN" dirty="0"/>
          </a:p>
          <a:p>
            <a:r>
              <a:rPr lang="zh-CN" altLang="en-US" dirty="0"/>
              <a:t>直到</a:t>
            </a:r>
            <a:r>
              <a:rPr lang="en-US" altLang="zh-CN" dirty="0"/>
              <a:t>2016</a:t>
            </a:r>
            <a:r>
              <a:rPr lang="zh-CN" altLang="en-US" dirty="0"/>
              <a:t>年</a:t>
            </a:r>
            <a:r>
              <a:rPr lang="en-US" altLang="zh-CN" dirty="0"/>
              <a:t>Barreca</a:t>
            </a:r>
          </a:p>
          <a:p>
            <a:pPr lvl="1"/>
            <a:r>
              <a:rPr lang="zh-CN" altLang="en-US" dirty="0"/>
              <a:t>但该逻辑的缺陷在于，</a:t>
            </a:r>
            <a:r>
              <a:rPr lang="zh-CN" altLang="en-US" b="1" dirty="0"/>
              <a:t>所有堆积点的样本构成都可能是系统性异常值</a:t>
            </a:r>
            <a:r>
              <a:rPr lang="zh-CN" altLang="en-US" dirty="0"/>
              <a:t>。</a:t>
            </a:r>
            <a:endParaRPr lang="en-US" altLang="zh-CN" dirty="0"/>
          </a:p>
          <a:p>
            <a:pPr lvl="1"/>
            <a:r>
              <a:rPr lang="zh-CN" altLang="en-US" dirty="0"/>
              <a:t>他所提出解决方法，也就是我们现在熟知的</a:t>
            </a:r>
            <a:r>
              <a:rPr lang="en-US" altLang="zh-CN" dirty="0"/>
              <a:t>(donut hole)</a:t>
            </a:r>
            <a:r>
              <a:rPr lang="zh-CN" altLang="en-US" dirty="0"/>
              <a:t>甜甜圈</a:t>
            </a:r>
            <a:r>
              <a:rPr lang="en-US" altLang="zh-CN" dirty="0"/>
              <a:t>RD</a:t>
            </a:r>
          </a:p>
          <a:p>
            <a:pPr lvl="2"/>
            <a:r>
              <a:rPr lang="zh-CN" altLang="en-US" dirty="0"/>
              <a:t>将堆积点剔除出样本</a:t>
            </a:r>
            <a:endParaRPr lang="en-US" altLang="zh-CN" dirty="0"/>
          </a:p>
          <a:p>
            <a:pPr lvl="1"/>
            <a:r>
              <a:rPr lang="zh-CN" altLang="en-US" dirty="0"/>
              <a:t>样本量只减少</a:t>
            </a:r>
            <a:r>
              <a:rPr lang="en-US" altLang="zh-CN" dirty="0"/>
              <a:t>2%</a:t>
            </a:r>
            <a:r>
              <a:rPr lang="zh-CN" altLang="en-US" dirty="0"/>
              <a:t>，但是死亡率低</a:t>
            </a:r>
            <a:r>
              <a:rPr lang="en-US" altLang="zh-CN" dirty="0"/>
              <a:t>50%</a:t>
            </a:r>
            <a:endParaRPr lang="zh-CN" altLang="en-US" dirty="0"/>
          </a:p>
        </p:txBody>
      </p:sp>
    </p:spTree>
    <p:extLst>
      <p:ext uri="{BB962C8B-B14F-4D97-AF65-F5344CB8AC3E}">
        <p14:creationId xmlns:p14="http://schemas.microsoft.com/office/powerpoint/2010/main" val="4226310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7C7299-DF60-131B-62E6-60AD8B5F4983}"/>
              </a:ext>
            </a:extLst>
          </p:cNvPr>
          <p:cNvSpPr>
            <a:spLocks noGrp="1"/>
          </p:cNvSpPr>
          <p:nvPr>
            <p:ph type="title"/>
          </p:nvPr>
        </p:nvSpPr>
        <p:spPr/>
        <p:txBody>
          <a:bodyPr/>
          <a:lstStyle/>
          <a:p>
            <a:r>
              <a:rPr lang="zh-CN" altLang="en-US" dirty="0"/>
              <a:t>实践</a:t>
            </a:r>
          </a:p>
        </p:txBody>
      </p:sp>
      <p:sp>
        <p:nvSpPr>
          <p:cNvPr id="3" name="内容占位符 2">
            <a:extLst>
              <a:ext uri="{FF2B5EF4-FFF2-40B4-BE49-F238E27FC236}">
                <a16:creationId xmlns:a16="http://schemas.microsoft.com/office/drawing/2014/main" id="{D2A4033E-68F3-E761-D8D8-6F3D05C403B6}"/>
              </a:ext>
            </a:extLst>
          </p:cNvPr>
          <p:cNvSpPr>
            <a:spLocks noGrp="1"/>
          </p:cNvSpPr>
          <p:nvPr>
            <p:ph idx="1"/>
          </p:nvPr>
        </p:nvSpPr>
        <p:spPr/>
        <p:txBody>
          <a:bodyPr>
            <a:normAutofit fontScale="92500"/>
          </a:bodyPr>
          <a:lstStyle/>
          <a:p>
            <a:r>
              <a:rPr lang="zh-CN" altLang="en-US" dirty="0"/>
              <a:t>势均力敌的选举</a:t>
            </a:r>
            <a:r>
              <a:rPr lang="en-US" altLang="zh-CN" dirty="0"/>
              <a:t>Lee.(2004)</a:t>
            </a:r>
          </a:p>
          <a:p>
            <a:r>
              <a:rPr lang="zh-CN" altLang="en-US" dirty="0"/>
              <a:t>模型说了这样一件事：通过总效应减去 “政党效应 </a:t>
            </a:r>
            <a:r>
              <a:rPr lang="en-US" altLang="zh-CN" dirty="0"/>
              <a:t>× </a:t>
            </a:r>
            <a:r>
              <a:rPr lang="zh-CN" altLang="en-US" dirty="0"/>
              <a:t>现任优势”（等于 “选举效应”，反映选民通过改变胜选政党来选择政策的作用），得到</a:t>
            </a:r>
            <a:r>
              <a:rPr lang="zh-CN" altLang="en-US" dirty="0">
                <a:highlight>
                  <a:srgbClr val="FFFF00"/>
                </a:highlight>
              </a:rPr>
              <a:t>选举优势变动对政客自身政策立场的直接影响</a:t>
            </a:r>
            <a:r>
              <a:rPr lang="zh-CN" altLang="en-US" dirty="0"/>
              <a:t>。</a:t>
            </a:r>
            <a:endParaRPr lang="en-US" altLang="zh-CN" dirty="0"/>
          </a:p>
          <a:p>
            <a:pPr lvl="1"/>
            <a:r>
              <a:rPr lang="zh-CN" altLang="en-US" dirty="0"/>
              <a:t>总效应：选举优势外生变动对后续政策立场的影响</a:t>
            </a:r>
            <a:endParaRPr lang="en-US" altLang="zh-CN" dirty="0"/>
          </a:p>
          <a:p>
            <a:pPr lvl="1"/>
            <a:r>
              <a:rPr lang="zh-CN" altLang="en-US" dirty="0"/>
              <a:t>政党效应：两党议员固有的意识形态和政策立场差距</a:t>
            </a:r>
            <a:endParaRPr lang="en-US" altLang="zh-CN" dirty="0"/>
          </a:p>
          <a:p>
            <a:pPr lvl="1"/>
            <a:r>
              <a:rPr lang="zh-CN" altLang="en-US" dirty="0"/>
              <a:t>现任优势：</a:t>
            </a:r>
            <a:r>
              <a:rPr lang="en-US" altLang="zh-CN" dirty="0"/>
              <a:t>t </a:t>
            </a:r>
            <a:r>
              <a:rPr lang="zh-CN" altLang="en-US" dirty="0"/>
              <a:t>期成为现任党（微弱胜选）对 </a:t>
            </a:r>
            <a:r>
              <a:rPr lang="en-US" altLang="zh-CN" dirty="0"/>
              <a:t>t+1 </a:t>
            </a:r>
            <a:r>
              <a:rPr lang="zh-CN" altLang="en-US" dirty="0"/>
              <a:t>期该党胜选概率的因果提升幅度</a:t>
            </a:r>
            <a:endParaRPr lang="en-US" altLang="zh-CN" dirty="0"/>
          </a:p>
          <a:p>
            <a:r>
              <a:rPr lang="zh-CN" altLang="en-US" dirty="0"/>
              <a:t>其实就是看选民能否通过选举改变立场；若影响效应趋近于</a:t>
            </a:r>
            <a:r>
              <a:rPr lang="en-US" altLang="zh-CN" dirty="0"/>
              <a:t>0</a:t>
            </a:r>
            <a:r>
              <a:rPr lang="zh-CN" altLang="en-US" dirty="0"/>
              <a:t>说明同一政党的政客不管选举优势强弱，都坚守固有立场，选举的作用只是 “换政党” 而非 “改立场”，支持 “选民仅选举政策” 的假说。</a:t>
            </a:r>
            <a:endParaRPr lang="en-US" altLang="zh-CN" dirty="0"/>
          </a:p>
        </p:txBody>
      </p:sp>
    </p:spTree>
    <p:extLst>
      <p:ext uri="{BB962C8B-B14F-4D97-AF65-F5344CB8AC3E}">
        <p14:creationId xmlns:p14="http://schemas.microsoft.com/office/powerpoint/2010/main" val="13105850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31791E-38E2-0FDF-E695-13E2F22D133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98C6FB8-6AC3-E548-ED2A-F90C7B8C71B5}"/>
              </a:ext>
            </a:extLst>
          </p:cNvPr>
          <p:cNvSpPr>
            <a:spLocks noGrp="1"/>
          </p:cNvSpPr>
          <p:nvPr>
            <p:ph idx="1"/>
          </p:nvPr>
        </p:nvSpPr>
        <p:spPr/>
        <p:txBody>
          <a:bodyPr>
            <a:normAutofit lnSpcReduction="10000"/>
          </a:bodyPr>
          <a:lstStyle/>
          <a:p>
            <a:r>
              <a:rPr lang="zh-CN" altLang="en-US" dirty="0"/>
              <a:t>怎么用</a:t>
            </a:r>
            <a:r>
              <a:rPr lang="en-US" altLang="zh-CN" dirty="0"/>
              <a:t>RD</a:t>
            </a:r>
          </a:p>
          <a:p>
            <a:pPr lvl="1"/>
            <a:r>
              <a:rPr lang="zh-CN" altLang="en-US" dirty="0"/>
              <a:t>驱动变量</a:t>
            </a:r>
            <a:r>
              <a:rPr lang="en-US" altLang="zh-CN" dirty="0"/>
              <a:t>——</a:t>
            </a:r>
            <a:r>
              <a:rPr lang="zh-CN" altLang="en-US" dirty="0"/>
              <a:t>得票率（势均力敌，断点的带宽）</a:t>
            </a:r>
          </a:p>
          <a:p>
            <a:pPr lvl="1"/>
            <a:r>
              <a:rPr lang="zh-CN" altLang="en-US" dirty="0"/>
              <a:t>阈值</a:t>
            </a:r>
            <a:r>
              <a:rPr lang="en-US" altLang="zh-CN" dirty="0"/>
              <a:t>50%-&gt;</a:t>
            </a:r>
            <a:r>
              <a:rPr lang="zh-CN" altLang="en-US" dirty="0"/>
              <a:t>是否当选</a:t>
            </a:r>
            <a:r>
              <a:rPr lang="en-US" altLang="zh-CN" dirty="0"/>
              <a:t>D</a:t>
            </a:r>
          </a:p>
          <a:p>
            <a:pPr lvl="1"/>
            <a:r>
              <a:rPr lang="zh-CN" altLang="en-US" dirty="0"/>
              <a:t>结果变量，</a:t>
            </a:r>
            <a:r>
              <a:rPr lang="en-US" altLang="zh-CN" dirty="0"/>
              <a:t>ADA</a:t>
            </a:r>
            <a:r>
              <a:rPr lang="zh-CN" altLang="en-US" dirty="0"/>
              <a:t>（政策评估得分）</a:t>
            </a:r>
          </a:p>
          <a:p>
            <a:pPr lvl="1"/>
            <a:r>
              <a:rPr lang="zh-CN" altLang="en-US" dirty="0"/>
              <a:t>我们看的当选概率为民主党，该党派政策</a:t>
            </a:r>
            <a:r>
              <a:rPr lang="en-US" altLang="zh-CN" dirty="0"/>
              <a:t>ADA</a:t>
            </a:r>
            <a:r>
              <a:rPr lang="zh-CN" altLang="en-US" dirty="0"/>
              <a:t>得分较高，该值变低，说明政策立场有改变</a:t>
            </a:r>
            <a:endParaRPr lang="en-US" altLang="zh-CN" dirty="0"/>
          </a:p>
          <a:p>
            <a:r>
              <a:rPr lang="zh-CN" altLang="en-US" dirty="0"/>
              <a:t>为什么用</a:t>
            </a:r>
            <a:r>
              <a:rPr lang="en-US" altLang="zh-CN" dirty="0"/>
              <a:t>RD</a:t>
            </a:r>
          </a:p>
          <a:p>
            <a:pPr lvl="1"/>
            <a:r>
              <a:rPr lang="zh-CN" altLang="en-US" dirty="0"/>
              <a:t>最大的系统性误差</a:t>
            </a:r>
            <a:r>
              <a:rPr lang="en-US" altLang="zh-CN" dirty="0"/>
              <a:t>——</a:t>
            </a:r>
            <a:r>
              <a:rPr lang="zh-CN" altLang="en-US" dirty="0"/>
              <a:t>本身很多地方就一直支持一个党派，此时观测到的 “选举优势与自由派立场的正相关”，是选区倾向导致的，而非选举优势的因果效应。</a:t>
            </a:r>
            <a:endParaRPr lang="en-US" altLang="zh-CN" dirty="0"/>
          </a:p>
          <a:p>
            <a:pPr lvl="1"/>
            <a:r>
              <a:rPr lang="zh-CN" altLang="en-US" b="1" dirty="0"/>
              <a:t>在 </a:t>
            </a:r>
            <a:r>
              <a:rPr lang="en-US" altLang="zh-CN" b="1" dirty="0"/>
              <a:t>50% </a:t>
            </a:r>
            <a:r>
              <a:rPr lang="zh-CN" altLang="en-US" b="1" dirty="0"/>
              <a:t>得票率断点附近，政党胜选与否是近似随机的，此时选区特征近似一致</a:t>
            </a:r>
            <a:endParaRPr lang="en-US" altLang="zh-CN" dirty="0"/>
          </a:p>
          <a:p>
            <a:endParaRPr lang="zh-CN" altLang="en-US" dirty="0"/>
          </a:p>
        </p:txBody>
      </p:sp>
    </p:spTree>
    <p:extLst>
      <p:ext uri="{BB962C8B-B14F-4D97-AF65-F5344CB8AC3E}">
        <p14:creationId xmlns:p14="http://schemas.microsoft.com/office/powerpoint/2010/main" val="16801671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A718DF-A7D3-EEED-08F6-E726DCFC1C2C}"/>
              </a:ext>
            </a:extLst>
          </p:cNvPr>
          <p:cNvSpPr>
            <a:spLocks noGrp="1"/>
          </p:cNvSpPr>
          <p:nvPr>
            <p:ph type="title"/>
          </p:nvPr>
        </p:nvSpPr>
        <p:spPr/>
        <p:txBody>
          <a:bodyPr/>
          <a:lstStyle/>
          <a:p>
            <a:endParaRPr lang="zh-CN" altLang="en-US"/>
          </a:p>
        </p:txBody>
      </p:sp>
      <p:graphicFrame>
        <p:nvGraphicFramePr>
          <p:cNvPr id="4" name="内容占位符 3">
            <a:extLst>
              <a:ext uri="{FF2B5EF4-FFF2-40B4-BE49-F238E27FC236}">
                <a16:creationId xmlns:a16="http://schemas.microsoft.com/office/drawing/2014/main" id="{ED43B597-2FB1-4FBB-FE21-B85074F7AF45}"/>
              </a:ext>
            </a:extLst>
          </p:cNvPr>
          <p:cNvGraphicFramePr>
            <a:graphicFrameLocks noGrp="1"/>
          </p:cNvGraphicFramePr>
          <p:nvPr>
            <p:ph idx="1"/>
            <p:extLst>
              <p:ext uri="{D42A27DB-BD31-4B8C-83A1-F6EECF244321}">
                <p14:modId xmlns:p14="http://schemas.microsoft.com/office/powerpoint/2010/main" val="688888886"/>
              </p:ext>
            </p:extLst>
          </p:nvPr>
        </p:nvGraphicFramePr>
        <p:xfrm>
          <a:off x="838200" y="1943894"/>
          <a:ext cx="10515600" cy="4114800"/>
        </p:xfrm>
        <a:graphic>
          <a:graphicData uri="http://schemas.openxmlformats.org/drawingml/2006/table">
            <a:tbl>
              <a:tblPr/>
              <a:tblGrid>
                <a:gridCol w="3505200">
                  <a:extLst>
                    <a:ext uri="{9D8B030D-6E8A-4147-A177-3AD203B41FA5}">
                      <a16:colId xmlns:a16="http://schemas.microsoft.com/office/drawing/2014/main" val="1759059631"/>
                    </a:ext>
                  </a:extLst>
                </a:gridCol>
                <a:gridCol w="3505200">
                  <a:extLst>
                    <a:ext uri="{9D8B030D-6E8A-4147-A177-3AD203B41FA5}">
                      <a16:colId xmlns:a16="http://schemas.microsoft.com/office/drawing/2014/main" val="3603162083"/>
                    </a:ext>
                  </a:extLst>
                </a:gridCol>
                <a:gridCol w="3505200">
                  <a:extLst>
                    <a:ext uri="{9D8B030D-6E8A-4147-A177-3AD203B41FA5}">
                      <a16:colId xmlns:a16="http://schemas.microsoft.com/office/drawing/2014/main" val="2995072046"/>
                    </a:ext>
                  </a:extLst>
                </a:gridCol>
              </a:tblGrid>
              <a:tr h="0">
                <a:tc>
                  <a:txBody>
                    <a:bodyPr/>
                    <a:lstStyle/>
                    <a:p>
                      <a:pPr>
                        <a:lnSpc>
                          <a:spcPts val="2100"/>
                        </a:lnSpc>
                        <a:buNone/>
                      </a:pPr>
                      <a:r>
                        <a:rPr lang="zh-CN" altLang="en-US" b="1">
                          <a:solidFill>
                            <a:srgbClr val="000000"/>
                          </a:solidFill>
                          <a:effectLst/>
                        </a:rPr>
                        <a:t>变量名</a:t>
                      </a:r>
                    </a:p>
                  </a:txBody>
                  <a:tcPr marL="114300" marR="114300" marT="76200" marB="76200" anchor="ctr">
                    <a:lnL w="4229" cap="flat" cmpd="sng" algn="ctr">
                      <a:solidFill>
                        <a:srgbClr val="00195B"/>
                      </a:solidFill>
                      <a:prstDash val="solid"/>
                      <a:round/>
                      <a:headEnd type="none" w="med" len="med"/>
                      <a:tailEnd type="none" w="med" len="med"/>
                    </a:lnL>
                    <a:lnR w="4229" cap="flat" cmpd="sng" algn="ctr">
                      <a:solidFill>
                        <a:srgbClr val="C01C5B"/>
                      </a:solidFill>
                      <a:prstDash val="solid"/>
                      <a:round/>
                      <a:headEnd type="none" w="med" len="med"/>
                      <a:tailEnd type="none" w="med" len="med"/>
                    </a:lnR>
                    <a:lnT w="4229" cap="flat" cmpd="sng" algn="ctr">
                      <a:solidFill>
                        <a:srgbClr val="20175B"/>
                      </a:solidFill>
                      <a:prstDash val="solid"/>
                      <a:round/>
                      <a:headEnd type="none" w="med" len="med"/>
                      <a:tailEnd type="none" w="med" len="med"/>
                    </a:lnT>
                    <a:lnB w="4229" cap="flat" cmpd="sng" algn="ctr">
                      <a:solidFill>
                        <a:srgbClr val="00205B"/>
                      </a:solidFill>
                      <a:prstDash val="solid"/>
                      <a:round/>
                      <a:headEnd type="none" w="med" len="med"/>
                      <a:tailEnd type="none" w="med" len="med"/>
                    </a:lnB>
                    <a:solidFill>
                      <a:srgbClr val="F2F2F2"/>
                    </a:solidFill>
                  </a:tcPr>
                </a:tc>
                <a:tc>
                  <a:txBody>
                    <a:bodyPr/>
                    <a:lstStyle/>
                    <a:p>
                      <a:pPr>
                        <a:lnSpc>
                          <a:spcPts val="2100"/>
                        </a:lnSpc>
                        <a:buNone/>
                      </a:pPr>
                      <a:r>
                        <a:rPr lang="zh-CN" altLang="en-US" b="1" dirty="0">
                          <a:solidFill>
                            <a:srgbClr val="000000"/>
                          </a:solidFill>
                          <a:effectLst/>
                        </a:rPr>
                        <a:t>含义</a:t>
                      </a:r>
                    </a:p>
                  </a:txBody>
                  <a:tcPr marL="114300" marR="114300" marT="76200" marB="76200" anchor="ctr">
                    <a:lnL w="4229" cap="flat" cmpd="sng" algn="ctr">
                      <a:solidFill>
                        <a:srgbClr val="C01C5B"/>
                      </a:solidFill>
                      <a:prstDash val="solid"/>
                      <a:round/>
                      <a:headEnd type="none" w="med" len="med"/>
                      <a:tailEnd type="none" w="med" len="med"/>
                    </a:lnL>
                    <a:lnR w="4229" cap="flat" cmpd="sng" algn="ctr">
                      <a:solidFill>
                        <a:srgbClr val="C0175B"/>
                      </a:solidFill>
                      <a:prstDash val="solid"/>
                      <a:round/>
                      <a:headEnd type="none" w="med" len="med"/>
                      <a:tailEnd type="none" w="med" len="med"/>
                    </a:lnR>
                    <a:lnT w="4229" cap="flat" cmpd="sng" algn="ctr">
                      <a:solidFill>
                        <a:srgbClr val="40165B"/>
                      </a:solidFill>
                      <a:prstDash val="solid"/>
                      <a:round/>
                      <a:headEnd type="none" w="med" len="med"/>
                      <a:tailEnd type="none" w="med" len="med"/>
                    </a:lnT>
                    <a:lnB w="4229" cap="flat" cmpd="sng" algn="ctr">
                      <a:solidFill>
                        <a:srgbClr val="601F5B"/>
                      </a:solidFill>
                      <a:prstDash val="solid"/>
                      <a:round/>
                      <a:headEnd type="none" w="med" len="med"/>
                      <a:tailEnd type="none" w="med" len="med"/>
                    </a:lnB>
                    <a:solidFill>
                      <a:srgbClr val="F2F2F2"/>
                    </a:solidFill>
                  </a:tcPr>
                </a:tc>
                <a:tc>
                  <a:txBody>
                    <a:bodyPr/>
                    <a:lstStyle/>
                    <a:p>
                      <a:pPr>
                        <a:lnSpc>
                          <a:spcPts val="2100"/>
                        </a:lnSpc>
                        <a:buNone/>
                      </a:pPr>
                      <a:r>
                        <a:rPr lang="zh-CN" altLang="en-US" b="1" dirty="0">
                          <a:solidFill>
                            <a:srgbClr val="000000"/>
                          </a:solidFill>
                          <a:effectLst/>
                        </a:rPr>
                        <a:t>维度</a:t>
                      </a:r>
                    </a:p>
                  </a:txBody>
                  <a:tcPr marL="114300" marR="114300" marT="76200" marB="76200" anchor="ctr">
                    <a:lnL w="4229" cap="flat" cmpd="sng" algn="ctr">
                      <a:solidFill>
                        <a:srgbClr val="C0175B"/>
                      </a:solidFill>
                      <a:prstDash val="solid"/>
                      <a:round/>
                      <a:headEnd type="none" w="med" len="med"/>
                      <a:tailEnd type="none" w="med" len="med"/>
                    </a:lnL>
                    <a:lnR w="4229" cap="flat" cmpd="sng" algn="ctr">
                      <a:solidFill>
                        <a:srgbClr val="C0175B"/>
                      </a:solidFill>
                      <a:prstDash val="solid"/>
                      <a:round/>
                      <a:headEnd type="none" w="med" len="med"/>
                      <a:tailEnd type="none" w="med" len="med"/>
                    </a:lnR>
                    <a:lnT w="4229" cap="flat" cmpd="sng" algn="ctr">
                      <a:solidFill>
                        <a:srgbClr val="C0175B"/>
                      </a:solidFill>
                      <a:prstDash val="solid"/>
                      <a:round/>
                      <a:headEnd type="none" w="med" len="med"/>
                      <a:tailEnd type="none" w="med" len="med"/>
                    </a:lnT>
                    <a:lnB w="4229" cap="flat" cmpd="sng" algn="ctr">
                      <a:solidFill>
                        <a:srgbClr val="401050"/>
                      </a:solidFill>
                      <a:prstDash val="solid"/>
                      <a:round/>
                      <a:headEnd type="none" w="med" len="med"/>
                      <a:tailEnd type="none" w="med" len="med"/>
                    </a:lnB>
                    <a:solidFill>
                      <a:srgbClr val="F2F2F2"/>
                    </a:solidFill>
                  </a:tcPr>
                </a:tc>
                <a:extLst>
                  <a:ext uri="{0D108BD9-81ED-4DB2-BD59-A6C34878D82A}">
                    <a16:rowId xmlns:a16="http://schemas.microsoft.com/office/drawing/2014/main" val="2493488379"/>
                  </a:ext>
                </a:extLst>
              </a:tr>
              <a:tr h="0">
                <a:tc>
                  <a:txBody>
                    <a:bodyPr/>
                    <a:lstStyle/>
                    <a:p>
                      <a:pPr>
                        <a:lnSpc>
                          <a:spcPts val="2100"/>
                        </a:lnSpc>
                        <a:buNone/>
                      </a:pPr>
                      <a:r>
                        <a:rPr lang="en-US" b="0" dirty="0" err="1">
                          <a:solidFill>
                            <a:srgbClr val="000000"/>
                          </a:solidFill>
                          <a:effectLst/>
                          <a:latin typeface="Menlo"/>
                        </a:rPr>
                        <a:t>lagdemvoteshare</a:t>
                      </a:r>
                      <a:endParaRPr lang="en-US" b="0" dirty="0">
                        <a:effectLst/>
                      </a:endParaRPr>
                    </a:p>
                  </a:txBody>
                  <a:tcPr marL="114300" marR="114300" marT="76200" marB="76200" anchor="ctr">
                    <a:lnL w="4229" cap="flat" cmpd="sng" algn="ctr">
                      <a:solidFill>
                        <a:srgbClr val="A0215B"/>
                      </a:solidFill>
                      <a:prstDash val="solid"/>
                      <a:round/>
                      <a:headEnd type="none" w="med" len="med"/>
                      <a:tailEnd type="none" w="med" len="med"/>
                    </a:lnL>
                    <a:lnR w="4229" cap="flat" cmpd="sng" algn="ctr">
                      <a:solidFill>
                        <a:srgbClr val="A0215B"/>
                      </a:solidFill>
                      <a:prstDash val="solid"/>
                      <a:round/>
                      <a:headEnd type="none" w="med" len="med"/>
                      <a:tailEnd type="none" w="med" len="med"/>
                    </a:lnR>
                    <a:lnT w="4229" cap="flat" cmpd="sng" algn="ctr">
                      <a:solidFill>
                        <a:srgbClr val="00205B"/>
                      </a:solidFill>
                      <a:prstDash val="solid"/>
                      <a:round/>
                      <a:headEnd type="none" w="med" len="med"/>
                      <a:tailEnd type="none" w="med" len="med"/>
                    </a:lnT>
                    <a:lnB w="4229" cap="flat" cmpd="sng" algn="ctr">
                      <a:solidFill>
                        <a:srgbClr val="00305B"/>
                      </a:solidFill>
                      <a:prstDash val="solid"/>
                      <a:round/>
                      <a:headEnd type="none" w="med" len="med"/>
                      <a:tailEnd type="none" w="med" len="med"/>
                    </a:lnB>
                    <a:solidFill>
                      <a:srgbClr val="FFFFFF"/>
                    </a:solidFill>
                  </a:tcPr>
                </a:tc>
                <a:tc>
                  <a:txBody>
                    <a:bodyPr/>
                    <a:lstStyle/>
                    <a:p>
                      <a:pPr>
                        <a:lnSpc>
                          <a:spcPts val="2100"/>
                        </a:lnSpc>
                        <a:buNone/>
                      </a:pPr>
                      <a:r>
                        <a:rPr lang="zh-CN" altLang="en-US" b="0" dirty="0">
                          <a:effectLst/>
                        </a:rPr>
                        <a:t>滞后一期（</a:t>
                      </a:r>
                      <a:r>
                        <a:rPr lang="en-US" altLang="zh-CN" b="0" dirty="0">
                          <a:effectLst/>
                        </a:rPr>
                        <a:t>t </a:t>
                      </a:r>
                      <a:r>
                        <a:rPr lang="zh-CN" altLang="en-US" b="0" dirty="0">
                          <a:effectLst/>
                        </a:rPr>
                        <a:t>期）民主党在该选区的选举得票率（取值 </a:t>
                      </a:r>
                      <a:r>
                        <a:rPr lang="en-US" altLang="zh-CN" b="0" dirty="0">
                          <a:effectLst/>
                        </a:rPr>
                        <a:t>0-1</a:t>
                      </a:r>
                      <a:r>
                        <a:rPr lang="zh-CN" altLang="en-US" b="0" dirty="0">
                          <a:effectLst/>
                        </a:rPr>
                        <a:t>，核心 </a:t>
                      </a:r>
                      <a:r>
                        <a:rPr lang="en-US" altLang="zh-CN" b="0" dirty="0">
                          <a:effectLst/>
                        </a:rPr>
                        <a:t>RD </a:t>
                      </a:r>
                      <a:r>
                        <a:rPr lang="zh-CN" altLang="en-US" b="0" dirty="0">
                          <a:effectLst/>
                        </a:rPr>
                        <a:t>驱动变量）</a:t>
                      </a:r>
                    </a:p>
                  </a:txBody>
                  <a:tcPr marL="114300" marR="114300" marT="76200" marB="76200" anchor="ctr">
                    <a:lnL w="4229" cap="flat" cmpd="sng" algn="ctr">
                      <a:solidFill>
                        <a:srgbClr val="A0215B"/>
                      </a:solidFill>
                      <a:prstDash val="solid"/>
                      <a:round/>
                      <a:headEnd type="none" w="med" len="med"/>
                      <a:tailEnd type="none" w="med" len="med"/>
                    </a:lnL>
                    <a:lnR w="4229" cap="flat" cmpd="sng" algn="ctr">
                      <a:solidFill>
                        <a:srgbClr val="40165B"/>
                      </a:solidFill>
                      <a:prstDash val="solid"/>
                      <a:round/>
                      <a:headEnd type="none" w="med" len="med"/>
                      <a:tailEnd type="none" w="med" len="med"/>
                    </a:lnR>
                    <a:lnT w="4229" cap="flat" cmpd="sng" algn="ctr">
                      <a:solidFill>
                        <a:srgbClr val="601F5B"/>
                      </a:solidFill>
                      <a:prstDash val="solid"/>
                      <a:round/>
                      <a:headEnd type="none" w="med" len="med"/>
                      <a:tailEnd type="none" w="med" len="med"/>
                    </a:lnT>
                    <a:lnB w="4229" cap="flat" cmpd="sng" algn="ctr">
                      <a:solidFill>
                        <a:srgbClr val="40175B"/>
                      </a:solidFill>
                      <a:prstDash val="solid"/>
                      <a:round/>
                      <a:headEnd type="none" w="med" len="med"/>
                      <a:tailEnd type="none" w="med" len="med"/>
                    </a:lnB>
                    <a:solidFill>
                      <a:srgbClr val="FFFFFF"/>
                    </a:solidFill>
                  </a:tcPr>
                </a:tc>
                <a:tc>
                  <a:txBody>
                    <a:bodyPr/>
                    <a:lstStyle/>
                    <a:p>
                      <a:pPr>
                        <a:lnSpc>
                          <a:spcPts val="2100"/>
                        </a:lnSpc>
                        <a:buNone/>
                      </a:pPr>
                      <a:r>
                        <a:rPr lang="en-US" altLang="zh-CN" b="0">
                          <a:effectLst/>
                        </a:rPr>
                        <a:t>50% </a:t>
                      </a:r>
                      <a:r>
                        <a:rPr lang="zh-CN" altLang="en-US" b="0">
                          <a:effectLst/>
                        </a:rPr>
                        <a:t>断点的核心判断依据</a:t>
                      </a:r>
                    </a:p>
                  </a:txBody>
                  <a:tcPr marL="114300" marR="114300" marT="76200" marB="76200" anchor="ctr">
                    <a:lnL w="4229" cap="flat" cmpd="sng" algn="ctr">
                      <a:solidFill>
                        <a:srgbClr val="40165B"/>
                      </a:solidFill>
                      <a:prstDash val="solid"/>
                      <a:round/>
                      <a:headEnd type="none" w="med" len="med"/>
                      <a:tailEnd type="none" w="med" len="med"/>
                    </a:lnL>
                    <a:lnR w="4229" cap="flat" cmpd="sng" algn="ctr">
                      <a:solidFill>
                        <a:srgbClr val="00195B"/>
                      </a:solidFill>
                      <a:prstDash val="solid"/>
                      <a:round/>
                      <a:headEnd type="none" w="med" len="med"/>
                      <a:tailEnd type="none" w="med" len="med"/>
                    </a:lnR>
                    <a:lnT w="4229" cap="flat" cmpd="sng" algn="ctr">
                      <a:solidFill>
                        <a:srgbClr val="401050"/>
                      </a:solidFill>
                      <a:prstDash val="solid"/>
                      <a:round/>
                      <a:headEnd type="none" w="med" len="med"/>
                      <a:tailEnd type="none" w="med" len="med"/>
                    </a:lnT>
                    <a:lnB w="4229" cap="flat" cmpd="sng" algn="ctr">
                      <a:solidFill>
                        <a:srgbClr val="00A24F"/>
                      </a:solidFill>
                      <a:prstDash val="solid"/>
                      <a:round/>
                      <a:headEnd type="none" w="med" len="med"/>
                      <a:tailEnd type="none" w="med" len="med"/>
                    </a:lnB>
                    <a:solidFill>
                      <a:srgbClr val="FFFFFF"/>
                    </a:solidFill>
                  </a:tcPr>
                </a:tc>
                <a:extLst>
                  <a:ext uri="{0D108BD9-81ED-4DB2-BD59-A6C34878D82A}">
                    <a16:rowId xmlns:a16="http://schemas.microsoft.com/office/drawing/2014/main" val="3826965296"/>
                  </a:ext>
                </a:extLst>
              </a:tr>
              <a:tr h="0">
                <a:tc>
                  <a:txBody>
                    <a:bodyPr/>
                    <a:lstStyle/>
                    <a:p>
                      <a:pPr>
                        <a:lnSpc>
                          <a:spcPts val="2100"/>
                        </a:lnSpc>
                        <a:buNone/>
                      </a:pPr>
                      <a:r>
                        <a:rPr lang="en-US" b="0" dirty="0" err="1">
                          <a:solidFill>
                            <a:srgbClr val="000000"/>
                          </a:solidFill>
                          <a:effectLst/>
                          <a:latin typeface="Menlo"/>
                        </a:rPr>
                        <a:t>lagdemocrat</a:t>
                      </a:r>
                      <a:endParaRPr lang="en-US" b="0" dirty="0">
                        <a:effectLst/>
                      </a:endParaRPr>
                    </a:p>
                  </a:txBody>
                  <a:tcPr marL="114300" marR="114300" marT="76200" marB="76200" anchor="ctr">
                    <a:lnL w="4229" cap="flat" cmpd="sng" algn="ctr">
                      <a:solidFill>
                        <a:srgbClr val="402F5B"/>
                      </a:solidFill>
                      <a:prstDash val="solid"/>
                      <a:round/>
                      <a:headEnd type="none" w="med" len="med"/>
                      <a:tailEnd type="none" w="med" len="med"/>
                    </a:lnL>
                    <a:lnR w="4229" cap="flat" cmpd="sng" algn="ctr">
                      <a:solidFill>
                        <a:srgbClr val="F06606"/>
                      </a:solidFill>
                      <a:prstDash val="solid"/>
                      <a:round/>
                      <a:headEnd type="none" w="med" len="med"/>
                      <a:tailEnd type="none" w="med" len="med"/>
                    </a:lnR>
                    <a:lnT w="4229" cap="flat" cmpd="sng" algn="ctr">
                      <a:solidFill>
                        <a:srgbClr val="00305B"/>
                      </a:solidFill>
                      <a:prstDash val="solid"/>
                      <a:round/>
                      <a:headEnd type="none" w="med" len="med"/>
                      <a:tailEnd type="none" w="med" len="med"/>
                    </a:lnT>
                    <a:lnB w="4229" cap="flat" cmpd="sng" algn="ctr">
                      <a:solidFill>
                        <a:srgbClr val="203119"/>
                      </a:solidFill>
                      <a:prstDash val="solid"/>
                      <a:round/>
                      <a:headEnd type="none" w="med" len="med"/>
                      <a:tailEnd type="none" w="med" len="med"/>
                    </a:lnB>
                    <a:solidFill>
                      <a:srgbClr val="FFFFFF"/>
                    </a:solidFill>
                  </a:tcPr>
                </a:tc>
                <a:tc>
                  <a:txBody>
                    <a:bodyPr/>
                    <a:lstStyle/>
                    <a:p>
                      <a:pPr>
                        <a:lnSpc>
                          <a:spcPts val="2100"/>
                        </a:lnSpc>
                        <a:buNone/>
                      </a:pPr>
                      <a:r>
                        <a:rPr lang="zh-CN" altLang="en-US" b="0">
                          <a:effectLst/>
                        </a:rPr>
                        <a:t>滞后一期（</a:t>
                      </a:r>
                      <a:r>
                        <a:rPr lang="en-US" altLang="zh-CN" b="0">
                          <a:effectLst/>
                        </a:rPr>
                        <a:t>t </a:t>
                      </a:r>
                      <a:r>
                        <a:rPr lang="zh-CN" altLang="en-US" b="0">
                          <a:effectLst/>
                        </a:rPr>
                        <a:t>期）民主党是否险胜（</a:t>
                      </a:r>
                      <a:r>
                        <a:rPr lang="en-US" altLang="zh-CN" b="0">
                          <a:effectLst/>
                        </a:rPr>
                        <a:t>=1</a:t>
                      </a:r>
                      <a:r>
                        <a:rPr lang="zh-CN" altLang="en-US" b="0">
                          <a:effectLst/>
                        </a:rPr>
                        <a:t>：得票率 </a:t>
                      </a:r>
                      <a:r>
                        <a:rPr lang="en-US" altLang="zh-CN" b="0">
                          <a:effectLst/>
                        </a:rPr>
                        <a:t>&gt; 50%</a:t>
                      </a:r>
                      <a:r>
                        <a:rPr lang="zh-CN" altLang="en-US" b="0">
                          <a:effectLst/>
                        </a:rPr>
                        <a:t>，成为现任党；</a:t>
                      </a:r>
                      <a:r>
                        <a:rPr lang="en-US" altLang="zh-CN" b="0">
                          <a:effectLst/>
                        </a:rPr>
                        <a:t>=0</a:t>
                      </a:r>
                      <a:r>
                        <a:rPr lang="zh-CN" altLang="en-US" b="0">
                          <a:effectLst/>
                        </a:rPr>
                        <a:t>：得票率 </a:t>
                      </a:r>
                      <a:r>
                        <a:rPr lang="en-US" altLang="zh-CN" b="0">
                          <a:effectLst/>
                        </a:rPr>
                        <a:t>&lt; 50%</a:t>
                      </a:r>
                      <a:r>
                        <a:rPr lang="zh-CN" altLang="en-US" b="0">
                          <a:effectLst/>
                        </a:rPr>
                        <a:t>，败选）</a:t>
                      </a:r>
                    </a:p>
                  </a:txBody>
                  <a:tcPr marL="114300" marR="114300" marT="76200" marB="76200" anchor="ctr">
                    <a:lnL w="4229" cap="flat" cmpd="sng" algn="ctr">
                      <a:solidFill>
                        <a:srgbClr val="F06606"/>
                      </a:solidFill>
                      <a:prstDash val="solid"/>
                      <a:round/>
                      <a:headEnd type="none" w="med" len="med"/>
                      <a:tailEnd type="none" w="med" len="med"/>
                    </a:lnL>
                    <a:lnR w="4229" cap="flat" cmpd="sng" algn="ctr">
                      <a:solidFill>
                        <a:srgbClr val="601F5B"/>
                      </a:solidFill>
                      <a:prstDash val="solid"/>
                      <a:round/>
                      <a:headEnd type="none" w="med" len="med"/>
                      <a:tailEnd type="none" w="med" len="med"/>
                    </a:lnR>
                    <a:lnT w="4229" cap="flat" cmpd="sng" algn="ctr">
                      <a:solidFill>
                        <a:srgbClr val="40175B"/>
                      </a:solidFill>
                      <a:prstDash val="solid"/>
                      <a:round/>
                      <a:headEnd type="none" w="med" len="med"/>
                      <a:tailEnd type="none" w="med" len="med"/>
                    </a:lnT>
                    <a:lnB w="4229" cap="flat" cmpd="sng" algn="ctr">
                      <a:solidFill>
                        <a:srgbClr val="003219"/>
                      </a:solidFill>
                      <a:prstDash val="solid"/>
                      <a:round/>
                      <a:headEnd type="none" w="med" len="med"/>
                      <a:tailEnd type="none" w="med" len="med"/>
                    </a:lnB>
                    <a:solidFill>
                      <a:srgbClr val="FFFFFF"/>
                    </a:solidFill>
                  </a:tcPr>
                </a:tc>
                <a:tc>
                  <a:txBody>
                    <a:bodyPr/>
                    <a:lstStyle/>
                    <a:p>
                      <a:pPr>
                        <a:lnSpc>
                          <a:spcPts val="2100"/>
                        </a:lnSpc>
                        <a:buNone/>
                      </a:pPr>
                      <a:r>
                        <a:rPr lang="zh-CN" altLang="en-US" b="0" dirty="0">
                          <a:effectLst/>
                        </a:rPr>
                        <a:t>处理变量（是否有现任优势）</a:t>
                      </a:r>
                    </a:p>
                  </a:txBody>
                  <a:tcPr marL="114300" marR="114300" marT="76200" marB="76200" anchor="ctr">
                    <a:lnL w="4229" cap="flat" cmpd="sng" algn="ctr">
                      <a:solidFill>
                        <a:srgbClr val="601F5B"/>
                      </a:solidFill>
                      <a:prstDash val="solid"/>
                      <a:round/>
                      <a:headEnd type="none" w="med" len="med"/>
                      <a:tailEnd type="none" w="med" len="med"/>
                    </a:lnL>
                    <a:lnR w="4229" cap="flat" cmpd="sng" algn="ctr">
                      <a:solidFill>
                        <a:srgbClr val="40165B"/>
                      </a:solidFill>
                      <a:prstDash val="solid"/>
                      <a:round/>
                      <a:headEnd type="none" w="med" len="med"/>
                      <a:tailEnd type="none" w="med" len="med"/>
                    </a:lnR>
                    <a:lnT w="4229" cap="flat" cmpd="sng" algn="ctr">
                      <a:solidFill>
                        <a:srgbClr val="00A24F"/>
                      </a:solidFill>
                      <a:prstDash val="solid"/>
                      <a:round/>
                      <a:headEnd type="none" w="med" len="med"/>
                      <a:tailEnd type="none" w="med" len="med"/>
                    </a:lnT>
                    <a:lnB w="4229" cap="flat" cmpd="sng" algn="ctr">
                      <a:solidFill>
                        <a:srgbClr val="00A54F"/>
                      </a:solidFill>
                      <a:prstDash val="solid"/>
                      <a:round/>
                      <a:headEnd type="none" w="med" len="med"/>
                      <a:tailEnd type="none" w="med" len="med"/>
                    </a:lnB>
                    <a:solidFill>
                      <a:srgbClr val="FFFFFF"/>
                    </a:solidFill>
                  </a:tcPr>
                </a:tc>
                <a:extLst>
                  <a:ext uri="{0D108BD9-81ED-4DB2-BD59-A6C34878D82A}">
                    <a16:rowId xmlns:a16="http://schemas.microsoft.com/office/drawing/2014/main" val="1102973684"/>
                  </a:ext>
                </a:extLst>
              </a:tr>
              <a:tr h="0">
                <a:tc>
                  <a:txBody>
                    <a:bodyPr/>
                    <a:lstStyle/>
                    <a:p>
                      <a:pPr>
                        <a:lnSpc>
                          <a:spcPts val="2100"/>
                        </a:lnSpc>
                        <a:buNone/>
                      </a:pPr>
                      <a:r>
                        <a:rPr lang="en-US" b="0">
                          <a:solidFill>
                            <a:srgbClr val="000000"/>
                          </a:solidFill>
                          <a:effectLst/>
                          <a:latin typeface="Menlo"/>
                        </a:rPr>
                        <a:t>score</a:t>
                      </a:r>
                      <a:endParaRPr lang="en-US" b="0">
                        <a:effectLst/>
                      </a:endParaRPr>
                    </a:p>
                  </a:txBody>
                  <a:tcPr marL="114300" marR="114300" marT="76200" marB="76200" anchor="ctr">
                    <a:lnL w="4229" cap="flat" cmpd="sng" algn="ctr">
                      <a:solidFill>
                        <a:srgbClr val="C0DB18"/>
                      </a:solidFill>
                      <a:prstDash val="solid"/>
                      <a:round/>
                      <a:headEnd type="none" w="med" len="med"/>
                      <a:tailEnd type="none" w="med" len="med"/>
                    </a:lnL>
                    <a:lnR w="4229" cap="flat" cmpd="sng" algn="ctr">
                      <a:solidFill>
                        <a:srgbClr val="B00E8E"/>
                      </a:solidFill>
                      <a:prstDash val="solid"/>
                      <a:round/>
                      <a:headEnd type="none" w="med" len="med"/>
                      <a:tailEnd type="none" w="med" len="med"/>
                    </a:lnR>
                    <a:lnT w="4229" cap="flat" cmpd="sng" algn="ctr">
                      <a:solidFill>
                        <a:srgbClr val="203119"/>
                      </a:solidFill>
                      <a:prstDash val="solid"/>
                      <a:round/>
                      <a:headEnd type="none" w="med" len="med"/>
                      <a:tailEnd type="none" w="med" len="med"/>
                    </a:lnT>
                    <a:lnB w="4229" cap="flat" cmpd="sng" algn="ctr">
                      <a:solidFill>
                        <a:srgbClr val="E0B225"/>
                      </a:solidFill>
                      <a:prstDash val="solid"/>
                      <a:round/>
                      <a:headEnd type="none" w="med" len="med"/>
                      <a:tailEnd type="none" w="med" len="med"/>
                    </a:lnB>
                    <a:solidFill>
                      <a:srgbClr val="FFFFFF"/>
                    </a:solidFill>
                  </a:tcPr>
                </a:tc>
                <a:tc>
                  <a:txBody>
                    <a:bodyPr/>
                    <a:lstStyle/>
                    <a:p>
                      <a:pPr>
                        <a:lnSpc>
                          <a:spcPts val="2100"/>
                        </a:lnSpc>
                        <a:buNone/>
                      </a:pPr>
                      <a:r>
                        <a:rPr lang="zh-CN" altLang="en-US" b="0">
                          <a:effectLst/>
                        </a:rPr>
                        <a:t>议员的 </a:t>
                      </a:r>
                      <a:r>
                        <a:rPr lang="en-US" altLang="zh-CN" b="0">
                          <a:effectLst/>
                        </a:rPr>
                        <a:t>ADA </a:t>
                      </a:r>
                      <a:r>
                        <a:rPr lang="zh-CN" altLang="en-US" b="0">
                          <a:effectLst/>
                        </a:rPr>
                        <a:t>自由派得分（</a:t>
                      </a:r>
                      <a:r>
                        <a:rPr lang="en-US" altLang="zh-CN" b="0">
                          <a:effectLst/>
                        </a:rPr>
                        <a:t>0-100</a:t>
                      </a:r>
                      <a:r>
                        <a:rPr lang="zh-CN" altLang="en-US" b="0">
                          <a:effectLst/>
                        </a:rPr>
                        <a:t>，得分越高越偏向自由派）</a:t>
                      </a:r>
                    </a:p>
                  </a:txBody>
                  <a:tcPr marL="114300" marR="114300" marT="76200" marB="76200" anchor="ctr">
                    <a:lnL w="4229" cap="flat" cmpd="sng" algn="ctr">
                      <a:solidFill>
                        <a:srgbClr val="B00E8E"/>
                      </a:solidFill>
                      <a:prstDash val="solid"/>
                      <a:round/>
                      <a:headEnd type="none" w="med" len="med"/>
                      <a:tailEnd type="none" w="med" len="med"/>
                    </a:lnL>
                    <a:lnR w="4229" cap="flat" cmpd="sng" algn="ctr">
                      <a:solidFill>
                        <a:srgbClr val="002E5B"/>
                      </a:solidFill>
                      <a:prstDash val="solid"/>
                      <a:round/>
                      <a:headEnd type="none" w="med" len="med"/>
                      <a:tailEnd type="none" w="med" len="med"/>
                    </a:lnR>
                    <a:lnT w="4229" cap="flat" cmpd="sng" algn="ctr">
                      <a:solidFill>
                        <a:srgbClr val="003219"/>
                      </a:solidFill>
                      <a:prstDash val="solid"/>
                      <a:round/>
                      <a:headEnd type="none" w="med" len="med"/>
                      <a:tailEnd type="none" w="med" len="med"/>
                    </a:lnT>
                    <a:lnB w="4229" cap="flat" cmpd="sng" algn="ctr">
                      <a:solidFill>
                        <a:srgbClr val="A0B425"/>
                      </a:solidFill>
                      <a:prstDash val="solid"/>
                      <a:round/>
                      <a:headEnd type="none" w="med" len="med"/>
                      <a:tailEnd type="none" w="med" len="med"/>
                    </a:lnB>
                    <a:solidFill>
                      <a:srgbClr val="FFFFFF"/>
                    </a:solidFill>
                  </a:tcPr>
                </a:tc>
                <a:tc>
                  <a:txBody>
                    <a:bodyPr/>
                    <a:lstStyle/>
                    <a:p>
                      <a:pPr>
                        <a:lnSpc>
                          <a:spcPts val="2100"/>
                        </a:lnSpc>
                        <a:buNone/>
                      </a:pPr>
                      <a:r>
                        <a:rPr lang="zh-CN" altLang="en-US" b="0" dirty="0">
                          <a:effectLst/>
                        </a:rPr>
                        <a:t>政策立场的衡量指标</a:t>
                      </a:r>
                    </a:p>
                  </a:txBody>
                  <a:tcPr marL="114300" marR="114300" marT="76200" marB="76200" anchor="ctr">
                    <a:lnL w="4229" cap="flat" cmpd="sng" algn="ctr">
                      <a:solidFill>
                        <a:srgbClr val="002E5B"/>
                      </a:solidFill>
                      <a:prstDash val="solid"/>
                      <a:round/>
                      <a:headEnd type="none" w="med" len="med"/>
                      <a:tailEnd type="none" w="med" len="med"/>
                    </a:lnL>
                    <a:lnR w="4229" cap="flat" cmpd="sng" algn="ctr">
                      <a:solidFill>
                        <a:srgbClr val="00195B"/>
                      </a:solidFill>
                      <a:prstDash val="solid"/>
                      <a:round/>
                      <a:headEnd type="none" w="med" len="med"/>
                      <a:tailEnd type="none" w="med" len="med"/>
                    </a:lnR>
                    <a:lnT w="4229" cap="flat" cmpd="sng" algn="ctr">
                      <a:solidFill>
                        <a:srgbClr val="00A54F"/>
                      </a:solidFill>
                      <a:prstDash val="solid"/>
                      <a:round/>
                      <a:headEnd type="none" w="med" len="med"/>
                      <a:tailEnd type="none" w="med" len="med"/>
                    </a:lnT>
                    <a:lnB w="4229" cap="flat" cmpd="sng" algn="ctr">
                      <a:solidFill>
                        <a:srgbClr val="90B74F"/>
                      </a:solidFill>
                      <a:prstDash val="solid"/>
                      <a:round/>
                      <a:headEnd type="none" w="med" len="med"/>
                      <a:tailEnd type="none" w="med" len="med"/>
                    </a:lnB>
                    <a:solidFill>
                      <a:srgbClr val="FFFFFF"/>
                    </a:solidFill>
                  </a:tcPr>
                </a:tc>
                <a:extLst>
                  <a:ext uri="{0D108BD9-81ED-4DB2-BD59-A6C34878D82A}">
                    <a16:rowId xmlns:a16="http://schemas.microsoft.com/office/drawing/2014/main" val="2919380371"/>
                  </a:ext>
                </a:extLst>
              </a:tr>
              <a:tr h="0">
                <a:tc>
                  <a:txBody>
                    <a:bodyPr/>
                    <a:lstStyle/>
                    <a:p>
                      <a:pPr>
                        <a:lnSpc>
                          <a:spcPts val="2100"/>
                        </a:lnSpc>
                        <a:buNone/>
                      </a:pPr>
                      <a:r>
                        <a:rPr lang="en-US" b="0">
                          <a:solidFill>
                            <a:srgbClr val="000000"/>
                          </a:solidFill>
                          <a:effectLst/>
                          <a:latin typeface="Menlo"/>
                        </a:rPr>
                        <a:t>democrat</a:t>
                      </a:r>
                      <a:endParaRPr lang="en-US" b="0">
                        <a:effectLst/>
                      </a:endParaRPr>
                    </a:p>
                  </a:txBody>
                  <a:tcPr marL="114300" marR="114300" marT="76200" marB="76200" anchor="ctr">
                    <a:lnL w="4229" cap="flat" cmpd="sng" algn="ctr">
                      <a:solidFill>
                        <a:srgbClr val="A0B825"/>
                      </a:solidFill>
                      <a:prstDash val="solid"/>
                      <a:round/>
                      <a:headEnd type="none" w="med" len="med"/>
                      <a:tailEnd type="none" w="med" len="med"/>
                    </a:lnL>
                    <a:lnR w="4229" cap="flat" cmpd="sng" algn="ctr">
                      <a:solidFill>
                        <a:srgbClr val="60B325"/>
                      </a:solidFill>
                      <a:prstDash val="solid"/>
                      <a:round/>
                      <a:headEnd type="none" w="med" len="med"/>
                      <a:tailEnd type="none" w="med" len="med"/>
                    </a:lnR>
                    <a:lnT w="4229" cap="flat" cmpd="sng" algn="ctr">
                      <a:solidFill>
                        <a:srgbClr val="E0B225"/>
                      </a:solidFill>
                      <a:prstDash val="solid"/>
                      <a:round/>
                      <a:headEnd type="none" w="med" len="med"/>
                      <a:tailEnd type="none" w="med" len="med"/>
                    </a:lnT>
                    <a:lnB w="4229" cap="flat" cmpd="sng" algn="ctr">
                      <a:solidFill>
                        <a:srgbClr val="00BF25"/>
                      </a:solidFill>
                      <a:prstDash val="solid"/>
                      <a:round/>
                      <a:headEnd type="none" w="med" len="med"/>
                      <a:tailEnd type="none" w="med" len="med"/>
                    </a:lnB>
                    <a:solidFill>
                      <a:srgbClr val="FFFFFF"/>
                    </a:solidFill>
                  </a:tcPr>
                </a:tc>
                <a:tc>
                  <a:txBody>
                    <a:bodyPr/>
                    <a:lstStyle/>
                    <a:p>
                      <a:pPr>
                        <a:lnSpc>
                          <a:spcPts val="2100"/>
                        </a:lnSpc>
                        <a:buNone/>
                      </a:pPr>
                      <a:r>
                        <a:rPr lang="zh-CN" altLang="en-US" b="0" dirty="0">
                          <a:effectLst/>
                        </a:rPr>
                        <a:t>当期（</a:t>
                      </a:r>
                      <a:r>
                        <a:rPr lang="en-US" altLang="zh-CN" b="0" dirty="0">
                          <a:effectLst/>
                        </a:rPr>
                        <a:t>t+1 </a:t>
                      </a:r>
                      <a:r>
                        <a:rPr lang="zh-CN" altLang="en-US" b="0" dirty="0">
                          <a:effectLst/>
                        </a:rPr>
                        <a:t>期）民主党是否在该选区胜选（</a:t>
                      </a:r>
                      <a:r>
                        <a:rPr lang="en-US" altLang="zh-CN" b="0" dirty="0">
                          <a:effectLst/>
                        </a:rPr>
                        <a:t>=1</a:t>
                      </a:r>
                      <a:r>
                        <a:rPr lang="zh-CN" altLang="en-US" b="0" dirty="0">
                          <a:effectLst/>
                        </a:rPr>
                        <a:t>：胜选；</a:t>
                      </a:r>
                      <a:r>
                        <a:rPr lang="en-US" altLang="zh-CN" b="0" dirty="0">
                          <a:effectLst/>
                        </a:rPr>
                        <a:t>=0</a:t>
                      </a:r>
                      <a:r>
                        <a:rPr lang="zh-CN" altLang="en-US" b="0" dirty="0">
                          <a:effectLst/>
                        </a:rPr>
                        <a:t>：败选）</a:t>
                      </a:r>
                    </a:p>
                  </a:txBody>
                  <a:tcPr marL="114300" marR="114300" marT="76200" marB="76200" anchor="ctr">
                    <a:lnL w="4229" cap="flat" cmpd="sng" algn="ctr">
                      <a:solidFill>
                        <a:srgbClr val="60B325"/>
                      </a:solidFill>
                      <a:prstDash val="solid"/>
                      <a:round/>
                      <a:headEnd type="none" w="med" len="med"/>
                      <a:tailEnd type="none" w="med" len="med"/>
                    </a:lnL>
                    <a:lnR w="4229" cap="flat" cmpd="sng" algn="ctr">
                      <a:solidFill>
                        <a:srgbClr val="80B825"/>
                      </a:solidFill>
                      <a:prstDash val="solid"/>
                      <a:round/>
                      <a:headEnd type="none" w="med" len="med"/>
                      <a:tailEnd type="none" w="med" len="med"/>
                    </a:lnR>
                    <a:lnT w="4229" cap="flat" cmpd="sng" algn="ctr">
                      <a:solidFill>
                        <a:srgbClr val="A0B425"/>
                      </a:solidFill>
                      <a:prstDash val="solid"/>
                      <a:round/>
                      <a:headEnd type="none" w="med" len="med"/>
                      <a:tailEnd type="none" w="med" len="med"/>
                    </a:lnT>
                    <a:lnB w="4229" cap="flat" cmpd="sng" algn="ctr">
                      <a:solidFill>
                        <a:srgbClr val="A0BD25"/>
                      </a:solidFill>
                      <a:prstDash val="solid"/>
                      <a:round/>
                      <a:headEnd type="none" w="med" len="med"/>
                      <a:tailEnd type="none" w="med" len="med"/>
                    </a:lnB>
                    <a:solidFill>
                      <a:srgbClr val="FFFFFF"/>
                    </a:solidFill>
                  </a:tcPr>
                </a:tc>
                <a:tc>
                  <a:txBody>
                    <a:bodyPr/>
                    <a:lstStyle/>
                    <a:p>
                      <a:pPr>
                        <a:lnSpc>
                          <a:spcPts val="2100"/>
                        </a:lnSpc>
                        <a:buNone/>
                      </a:pPr>
                      <a:r>
                        <a:rPr lang="zh-CN" altLang="en-US" b="0" dirty="0">
                          <a:effectLst/>
                        </a:rPr>
                        <a:t>后续胜选结果</a:t>
                      </a:r>
                    </a:p>
                  </a:txBody>
                  <a:tcPr marL="114300" marR="114300" marT="76200" marB="76200" anchor="ctr">
                    <a:lnL w="4229" cap="flat" cmpd="sng" algn="ctr">
                      <a:solidFill>
                        <a:srgbClr val="80B825"/>
                      </a:solidFill>
                      <a:prstDash val="solid"/>
                      <a:round/>
                      <a:headEnd type="none" w="med" len="med"/>
                      <a:tailEnd type="none" w="med" len="med"/>
                    </a:lnL>
                    <a:lnR w="4229" cap="flat" cmpd="sng" algn="ctr">
                      <a:solidFill>
                        <a:srgbClr val="80B625"/>
                      </a:solidFill>
                      <a:prstDash val="solid"/>
                      <a:round/>
                      <a:headEnd type="none" w="med" len="med"/>
                      <a:tailEnd type="none" w="med" len="med"/>
                    </a:lnR>
                    <a:lnT w="4229" cap="flat" cmpd="sng" algn="ctr">
                      <a:solidFill>
                        <a:srgbClr val="90B74F"/>
                      </a:solidFill>
                      <a:prstDash val="solid"/>
                      <a:round/>
                      <a:headEnd type="none" w="med" len="med"/>
                      <a:tailEnd type="none" w="med" len="med"/>
                    </a:lnT>
                    <a:lnB w="4229" cap="flat" cmpd="sng" algn="ctr">
                      <a:solidFill>
                        <a:srgbClr val="90C04F"/>
                      </a:solidFill>
                      <a:prstDash val="solid"/>
                      <a:round/>
                      <a:headEnd type="none" w="med" len="med"/>
                      <a:tailEnd type="none" w="med" len="med"/>
                    </a:lnB>
                    <a:solidFill>
                      <a:srgbClr val="FFFFFF"/>
                    </a:solidFill>
                  </a:tcPr>
                </a:tc>
                <a:extLst>
                  <a:ext uri="{0D108BD9-81ED-4DB2-BD59-A6C34878D82A}">
                    <a16:rowId xmlns:a16="http://schemas.microsoft.com/office/drawing/2014/main" val="2168316558"/>
                  </a:ext>
                </a:extLst>
              </a:tr>
              <a:tr h="0">
                <a:tc>
                  <a:txBody>
                    <a:bodyPr/>
                    <a:lstStyle/>
                    <a:p>
                      <a:pPr>
                        <a:lnSpc>
                          <a:spcPts val="2100"/>
                        </a:lnSpc>
                        <a:buNone/>
                      </a:pPr>
                      <a:r>
                        <a:rPr lang="en-US" b="0">
                          <a:solidFill>
                            <a:srgbClr val="000000"/>
                          </a:solidFill>
                          <a:effectLst/>
                          <a:latin typeface="Menlo"/>
                        </a:rPr>
                        <a:t>id</a:t>
                      </a:r>
                      <a:endParaRPr lang="en-US" b="0">
                        <a:effectLst/>
                      </a:endParaRPr>
                    </a:p>
                  </a:txBody>
                  <a:tcPr marL="114300" marR="114300" marT="76200" marB="76200" anchor="ctr">
                    <a:lnL w="4229" cap="flat" cmpd="sng" algn="ctr">
                      <a:solidFill>
                        <a:srgbClr val="E0BB25"/>
                      </a:solidFill>
                      <a:prstDash val="solid"/>
                      <a:round/>
                      <a:headEnd type="none" w="med" len="med"/>
                      <a:tailEnd type="none" w="med" len="med"/>
                    </a:lnL>
                    <a:lnR w="4229" cap="flat" cmpd="sng" algn="ctr">
                      <a:solidFill>
                        <a:srgbClr val="00BE25"/>
                      </a:solidFill>
                      <a:prstDash val="solid"/>
                      <a:round/>
                      <a:headEnd type="none" w="med" len="med"/>
                      <a:tailEnd type="none" w="med" len="med"/>
                    </a:lnR>
                    <a:lnT w="4229" cap="flat" cmpd="sng" algn="ctr">
                      <a:solidFill>
                        <a:srgbClr val="00BF25"/>
                      </a:solidFill>
                      <a:prstDash val="solid"/>
                      <a:round/>
                      <a:headEnd type="none" w="med" len="med"/>
                      <a:tailEnd type="none" w="med" len="med"/>
                    </a:lnT>
                    <a:lnB w="4229" cap="flat" cmpd="sng" algn="ctr">
                      <a:solidFill>
                        <a:srgbClr val="20BB25"/>
                      </a:solidFill>
                      <a:prstDash val="solid"/>
                      <a:round/>
                      <a:headEnd type="none" w="med" len="med"/>
                      <a:tailEnd type="none" w="med" len="med"/>
                    </a:lnB>
                    <a:solidFill>
                      <a:srgbClr val="FFFFFF"/>
                    </a:solidFill>
                  </a:tcPr>
                </a:tc>
                <a:tc>
                  <a:txBody>
                    <a:bodyPr/>
                    <a:lstStyle/>
                    <a:p>
                      <a:pPr>
                        <a:lnSpc>
                          <a:spcPts val="2100"/>
                        </a:lnSpc>
                        <a:buNone/>
                      </a:pPr>
                      <a:r>
                        <a:rPr lang="zh-CN" altLang="en-US" b="0" dirty="0">
                          <a:effectLst/>
                        </a:rPr>
                        <a:t>选区唯一识别码</a:t>
                      </a:r>
                    </a:p>
                  </a:txBody>
                  <a:tcPr marL="114300" marR="114300" marT="76200" marB="76200" anchor="ctr">
                    <a:lnL w="4229" cap="flat" cmpd="sng" algn="ctr">
                      <a:solidFill>
                        <a:srgbClr val="00BE25"/>
                      </a:solidFill>
                      <a:prstDash val="solid"/>
                      <a:round/>
                      <a:headEnd type="none" w="med" len="med"/>
                      <a:tailEnd type="none" w="med" len="med"/>
                    </a:lnL>
                    <a:lnR w="4229" cap="flat" cmpd="sng" algn="ctr">
                      <a:solidFill>
                        <a:srgbClr val="60B325"/>
                      </a:solidFill>
                      <a:prstDash val="solid"/>
                      <a:round/>
                      <a:headEnd type="none" w="med" len="med"/>
                      <a:tailEnd type="none" w="med" len="med"/>
                    </a:lnR>
                    <a:lnT w="4229" cap="flat" cmpd="sng" algn="ctr">
                      <a:solidFill>
                        <a:srgbClr val="A0BD25"/>
                      </a:solidFill>
                      <a:prstDash val="solid"/>
                      <a:round/>
                      <a:headEnd type="none" w="med" len="med"/>
                      <a:tailEnd type="none" w="med" len="med"/>
                    </a:lnT>
                    <a:lnB w="4229" cap="flat" cmpd="sng" algn="ctr">
                      <a:solidFill>
                        <a:srgbClr val="80BC25"/>
                      </a:solidFill>
                      <a:prstDash val="solid"/>
                      <a:round/>
                      <a:headEnd type="none" w="med" len="med"/>
                      <a:tailEnd type="none" w="med" len="med"/>
                    </a:lnB>
                    <a:solidFill>
                      <a:srgbClr val="FFFFFF"/>
                    </a:solidFill>
                  </a:tcPr>
                </a:tc>
                <a:tc>
                  <a:txBody>
                    <a:bodyPr/>
                    <a:lstStyle/>
                    <a:p>
                      <a:pPr>
                        <a:lnSpc>
                          <a:spcPts val="2100"/>
                        </a:lnSpc>
                        <a:buNone/>
                      </a:pPr>
                      <a:r>
                        <a:rPr lang="zh-CN" altLang="en-US" b="0" dirty="0">
                          <a:effectLst/>
                        </a:rPr>
                        <a:t>聚类标准误的分组依据</a:t>
                      </a:r>
                    </a:p>
                  </a:txBody>
                  <a:tcPr marL="114300" marR="114300" marT="76200" marB="76200" anchor="ctr">
                    <a:lnL w="4229" cap="flat" cmpd="sng" algn="ctr">
                      <a:solidFill>
                        <a:srgbClr val="60B325"/>
                      </a:solidFill>
                      <a:prstDash val="solid"/>
                      <a:round/>
                      <a:headEnd type="none" w="med" len="med"/>
                      <a:tailEnd type="none" w="med" len="med"/>
                    </a:lnL>
                    <a:lnR w="4229" cap="flat" cmpd="sng" algn="ctr">
                      <a:solidFill>
                        <a:srgbClr val="40B225"/>
                      </a:solidFill>
                      <a:prstDash val="solid"/>
                      <a:round/>
                      <a:headEnd type="none" w="med" len="med"/>
                      <a:tailEnd type="none" w="med" len="med"/>
                    </a:lnR>
                    <a:lnT w="4229" cap="flat" cmpd="sng" algn="ctr">
                      <a:solidFill>
                        <a:srgbClr val="90C04F"/>
                      </a:solidFill>
                      <a:prstDash val="solid"/>
                      <a:round/>
                      <a:headEnd type="none" w="med" len="med"/>
                      <a:tailEnd type="none" w="med" len="med"/>
                    </a:lnT>
                    <a:lnB w="4229" cap="flat" cmpd="sng" algn="ctr">
                      <a:solidFill>
                        <a:srgbClr val="40B325"/>
                      </a:solidFill>
                      <a:prstDash val="solid"/>
                      <a:round/>
                      <a:headEnd type="none" w="med" len="med"/>
                      <a:tailEnd type="none" w="med" len="med"/>
                    </a:lnB>
                    <a:solidFill>
                      <a:srgbClr val="FFFFFF"/>
                    </a:solidFill>
                  </a:tcPr>
                </a:tc>
                <a:extLst>
                  <a:ext uri="{0D108BD9-81ED-4DB2-BD59-A6C34878D82A}">
                    <a16:rowId xmlns:a16="http://schemas.microsoft.com/office/drawing/2014/main" val="1909741683"/>
                  </a:ext>
                </a:extLst>
              </a:tr>
            </a:tbl>
          </a:graphicData>
        </a:graphic>
      </p:graphicFrame>
    </p:spTree>
    <p:extLst>
      <p:ext uri="{BB962C8B-B14F-4D97-AF65-F5344CB8AC3E}">
        <p14:creationId xmlns:p14="http://schemas.microsoft.com/office/powerpoint/2010/main" val="25043418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76234D-F4D1-C9E3-CEF3-1F09B8F2AA3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7345F6B-E572-EB0D-6149-B567E2B8669D}"/>
              </a:ext>
            </a:extLst>
          </p:cNvPr>
          <p:cNvSpPr>
            <a:spLocks noGrp="1"/>
          </p:cNvSpPr>
          <p:nvPr>
            <p:ph idx="1"/>
          </p:nvPr>
        </p:nvSpPr>
        <p:spPr>
          <a:xfrm>
            <a:off x="838200" y="1825624"/>
            <a:ext cx="10515600" cy="5032376"/>
          </a:xfrm>
        </p:spPr>
        <p:txBody>
          <a:bodyPr>
            <a:normAutofit lnSpcReduction="10000"/>
          </a:bodyPr>
          <a:lstStyle/>
          <a:p>
            <a:r>
              <a:rPr lang="zh-CN" altLang="en-US" dirty="0"/>
              <a:t>所以先估计了这三种效应</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如果大家还记得 这里其实就是我们之前说的</a:t>
            </a:r>
            <a:r>
              <a:rPr lang="en-US" altLang="zh-CN" dirty="0"/>
              <a:t>LATE</a:t>
            </a:r>
            <a:endParaRPr lang="zh-CN" altLang="en-US" dirty="0"/>
          </a:p>
        </p:txBody>
      </p:sp>
      <p:pic>
        <p:nvPicPr>
          <p:cNvPr id="5" name="图片 4">
            <a:extLst>
              <a:ext uri="{FF2B5EF4-FFF2-40B4-BE49-F238E27FC236}">
                <a16:creationId xmlns:a16="http://schemas.microsoft.com/office/drawing/2014/main" id="{FF3A80CE-DBDD-14E1-D7F6-98C3A1FAE8BC}"/>
              </a:ext>
            </a:extLst>
          </p:cNvPr>
          <p:cNvPicPr>
            <a:picLocks noChangeAspect="1"/>
          </p:cNvPicPr>
          <p:nvPr/>
        </p:nvPicPr>
        <p:blipFill>
          <a:blip r:embed="rId2"/>
          <a:stretch>
            <a:fillRect/>
          </a:stretch>
        </p:blipFill>
        <p:spPr>
          <a:xfrm>
            <a:off x="2413177" y="2178061"/>
            <a:ext cx="7535327" cy="1724266"/>
          </a:xfrm>
          <a:prstGeom prst="rect">
            <a:avLst/>
          </a:prstGeom>
        </p:spPr>
      </p:pic>
      <p:pic>
        <p:nvPicPr>
          <p:cNvPr id="7" name="图片 6">
            <a:extLst>
              <a:ext uri="{FF2B5EF4-FFF2-40B4-BE49-F238E27FC236}">
                <a16:creationId xmlns:a16="http://schemas.microsoft.com/office/drawing/2014/main" id="{480C7C6E-1C1A-276D-2096-52AAA26367F1}"/>
              </a:ext>
            </a:extLst>
          </p:cNvPr>
          <p:cNvPicPr>
            <a:picLocks noChangeAspect="1"/>
          </p:cNvPicPr>
          <p:nvPr/>
        </p:nvPicPr>
        <p:blipFill>
          <a:blip r:embed="rId3"/>
          <a:stretch>
            <a:fillRect/>
          </a:stretch>
        </p:blipFill>
        <p:spPr>
          <a:xfrm>
            <a:off x="838200" y="3902327"/>
            <a:ext cx="4742138" cy="2024558"/>
          </a:xfrm>
          <a:prstGeom prst="rect">
            <a:avLst/>
          </a:prstGeom>
        </p:spPr>
      </p:pic>
      <p:pic>
        <p:nvPicPr>
          <p:cNvPr id="9" name="图片 8">
            <a:extLst>
              <a:ext uri="{FF2B5EF4-FFF2-40B4-BE49-F238E27FC236}">
                <a16:creationId xmlns:a16="http://schemas.microsoft.com/office/drawing/2014/main" id="{F25601FF-96AA-A921-EC1A-47D0395415A7}"/>
              </a:ext>
            </a:extLst>
          </p:cNvPr>
          <p:cNvPicPr>
            <a:picLocks noChangeAspect="1"/>
          </p:cNvPicPr>
          <p:nvPr/>
        </p:nvPicPr>
        <p:blipFill>
          <a:blip r:embed="rId4"/>
          <a:stretch>
            <a:fillRect/>
          </a:stretch>
        </p:blipFill>
        <p:spPr>
          <a:xfrm>
            <a:off x="5889154" y="3902327"/>
            <a:ext cx="5464646" cy="2120309"/>
          </a:xfrm>
          <a:prstGeom prst="rect">
            <a:avLst/>
          </a:prstGeom>
        </p:spPr>
      </p:pic>
    </p:spTree>
    <p:extLst>
      <p:ext uri="{BB962C8B-B14F-4D97-AF65-F5344CB8AC3E}">
        <p14:creationId xmlns:p14="http://schemas.microsoft.com/office/powerpoint/2010/main" val="39726465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3C8F8E-DC65-7295-078E-D69726127C4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A2585CF-1C96-88B1-B9FD-3343B467AD4A}"/>
              </a:ext>
            </a:extLst>
          </p:cNvPr>
          <p:cNvSpPr>
            <a:spLocks noGrp="1"/>
          </p:cNvSpPr>
          <p:nvPr>
            <p:ph idx="1"/>
          </p:nvPr>
        </p:nvSpPr>
        <p:spPr/>
        <p:txBody>
          <a:bodyPr>
            <a:normAutofit/>
          </a:bodyPr>
          <a:lstStyle/>
          <a:p>
            <a:r>
              <a:rPr lang="zh-CN" altLang="en-US" dirty="0"/>
              <a:t>验证断点效应在全样本中的稳健性</a:t>
            </a:r>
            <a:endParaRPr lang="en-US" altLang="zh-CN" dirty="0"/>
          </a:p>
          <a:p>
            <a:r>
              <a:rPr lang="zh-CN" altLang="en-US" dirty="0"/>
              <a:t>将之前断点附近扩展到全样本</a:t>
            </a:r>
            <a:endParaRPr lang="en-US" altLang="zh-CN" dirty="0"/>
          </a:p>
          <a:p>
            <a:endParaRPr lang="en-US" altLang="zh-CN" dirty="0"/>
          </a:p>
          <a:p>
            <a:endParaRPr lang="en-US" altLang="zh-CN" dirty="0"/>
          </a:p>
          <a:p>
            <a:endParaRPr lang="en-US" altLang="zh-CN" dirty="0"/>
          </a:p>
          <a:p>
            <a:endParaRPr lang="en-US" altLang="zh-CN" dirty="0"/>
          </a:p>
          <a:p>
            <a:r>
              <a:rPr lang="zh-CN" altLang="en-US" dirty="0"/>
              <a:t>对比全局</a:t>
            </a:r>
            <a:r>
              <a:rPr lang="en-US" altLang="zh-CN" dirty="0"/>
              <a:t>/</a:t>
            </a:r>
            <a:r>
              <a:rPr lang="zh-CN" altLang="en-US" dirty="0"/>
              <a:t>局部处理效应</a:t>
            </a:r>
            <a:endParaRPr lang="en-US" altLang="zh-CN" dirty="0"/>
          </a:p>
          <a:p>
            <a:r>
              <a:rPr lang="zh-CN" altLang="en-US" dirty="0"/>
              <a:t>我们可以看到，加入远离断点的数据，回归结果会产生不同结果</a:t>
            </a:r>
          </a:p>
        </p:txBody>
      </p:sp>
      <p:pic>
        <p:nvPicPr>
          <p:cNvPr id="5" name="图片 4">
            <a:extLst>
              <a:ext uri="{FF2B5EF4-FFF2-40B4-BE49-F238E27FC236}">
                <a16:creationId xmlns:a16="http://schemas.microsoft.com/office/drawing/2014/main" id="{733C55DE-7FA7-99A6-4100-ACE2E1D3E53E}"/>
              </a:ext>
            </a:extLst>
          </p:cNvPr>
          <p:cNvPicPr>
            <a:picLocks noChangeAspect="1"/>
          </p:cNvPicPr>
          <p:nvPr/>
        </p:nvPicPr>
        <p:blipFill>
          <a:blip r:embed="rId2"/>
          <a:stretch>
            <a:fillRect/>
          </a:stretch>
        </p:blipFill>
        <p:spPr>
          <a:xfrm>
            <a:off x="838200" y="2799610"/>
            <a:ext cx="5208181" cy="2019879"/>
          </a:xfrm>
          <a:prstGeom prst="rect">
            <a:avLst/>
          </a:prstGeom>
        </p:spPr>
      </p:pic>
      <p:pic>
        <p:nvPicPr>
          <p:cNvPr id="6" name="图片 5">
            <a:extLst>
              <a:ext uri="{FF2B5EF4-FFF2-40B4-BE49-F238E27FC236}">
                <a16:creationId xmlns:a16="http://schemas.microsoft.com/office/drawing/2014/main" id="{00683669-35B9-FC59-D3DA-62B3E91633D0}"/>
              </a:ext>
            </a:extLst>
          </p:cNvPr>
          <p:cNvPicPr>
            <a:picLocks noChangeAspect="1"/>
          </p:cNvPicPr>
          <p:nvPr/>
        </p:nvPicPr>
        <p:blipFill>
          <a:blip r:embed="rId3"/>
          <a:stretch>
            <a:fillRect/>
          </a:stretch>
        </p:blipFill>
        <p:spPr>
          <a:xfrm>
            <a:off x="6096000" y="2799610"/>
            <a:ext cx="5137251" cy="1993047"/>
          </a:xfrm>
          <a:prstGeom prst="rect">
            <a:avLst/>
          </a:prstGeom>
        </p:spPr>
      </p:pic>
    </p:spTree>
    <p:extLst>
      <p:ext uri="{BB962C8B-B14F-4D97-AF65-F5344CB8AC3E}">
        <p14:creationId xmlns:p14="http://schemas.microsoft.com/office/powerpoint/2010/main" val="32847367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89FC8-4FC1-975E-EBEC-713B38BC471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1D73E39-DB59-A2E5-D638-43F35F8CD343}"/>
              </a:ext>
            </a:extLst>
          </p:cNvPr>
          <p:cNvSpPr>
            <a:spLocks noGrp="1"/>
          </p:cNvSpPr>
          <p:nvPr>
            <p:ph idx="1"/>
          </p:nvPr>
        </p:nvSpPr>
        <p:spPr/>
        <p:txBody>
          <a:bodyPr/>
          <a:lstStyle/>
          <a:p>
            <a:r>
              <a:rPr lang="zh-CN" altLang="en-US" dirty="0"/>
              <a:t>截至到目前两个回归，我们只是进行简单的线性回归</a:t>
            </a:r>
            <a:endParaRPr lang="en-US" altLang="zh-CN" dirty="0"/>
          </a:p>
          <a:p>
            <a:r>
              <a:rPr lang="zh-CN" altLang="en-US" dirty="0"/>
              <a:t>如图所示</a:t>
            </a:r>
            <a:endParaRPr lang="en-US" altLang="zh-CN" dirty="0"/>
          </a:p>
          <a:p>
            <a:r>
              <a:rPr lang="zh-CN" altLang="en-US" dirty="0"/>
              <a:t>此时我们需要控制驱动变量</a:t>
            </a:r>
            <a:r>
              <a:rPr lang="en-US" altLang="zh-CN" dirty="0"/>
              <a:t>X</a:t>
            </a:r>
            <a:r>
              <a:rPr lang="zh-CN" altLang="en-US" dirty="0"/>
              <a:t>本身的变化</a:t>
            </a:r>
            <a:endParaRPr lang="en-US" altLang="zh-CN" dirty="0"/>
          </a:p>
          <a:p>
            <a:r>
              <a:rPr lang="en-US" altLang="zh-CN" dirty="0" err="1"/>
              <a:t>demvoteshare_c</a:t>
            </a:r>
            <a:r>
              <a:rPr lang="en-US" altLang="zh-CN" dirty="0"/>
              <a:t>=demvoteshare-0.5</a:t>
            </a:r>
          </a:p>
          <a:p>
            <a:endParaRPr lang="en-US" altLang="zh-CN" dirty="0"/>
          </a:p>
          <a:p>
            <a:endParaRPr lang="en-US" altLang="zh-CN" dirty="0"/>
          </a:p>
          <a:p>
            <a:endParaRPr lang="en-US" altLang="zh-CN" dirty="0"/>
          </a:p>
          <a:p>
            <a:endParaRPr lang="en-US" altLang="zh-CN" dirty="0"/>
          </a:p>
          <a:p>
            <a:endParaRPr lang="zh-CN" altLang="en-US" dirty="0"/>
          </a:p>
        </p:txBody>
      </p:sp>
      <p:pic>
        <p:nvPicPr>
          <p:cNvPr id="5" name="图片 4">
            <a:extLst>
              <a:ext uri="{FF2B5EF4-FFF2-40B4-BE49-F238E27FC236}">
                <a16:creationId xmlns:a16="http://schemas.microsoft.com/office/drawing/2014/main" id="{387E3BBB-2449-FA8D-DECD-B05BA306C84D}"/>
              </a:ext>
            </a:extLst>
          </p:cNvPr>
          <p:cNvPicPr>
            <a:picLocks noChangeAspect="1"/>
          </p:cNvPicPr>
          <p:nvPr/>
        </p:nvPicPr>
        <p:blipFill>
          <a:blip r:embed="rId2"/>
          <a:stretch>
            <a:fillRect/>
          </a:stretch>
        </p:blipFill>
        <p:spPr>
          <a:xfrm>
            <a:off x="838200" y="4001294"/>
            <a:ext cx="9250066" cy="1448002"/>
          </a:xfrm>
          <a:prstGeom prst="rect">
            <a:avLst/>
          </a:prstGeom>
        </p:spPr>
      </p:pic>
    </p:spTree>
    <p:extLst>
      <p:ext uri="{BB962C8B-B14F-4D97-AF65-F5344CB8AC3E}">
        <p14:creationId xmlns:p14="http://schemas.microsoft.com/office/powerpoint/2010/main" val="7600676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4F107-8242-B068-B224-858C414895F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A184356-A8DF-10AF-A6F2-B7743BDC5977}"/>
              </a:ext>
            </a:extLst>
          </p:cNvPr>
          <p:cNvSpPr>
            <a:spLocks noGrp="1"/>
          </p:cNvSpPr>
          <p:nvPr>
            <p:ph idx="1"/>
          </p:nvPr>
        </p:nvSpPr>
        <p:spPr/>
        <p:txBody>
          <a:bodyPr/>
          <a:lstStyle/>
          <a:p>
            <a:r>
              <a:rPr lang="zh-CN" altLang="en-US" dirty="0"/>
              <a:t>为什么要</a:t>
            </a:r>
            <a:r>
              <a:rPr lang="en-US" altLang="zh-CN" dirty="0"/>
              <a:t>-0.5</a:t>
            </a:r>
            <a:r>
              <a:rPr lang="zh-CN" altLang="en-US" dirty="0"/>
              <a:t>，也就是为什么要中心化</a:t>
            </a:r>
            <a:endParaRPr lang="en-US" altLang="zh-CN" dirty="0"/>
          </a:p>
          <a:p>
            <a:endParaRPr lang="en-US" altLang="zh-CN" dirty="0"/>
          </a:p>
          <a:p>
            <a:endParaRPr lang="en-US" altLang="zh-CN" dirty="0"/>
          </a:p>
          <a:p>
            <a:endParaRPr lang="en-US" altLang="zh-CN" dirty="0"/>
          </a:p>
          <a:p>
            <a:r>
              <a:rPr lang="zh-CN" altLang="en-US" dirty="0"/>
              <a:t>因为系数可以直接解读断点处民主党获胜对 </a:t>
            </a:r>
            <a:r>
              <a:rPr lang="en-US" altLang="zh-CN" dirty="0"/>
              <a:t>ADA </a:t>
            </a:r>
            <a:r>
              <a:rPr lang="zh-CN" altLang="en-US" dirty="0"/>
              <a:t>得分的纯处理效应</a:t>
            </a:r>
            <a:endParaRPr lang="en-US" altLang="zh-CN" dirty="0"/>
          </a:p>
          <a:p>
            <a:r>
              <a:rPr lang="zh-CN" altLang="en-US" dirty="0"/>
              <a:t>回到这个方程，加入交互项的目的是什么</a:t>
            </a:r>
            <a:endParaRPr lang="en-US" altLang="zh-CN" dirty="0"/>
          </a:p>
          <a:p>
            <a:r>
              <a:rPr lang="zh-CN" altLang="en-US" dirty="0"/>
              <a:t>允许断点两侧驱动变量的变化趋势不同，并进一步加入二阶趋势项</a:t>
            </a:r>
          </a:p>
        </p:txBody>
      </p:sp>
      <p:pic>
        <p:nvPicPr>
          <p:cNvPr id="5" name="图片 4">
            <a:extLst>
              <a:ext uri="{FF2B5EF4-FFF2-40B4-BE49-F238E27FC236}">
                <a16:creationId xmlns:a16="http://schemas.microsoft.com/office/drawing/2014/main" id="{7EE4690D-E8D1-F470-BE36-54941E42DBF6}"/>
              </a:ext>
            </a:extLst>
          </p:cNvPr>
          <p:cNvPicPr>
            <a:picLocks noChangeAspect="1"/>
          </p:cNvPicPr>
          <p:nvPr/>
        </p:nvPicPr>
        <p:blipFill>
          <a:blip r:embed="rId2"/>
          <a:stretch>
            <a:fillRect/>
          </a:stretch>
        </p:blipFill>
        <p:spPr>
          <a:xfrm>
            <a:off x="1078781" y="2445280"/>
            <a:ext cx="9240540" cy="1400370"/>
          </a:xfrm>
          <a:prstGeom prst="rect">
            <a:avLst/>
          </a:prstGeom>
        </p:spPr>
      </p:pic>
      <p:pic>
        <p:nvPicPr>
          <p:cNvPr id="7" name="图片 6">
            <a:extLst>
              <a:ext uri="{FF2B5EF4-FFF2-40B4-BE49-F238E27FC236}">
                <a16:creationId xmlns:a16="http://schemas.microsoft.com/office/drawing/2014/main" id="{84E87D5F-5DF5-7279-337A-12E80B8617E0}"/>
              </a:ext>
            </a:extLst>
          </p:cNvPr>
          <p:cNvPicPr>
            <a:picLocks noChangeAspect="1"/>
          </p:cNvPicPr>
          <p:nvPr/>
        </p:nvPicPr>
        <p:blipFill>
          <a:blip r:embed="rId3"/>
          <a:stretch>
            <a:fillRect/>
          </a:stretch>
        </p:blipFill>
        <p:spPr>
          <a:xfrm>
            <a:off x="838200" y="5745256"/>
            <a:ext cx="9992834" cy="1133287"/>
          </a:xfrm>
          <a:prstGeom prst="rect">
            <a:avLst/>
          </a:prstGeom>
        </p:spPr>
      </p:pic>
    </p:spTree>
    <p:extLst>
      <p:ext uri="{BB962C8B-B14F-4D97-AF65-F5344CB8AC3E}">
        <p14:creationId xmlns:p14="http://schemas.microsoft.com/office/powerpoint/2010/main" val="22680109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D65B21-9519-C686-C88D-75C4D9B73BB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D4148B9-B3EB-2BC0-9390-06CA8AA8504E}"/>
              </a:ext>
            </a:extLst>
          </p:cNvPr>
          <p:cNvSpPr>
            <a:spLocks noGrp="1"/>
          </p:cNvSpPr>
          <p:nvPr>
            <p:ph idx="1"/>
          </p:nvPr>
        </p:nvSpPr>
        <p:spPr/>
        <p:txBody>
          <a:bodyPr/>
          <a:lstStyle/>
          <a:p>
            <a:r>
              <a:rPr lang="zh-CN" altLang="en-US" dirty="0"/>
              <a:t>此时结果如下，这就是一个标准</a:t>
            </a:r>
            <a:r>
              <a:rPr lang="en-US" altLang="zh-CN" dirty="0"/>
              <a:t>RD</a:t>
            </a:r>
            <a:r>
              <a:rPr lang="zh-CN" altLang="en-US" dirty="0"/>
              <a:t>的结果</a:t>
            </a:r>
          </a:p>
        </p:txBody>
      </p:sp>
      <p:pic>
        <p:nvPicPr>
          <p:cNvPr id="5" name="图片 4">
            <a:extLst>
              <a:ext uri="{FF2B5EF4-FFF2-40B4-BE49-F238E27FC236}">
                <a16:creationId xmlns:a16="http://schemas.microsoft.com/office/drawing/2014/main" id="{06243716-47AA-2DB9-4C9F-F6A5C1ADF08A}"/>
              </a:ext>
            </a:extLst>
          </p:cNvPr>
          <p:cNvPicPr>
            <a:picLocks noChangeAspect="1"/>
          </p:cNvPicPr>
          <p:nvPr/>
        </p:nvPicPr>
        <p:blipFill>
          <a:blip r:embed="rId2"/>
          <a:stretch>
            <a:fillRect/>
          </a:stretch>
        </p:blipFill>
        <p:spPr>
          <a:xfrm>
            <a:off x="1508593" y="2349722"/>
            <a:ext cx="8747623" cy="4143153"/>
          </a:xfrm>
          <a:prstGeom prst="rect">
            <a:avLst/>
          </a:prstGeom>
        </p:spPr>
      </p:pic>
    </p:spTree>
    <p:extLst>
      <p:ext uri="{BB962C8B-B14F-4D97-AF65-F5344CB8AC3E}">
        <p14:creationId xmlns:p14="http://schemas.microsoft.com/office/powerpoint/2010/main" val="10049022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E160C8-373B-2955-CC3C-B4B3810E57F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293745DE-58C6-4CE0-889D-6EA2399F31E5}"/>
              </a:ext>
            </a:extLst>
          </p:cNvPr>
          <p:cNvSpPr>
            <a:spLocks noGrp="1"/>
          </p:cNvSpPr>
          <p:nvPr>
            <p:ph idx="1"/>
          </p:nvPr>
        </p:nvSpPr>
        <p:spPr/>
        <p:txBody>
          <a:bodyPr/>
          <a:lstStyle/>
          <a:p>
            <a:r>
              <a:rPr lang="zh-CN" altLang="en-US" dirty="0"/>
              <a:t>接下来，我们进行稳健性检验</a:t>
            </a:r>
            <a:endParaRPr lang="en-US" altLang="zh-CN" dirty="0"/>
          </a:p>
          <a:p>
            <a:r>
              <a:rPr lang="zh-CN" altLang="en-US" dirty="0"/>
              <a:t>首先，更换带宽（</a:t>
            </a:r>
            <a:r>
              <a:rPr lang="en-US" altLang="zh-CN" dirty="0"/>
              <a:t>0.45-0.55</a:t>
            </a:r>
            <a:r>
              <a:rPr lang="zh-CN" altLang="en-US" dirty="0"/>
              <a:t>）</a:t>
            </a:r>
            <a:endParaRPr lang="en-US" altLang="zh-CN" dirty="0"/>
          </a:p>
          <a:p>
            <a:endParaRPr lang="zh-CN" altLang="en-US" dirty="0"/>
          </a:p>
        </p:txBody>
      </p:sp>
      <p:pic>
        <p:nvPicPr>
          <p:cNvPr id="5" name="图片 4">
            <a:extLst>
              <a:ext uri="{FF2B5EF4-FFF2-40B4-BE49-F238E27FC236}">
                <a16:creationId xmlns:a16="http://schemas.microsoft.com/office/drawing/2014/main" id="{302066AE-76AD-8C9B-5A93-E7C8506F3D4F}"/>
              </a:ext>
            </a:extLst>
          </p:cNvPr>
          <p:cNvPicPr>
            <a:picLocks noChangeAspect="1"/>
          </p:cNvPicPr>
          <p:nvPr/>
        </p:nvPicPr>
        <p:blipFill>
          <a:blip r:embed="rId2"/>
          <a:stretch>
            <a:fillRect/>
          </a:stretch>
        </p:blipFill>
        <p:spPr>
          <a:xfrm>
            <a:off x="2385453" y="2979184"/>
            <a:ext cx="7421093" cy="3513691"/>
          </a:xfrm>
          <a:prstGeom prst="rect">
            <a:avLst/>
          </a:prstGeom>
        </p:spPr>
      </p:pic>
    </p:spTree>
    <p:extLst>
      <p:ext uri="{BB962C8B-B14F-4D97-AF65-F5344CB8AC3E}">
        <p14:creationId xmlns:p14="http://schemas.microsoft.com/office/powerpoint/2010/main" val="8188131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3A314A-3ED5-8560-E789-D679C3B041D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35DF38F-AB22-0F1D-7BE2-27F912C5DB1C}"/>
              </a:ext>
            </a:extLst>
          </p:cNvPr>
          <p:cNvSpPr>
            <a:spLocks noGrp="1"/>
          </p:cNvSpPr>
          <p:nvPr>
            <p:ph idx="1"/>
          </p:nvPr>
        </p:nvSpPr>
        <p:spPr/>
        <p:txBody>
          <a:bodyPr/>
          <a:lstStyle/>
          <a:p>
            <a:r>
              <a:rPr lang="zh-CN" altLang="en-US" dirty="0"/>
              <a:t>其次，我们通过图形直观展示 “驱动变量 </a:t>
            </a:r>
            <a:r>
              <a:rPr lang="en-US" altLang="zh-CN" dirty="0"/>
              <a:t>- </a:t>
            </a:r>
            <a:r>
              <a:rPr lang="zh-CN" altLang="en-US" dirty="0"/>
              <a:t>结果变量” 的关系，验证断点（</a:t>
            </a:r>
            <a:r>
              <a:rPr lang="en-US" altLang="zh-CN" dirty="0"/>
              <a:t>0.5</a:t>
            </a:r>
            <a:r>
              <a:rPr lang="zh-CN" altLang="en-US" dirty="0"/>
              <a:t>）处是否存在显著跳跃</a:t>
            </a:r>
            <a:endParaRPr lang="en-US" altLang="zh-CN" dirty="0"/>
          </a:p>
          <a:p>
            <a:endParaRPr lang="en-US" altLang="zh-CN" dirty="0"/>
          </a:p>
          <a:p>
            <a:endParaRPr lang="en-US" altLang="zh-CN" dirty="0"/>
          </a:p>
          <a:p>
            <a:endParaRPr lang="en-US" altLang="zh-CN" dirty="0"/>
          </a:p>
          <a:p>
            <a:r>
              <a:rPr lang="zh-CN" altLang="en-US" dirty="0"/>
              <a:t>将驱动变量分成</a:t>
            </a:r>
            <a:r>
              <a:rPr lang="en-US" altLang="zh-CN" dirty="0"/>
              <a:t>100</a:t>
            </a:r>
            <a:r>
              <a:rPr lang="zh-CN" altLang="en-US" dirty="0"/>
              <a:t>个等距区间，计算每个区间的</a:t>
            </a:r>
            <a:r>
              <a:rPr lang="en-US" altLang="zh-CN" dirty="0"/>
              <a:t>score</a:t>
            </a:r>
            <a:r>
              <a:rPr lang="zh-CN" altLang="en-US" dirty="0"/>
              <a:t>均值（消除极端值影响）</a:t>
            </a:r>
          </a:p>
          <a:p>
            <a:endParaRPr lang="en-US" altLang="zh-CN" dirty="0"/>
          </a:p>
          <a:p>
            <a:endParaRPr lang="zh-CN" altLang="en-US" dirty="0"/>
          </a:p>
        </p:txBody>
      </p:sp>
      <p:pic>
        <p:nvPicPr>
          <p:cNvPr id="5" name="图片 4">
            <a:extLst>
              <a:ext uri="{FF2B5EF4-FFF2-40B4-BE49-F238E27FC236}">
                <a16:creationId xmlns:a16="http://schemas.microsoft.com/office/drawing/2014/main" id="{523CAF2B-6820-C117-A1E6-3C3D34D564C0}"/>
              </a:ext>
            </a:extLst>
          </p:cNvPr>
          <p:cNvPicPr>
            <a:picLocks noChangeAspect="1"/>
          </p:cNvPicPr>
          <p:nvPr/>
        </p:nvPicPr>
        <p:blipFill>
          <a:blip r:embed="rId2"/>
          <a:stretch>
            <a:fillRect/>
          </a:stretch>
        </p:blipFill>
        <p:spPr>
          <a:xfrm>
            <a:off x="1304256" y="2728815"/>
            <a:ext cx="9583487" cy="1400370"/>
          </a:xfrm>
          <a:prstGeom prst="rect">
            <a:avLst/>
          </a:prstGeom>
        </p:spPr>
      </p:pic>
    </p:spTree>
    <p:extLst>
      <p:ext uri="{BB962C8B-B14F-4D97-AF65-F5344CB8AC3E}">
        <p14:creationId xmlns:p14="http://schemas.microsoft.com/office/powerpoint/2010/main" val="14082255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EBB98D-7DC7-F77D-8394-26FF88F50B3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6CE9513-592C-1917-1C5C-AF5CF09C935C}"/>
              </a:ext>
            </a:extLst>
          </p:cNvPr>
          <p:cNvSpPr>
            <a:spLocks noGrp="1"/>
          </p:cNvSpPr>
          <p:nvPr>
            <p:ph idx="1"/>
          </p:nvPr>
        </p:nvSpPr>
        <p:spPr/>
        <p:txBody>
          <a:bodyPr/>
          <a:lstStyle/>
          <a:p>
            <a:r>
              <a:rPr lang="en-US" altLang="zh-CN" dirty="0"/>
              <a:t>1.</a:t>
            </a:r>
            <a:r>
              <a:rPr lang="zh-CN" altLang="en-US" dirty="0"/>
              <a:t>最常用的线性加二阶项可视化</a:t>
            </a:r>
            <a:endParaRPr lang="en-US" altLang="zh-CN" dirty="0"/>
          </a:p>
          <a:p>
            <a:r>
              <a:rPr lang="en-US" altLang="zh-CN" dirty="0"/>
              <a:t>2.</a:t>
            </a:r>
            <a:r>
              <a:rPr lang="zh-CN" altLang="en-US" dirty="0"/>
              <a:t>非参数</a:t>
            </a:r>
            <a:endParaRPr lang="en-US" altLang="zh-CN" dirty="0"/>
          </a:p>
          <a:p>
            <a:pPr lvl="1"/>
            <a:r>
              <a:rPr lang="zh-CN" altLang="en-US" dirty="0"/>
              <a:t>对每个点，先选局部样本→做局部多项式回</a:t>
            </a:r>
            <a:endParaRPr lang="en-US" altLang="zh-CN" dirty="0"/>
          </a:p>
          <a:p>
            <a:pPr marL="457200" lvl="1" indent="0">
              <a:buNone/>
            </a:pPr>
            <a:r>
              <a:rPr lang="zh-CN" altLang="en-US" dirty="0"/>
              <a:t>归（默认二次）→输出拟合值（非参数 </a:t>
            </a:r>
            <a:r>
              <a:rPr lang="en-US" altLang="zh-CN" dirty="0"/>
              <a:t>+ </a:t>
            </a:r>
            <a:r>
              <a:rPr lang="zh-CN" altLang="en-US" dirty="0"/>
              <a:t>局</a:t>
            </a:r>
            <a:endParaRPr lang="en-US" altLang="zh-CN" dirty="0"/>
          </a:p>
          <a:p>
            <a:pPr marL="457200" lvl="1" indent="0">
              <a:buNone/>
            </a:pPr>
            <a:r>
              <a:rPr lang="zh-CN" altLang="en-US" dirty="0"/>
              <a:t>部参数结合）</a:t>
            </a:r>
            <a:endParaRPr lang="en-US" altLang="zh-CN" dirty="0"/>
          </a:p>
          <a:p>
            <a:r>
              <a:rPr lang="en-US" altLang="zh-CN" dirty="0"/>
              <a:t>3.</a:t>
            </a:r>
            <a:r>
              <a:rPr lang="zh-CN" altLang="en-US" dirty="0"/>
              <a:t>只一阶项</a:t>
            </a:r>
          </a:p>
        </p:txBody>
      </p:sp>
      <p:pic>
        <p:nvPicPr>
          <p:cNvPr id="5" name="图片 4">
            <a:extLst>
              <a:ext uri="{FF2B5EF4-FFF2-40B4-BE49-F238E27FC236}">
                <a16:creationId xmlns:a16="http://schemas.microsoft.com/office/drawing/2014/main" id="{1FD0A710-BC0E-2CFD-8DBF-91B5D00479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4789" y="50205"/>
            <a:ext cx="3592023" cy="2218074"/>
          </a:xfrm>
          <a:prstGeom prst="rect">
            <a:avLst/>
          </a:prstGeom>
        </p:spPr>
      </p:pic>
      <p:pic>
        <p:nvPicPr>
          <p:cNvPr id="7" name="图片 6">
            <a:extLst>
              <a:ext uri="{FF2B5EF4-FFF2-40B4-BE49-F238E27FC236}">
                <a16:creationId xmlns:a16="http://schemas.microsoft.com/office/drawing/2014/main" id="{144A61E7-B022-D80C-9F6F-B0B1BE7CE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5040" y="2391459"/>
            <a:ext cx="3531772" cy="2180869"/>
          </a:xfrm>
          <a:prstGeom prst="rect">
            <a:avLst/>
          </a:prstGeom>
        </p:spPr>
      </p:pic>
      <p:pic>
        <p:nvPicPr>
          <p:cNvPr id="9" name="图片 8">
            <a:extLst>
              <a:ext uri="{FF2B5EF4-FFF2-40B4-BE49-F238E27FC236}">
                <a16:creationId xmlns:a16="http://schemas.microsoft.com/office/drawing/2014/main" id="{CE36026B-5F7E-E716-D6C4-F73B9590D0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5040" y="4652199"/>
            <a:ext cx="3490844" cy="2155596"/>
          </a:xfrm>
          <a:prstGeom prst="rect">
            <a:avLst/>
          </a:prstGeom>
        </p:spPr>
      </p:pic>
    </p:spTree>
    <p:extLst>
      <p:ext uri="{BB962C8B-B14F-4D97-AF65-F5344CB8AC3E}">
        <p14:creationId xmlns:p14="http://schemas.microsoft.com/office/powerpoint/2010/main" val="27112042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7D0CAB-1703-AB2F-782D-01E37D77A92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9E14F75-8858-8775-C588-67C5EF67E0C3}"/>
              </a:ext>
            </a:extLst>
          </p:cNvPr>
          <p:cNvSpPr>
            <a:spLocks noGrp="1"/>
          </p:cNvSpPr>
          <p:nvPr>
            <p:ph idx="1"/>
          </p:nvPr>
        </p:nvSpPr>
        <p:spPr/>
        <p:txBody>
          <a:bodyPr/>
          <a:lstStyle/>
          <a:p>
            <a:r>
              <a:rPr lang="zh-CN" altLang="en-US" dirty="0"/>
              <a:t>接下来，用更灵活的方法，“核平滑”的办法</a:t>
            </a:r>
            <a:endParaRPr lang="en-US" altLang="zh-CN" dirty="0"/>
          </a:p>
          <a:p>
            <a:pPr lvl="1"/>
            <a:r>
              <a:rPr lang="zh-CN" altLang="en-US" dirty="0"/>
              <a:t>不预设函数形式</a:t>
            </a:r>
          </a:p>
        </p:txBody>
      </p:sp>
      <p:pic>
        <p:nvPicPr>
          <p:cNvPr id="5" name="图片 4">
            <a:extLst>
              <a:ext uri="{FF2B5EF4-FFF2-40B4-BE49-F238E27FC236}">
                <a16:creationId xmlns:a16="http://schemas.microsoft.com/office/drawing/2014/main" id="{2CD846CA-6CFC-DFB4-3BE3-DE742CE9B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951801"/>
            <a:ext cx="5081158" cy="3137615"/>
          </a:xfrm>
          <a:prstGeom prst="rect">
            <a:avLst/>
          </a:prstGeom>
        </p:spPr>
      </p:pic>
      <p:pic>
        <p:nvPicPr>
          <p:cNvPr id="7" name="图片 6">
            <a:extLst>
              <a:ext uri="{FF2B5EF4-FFF2-40B4-BE49-F238E27FC236}">
                <a16:creationId xmlns:a16="http://schemas.microsoft.com/office/drawing/2014/main" id="{5C353816-7847-F1BD-1C0B-5CF0CED2F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2644" y="2951800"/>
            <a:ext cx="5081158" cy="3137615"/>
          </a:xfrm>
          <a:prstGeom prst="rect">
            <a:avLst/>
          </a:prstGeom>
        </p:spPr>
      </p:pic>
    </p:spTree>
    <p:extLst>
      <p:ext uri="{BB962C8B-B14F-4D97-AF65-F5344CB8AC3E}">
        <p14:creationId xmlns:p14="http://schemas.microsoft.com/office/powerpoint/2010/main" val="14601396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12C64-8193-DBFD-0912-21CEF756CFA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DF57926-1B50-8731-4FF5-C17B448F9433}"/>
              </a:ext>
            </a:extLst>
          </p:cNvPr>
          <p:cNvSpPr>
            <a:spLocks noGrp="1"/>
          </p:cNvSpPr>
          <p:nvPr>
            <p:ph idx="1"/>
          </p:nvPr>
        </p:nvSpPr>
        <p:spPr/>
        <p:txBody>
          <a:bodyPr/>
          <a:lstStyle/>
          <a:p>
            <a:r>
              <a:rPr lang="zh-CN" altLang="en-US" dirty="0"/>
              <a:t>利用</a:t>
            </a:r>
            <a:r>
              <a:rPr lang="en-US" altLang="zh-CN" dirty="0"/>
              <a:t>R</a:t>
            </a:r>
            <a:r>
              <a:rPr lang="zh-CN" altLang="en-US" dirty="0"/>
              <a:t>的</a:t>
            </a:r>
            <a:r>
              <a:rPr lang="en-US" altLang="zh-CN" dirty="0"/>
              <a:t>package</a:t>
            </a:r>
            <a:r>
              <a:rPr lang="zh-CN" altLang="en-US" dirty="0"/>
              <a:t>能计算最优带宽</a:t>
            </a:r>
          </a:p>
        </p:txBody>
      </p:sp>
      <p:pic>
        <p:nvPicPr>
          <p:cNvPr id="5" name="图片 4">
            <a:extLst>
              <a:ext uri="{FF2B5EF4-FFF2-40B4-BE49-F238E27FC236}">
                <a16:creationId xmlns:a16="http://schemas.microsoft.com/office/drawing/2014/main" id="{E84E5086-5AF1-6EDC-9DAE-D3F26318CBAD}"/>
              </a:ext>
            </a:extLst>
          </p:cNvPr>
          <p:cNvPicPr>
            <a:picLocks noChangeAspect="1"/>
          </p:cNvPicPr>
          <p:nvPr/>
        </p:nvPicPr>
        <p:blipFill>
          <a:blip r:embed="rId2"/>
          <a:stretch>
            <a:fillRect/>
          </a:stretch>
        </p:blipFill>
        <p:spPr>
          <a:xfrm>
            <a:off x="3501187" y="2489630"/>
            <a:ext cx="5189626" cy="4003245"/>
          </a:xfrm>
          <a:prstGeom prst="rect">
            <a:avLst/>
          </a:prstGeom>
        </p:spPr>
      </p:pic>
    </p:spTree>
    <p:extLst>
      <p:ext uri="{BB962C8B-B14F-4D97-AF65-F5344CB8AC3E}">
        <p14:creationId xmlns:p14="http://schemas.microsoft.com/office/powerpoint/2010/main" val="36557316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A767AF-CC18-8226-5651-6EC8ADA0D3E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84C9F51-5C5D-5A5F-4F41-F0DBF2CD2869}"/>
              </a:ext>
            </a:extLst>
          </p:cNvPr>
          <p:cNvSpPr>
            <a:spLocks noGrp="1"/>
          </p:cNvSpPr>
          <p:nvPr>
            <p:ph idx="1"/>
          </p:nvPr>
        </p:nvSpPr>
        <p:spPr/>
        <p:txBody>
          <a:bodyPr/>
          <a:lstStyle/>
          <a:p>
            <a:r>
              <a:rPr lang="en-US" altLang="zh-CN" dirty="0"/>
              <a:t>McCrary</a:t>
            </a:r>
            <a:r>
              <a:rPr lang="zh-CN" altLang="en-US" dirty="0"/>
              <a:t>密度检验</a:t>
            </a:r>
            <a:endParaRPr lang="en-US" altLang="zh-CN" dirty="0"/>
          </a:p>
          <a:p>
            <a:pPr lvl="1"/>
            <a:r>
              <a:rPr lang="en-US" altLang="zh-CN" dirty="0"/>
              <a:t>H0</a:t>
            </a:r>
            <a:r>
              <a:rPr lang="zh-CN" altLang="en-US" dirty="0"/>
              <a:t>为驱动变量（此处是民主党得票份额</a:t>
            </a:r>
            <a:r>
              <a:rPr lang="en-US" altLang="zh-CN" dirty="0" err="1"/>
              <a:t>demvoteshare</a:t>
            </a:r>
            <a:r>
              <a:rPr lang="zh-CN" altLang="en-US" dirty="0"/>
              <a:t>）在断点（</a:t>
            </a:r>
            <a:r>
              <a:rPr lang="en-US" altLang="zh-CN" dirty="0"/>
              <a:t>c=0.5</a:t>
            </a:r>
            <a:r>
              <a:rPr lang="zh-CN" altLang="en-US" dirty="0"/>
              <a:t>）处的概率密度函数（</a:t>
            </a:r>
            <a:r>
              <a:rPr lang="en-US" altLang="zh-CN" dirty="0"/>
              <a:t>PDF</a:t>
            </a:r>
            <a:r>
              <a:rPr lang="zh-CN" altLang="en-US" dirty="0"/>
              <a:t>）是连续的。</a:t>
            </a:r>
          </a:p>
        </p:txBody>
      </p:sp>
      <p:pic>
        <p:nvPicPr>
          <p:cNvPr id="5" name="图片 4">
            <a:extLst>
              <a:ext uri="{FF2B5EF4-FFF2-40B4-BE49-F238E27FC236}">
                <a16:creationId xmlns:a16="http://schemas.microsoft.com/office/drawing/2014/main" id="{92734954-A752-AEA5-D6E5-FA27B6FECE99}"/>
              </a:ext>
            </a:extLst>
          </p:cNvPr>
          <p:cNvPicPr>
            <a:picLocks/>
          </p:cNvPicPr>
          <p:nvPr/>
        </p:nvPicPr>
        <p:blipFill>
          <a:blip r:embed="rId2"/>
          <a:srcRect l="1080"/>
          <a:stretch>
            <a:fillRect/>
          </a:stretch>
        </p:blipFill>
        <p:spPr>
          <a:xfrm>
            <a:off x="744279" y="4001294"/>
            <a:ext cx="5946226" cy="895475"/>
          </a:xfrm>
          <a:prstGeom prst="rect">
            <a:avLst/>
          </a:prstGeom>
        </p:spPr>
      </p:pic>
      <p:pic>
        <p:nvPicPr>
          <p:cNvPr id="7" name="图片 6">
            <a:extLst>
              <a:ext uri="{FF2B5EF4-FFF2-40B4-BE49-F238E27FC236}">
                <a16:creationId xmlns:a16="http://schemas.microsoft.com/office/drawing/2014/main" id="{53BD98D6-6483-3868-FB68-7320147F15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1695" y="3174285"/>
            <a:ext cx="5081158" cy="3137615"/>
          </a:xfrm>
          <a:prstGeom prst="rect">
            <a:avLst/>
          </a:prstGeom>
        </p:spPr>
      </p:pic>
    </p:spTree>
    <p:extLst>
      <p:ext uri="{BB962C8B-B14F-4D97-AF65-F5344CB8AC3E}">
        <p14:creationId xmlns:p14="http://schemas.microsoft.com/office/powerpoint/2010/main" val="16102442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0997B7-73C2-B8DA-A8D6-9E9714E30AFB}"/>
              </a:ext>
            </a:extLst>
          </p:cNvPr>
          <p:cNvSpPr>
            <a:spLocks noGrp="1"/>
          </p:cNvSpPr>
          <p:nvPr>
            <p:ph type="title"/>
          </p:nvPr>
        </p:nvSpPr>
        <p:spPr/>
        <p:txBody>
          <a:bodyPr/>
          <a:lstStyle/>
          <a:p>
            <a:r>
              <a:rPr lang="zh-CN" altLang="en-US" dirty="0"/>
              <a:t>参考文献</a:t>
            </a:r>
          </a:p>
        </p:txBody>
      </p:sp>
      <p:sp>
        <p:nvSpPr>
          <p:cNvPr id="3" name="内容占位符 2">
            <a:extLst>
              <a:ext uri="{FF2B5EF4-FFF2-40B4-BE49-F238E27FC236}">
                <a16:creationId xmlns:a16="http://schemas.microsoft.com/office/drawing/2014/main" id="{A550DD05-EAB6-5101-829D-B6EBC52F1648}"/>
              </a:ext>
            </a:extLst>
          </p:cNvPr>
          <p:cNvSpPr>
            <a:spLocks noGrp="1"/>
          </p:cNvSpPr>
          <p:nvPr>
            <p:ph idx="1"/>
          </p:nvPr>
        </p:nvSpPr>
        <p:spPr/>
        <p:txBody>
          <a:bodyPr>
            <a:normAutofit fontScale="55000" lnSpcReduction="20000"/>
          </a:bodyPr>
          <a:lstStyle/>
          <a:p>
            <a:r>
              <a:rPr lang="en-US" altLang="zh-CN" dirty="0"/>
              <a:t>Almond, D., Doyle, J. J., Kowalski, A. E., &amp; Williams, H. (2010). Estimating marginal returns to medical care: Evidence from at-risk newborns. The Quarterly Journal of Economics, 125(2), 591-634. </a:t>
            </a:r>
            <a:r>
              <a:rPr lang="en-US" altLang="zh-CN" dirty="0">
                <a:hlinkClick r:id="rId2"/>
              </a:rPr>
              <a:t>https://doi.org/10.1162/qjec.2010.125.2.591</a:t>
            </a:r>
            <a:endParaRPr lang="en-US" altLang="zh-CN" dirty="0"/>
          </a:p>
          <a:p>
            <a:r>
              <a:rPr lang="en-US" altLang="zh-CN" dirty="0"/>
              <a:t>Angrist, J. D., &amp; </a:t>
            </a:r>
            <a:r>
              <a:rPr lang="en-US" altLang="zh-CN" dirty="0" err="1"/>
              <a:t>Imbens</a:t>
            </a:r>
            <a:r>
              <a:rPr lang="en-US" altLang="zh-CN" dirty="0"/>
              <a:t>, G. W. (1994). Identification and estimation of local average treatment effects. </a:t>
            </a:r>
            <a:r>
              <a:rPr lang="en-US" altLang="zh-CN" dirty="0" err="1"/>
              <a:t>Econometrica</a:t>
            </a:r>
            <a:r>
              <a:rPr lang="en-US" altLang="zh-CN" dirty="0"/>
              <a:t>, 62(2), 467-475. </a:t>
            </a:r>
            <a:r>
              <a:rPr lang="en-US" altLang="zh-CN" dirty="0">
                <a:hlinkClick r:id="rId3"/>
              </a:rPr>
              <a:t>https://doi.org/10.2307/2951620</a:t>
            </a:r>
            <a:endParaRPr lang="en-US" altLang="zh-CN" dirty="0"/>
          </a:p>
          <a:p>
            <a:r>
              <a:rPr lang="en-US" altLang="zh-CN" dirty="0"/>
              <a:t>Barreca, A. I., Lindo, J. M., &amp; Waddell, G. R. (2015). Heaping-induced bias in regression-discontinuity designs. Economic Inquiry, (Forthcoming), (</a:t>
            </a:r>
            <a:r>
              <a:rPr lang="en-US" altLang="zh-CN" dirty="0" err="1"/>
              <a:t>n.p.</a:t>
            </a:r>
            <a:r>
              <a:rPr lang="en-US" altLang="zh-CN" dirty="0"/>
              <a:t>).</a:t>
            </a:r>
          </a:p>
          <a:p>
            <a:r>
              <a:rPr lang="en-US" altLang="zh-CN" dirty="0"/>
              <a:t>Card, D., &amp; Weber, A. (2015). Does extending unemployment benefits improve job quality? IZA Discussion Paper No. 9034. Institute for the Study of Labor (IZA). </a:t>
            </a:r>
            <a:r>
              <a:rPr lang="en-US" altLang="zh-CN" dirty="0">
                <a:hlinkClick r:id="rId4"/>
              </a:rPr>
              <a:t>https://ftp.iza.org/dp9034.pdf</a:t>
            </a:r>
            <a:endParaRPr lang="en-US" altLang="zh-CN" dirty="0"/>
          </a:p>
          <a:p>
            <a:r>
              <a:rPr lang="en-US" altLang="zh-CN" dirty="0"/>
              <a:t>Cunningham, S. (2021). Causal Inference: The Mixtape (1st ed.). Yale University Press.</a:t>
            </a:r>
          </a:p>
          <a:p>
            <a:r>
              <a:rPr lang="en-US" altLang="zh-CN" dirty="0"/>
              <a:t>Gelman, A., &amp; </a:t>
            </a:r>
            <a:r>
              <a:rPr lang="en-US" altLang="zh-CN" dirty="0" err="1"/>
              <a:t>Imbens</a:t>
            </a:r>
            <a:r>
              <a:rPr lang="en-US" altLang="zh-CN" dirty="0"/>
              <a:t>, G. W. (2019). Why high-order polynomials should not be used in regression discontinuity designs. Journal of Business &amp; Economic Statistics, 37(3), 447-456. </a:t>
            </a:r>
            <a:r>
              <a:rPr lang="en-US" altLang="zh-CN" dirty="0">
                <a:hlinkClick r:id="rId5"/>
              </a:rPr>
              <a:t>https://doi.org/10.1080/07350015.2018.1443149</a:t>
            </a:r>
            <a:endParaRPr lang="en-US" altLang="zh-CN" dirty="0"/>
          </a:p>
          <a:p>
            <a:r>
              <a:rPr lang="en-US" altLang="zh-CN" dirty="0"/>
              <a:t>Hahn, J., Todd, P., &amp; van der </a:t>
            </a:r>
            <a:r>
              <a:rPr lang="en-US" altLang="zh-CN" dirty="0" err="1"/>
              <a:t>Klaauw</a:t>
            </a:r>
            <a:r>
              <a:rPr lang="en-US" altLang="zh-CN" dirty="0"/>
              <a:t>, W. (2001). Identification and estimation of treatment effects with a regression-discontinuity design. </a:t>
            </a:r>
            <a:r>
              <a:rPr lang="en-US" altLang="zh-CN" dirty="0" err="1"/>
              <a:t>Econometrica</a:t>
            </a:r>
            <a:r>
              <a:rPr lang="en-US" altLang="zh-CN" dirty="0"/>
              <a:t>, 69(1), 201-209. </a:t>
            </a:r>
            <a:r>
              <a:rPr lang="en-US" altLang="zh-CN" dirty="0">
                <a:hlinkClick r:id="rId6"/>
              </a:rPr>
              <a:t>https://doi.org/10.1111/1468-0262.00183</a:t>
            </a:r>
            <a:endParaRPr lang="en-US" altLang="zh-CN" dirty="0"/>
          </a:p>
          <a:p>
            <a:r>
              <a:rPr lang="en-US" altLang="zh-CN" dirty="0"/>
              <a:t>Lee, D. S., Moretti, E., &amp; Butler, M. J. (2004). Do voters affect or elect policies? Evidence from the U.S. house. The Quarterly Journal of Economics, 119(3), 807-860. </a:t>
            </a:r>
            <a:r>
              <a:rPr lang="en-US" altLang="zh-CN" dirty="0">
                <a:hlinkClick r:id="rId7"/>
              </a:rPr>
              <a:t>https://doi.org/10.1162/0033553041502417</a:t>
            </a:r>
            <a:endParaRPr lang="en-US" altLang="zh-CN" dirty="0"/>
          </a:p>
          <a:p>
            <a:r>
              <a:rPr lang="en-US" altLang="zh-CN" dirty="0"/>
              <a:t>McCrary, J. (2008). Manipulation of the running variable in the regression discontinuity design: A density test. Journal of Econometrics, 142(2), 698-714. </a:t>
            </a:r>
            <a:r>
              <a:rPr lang="en-US" altLang="zh-CN" dirty="0">
                <a:hlinkClick r:id="rId8"/>
              </a:rPr>
              <a:t>https://doi.org/10.1016/j.jeconom.2007.09.011</a:t>
            </a:r>
            <a:endParaRPr lang="en-US" altLang="zh-CN" dirty="0"/>
          </a:p>
          <a:p>
            <a:r>
              <a:rPr lang="en-US" altLang="zh-CN" dirty="0"/>
              <a:t>Mina, A., &amp; Santoleri, P. (2022). The causal effects of R&amp;D grants: Evidence from a regression discontinuity. Review of Economics and Statistics, 106(5), 1285-1301. </a:t>
            </a:r>
          </a:p>
        </p:txBody>
      </p:sp>
    </p:spTree>
    <p:extLst>
      <p:ext uri="{BB962C8B-B14F-4D97-AF65-F5344CB8AC3E}">
        <p14:creationId xmlns:p14="http://schemas.microsoft.com/office/powerpoint/2010/main" val="30916240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F049F-3BBB-F23D-626C-F90177B7E247}"/>
              </a:ext>
            </a:extLst>
          </p:cNvPr>
          <p:cNvSpPr>
            <a:spLocks noGrp="1"/>
          </p:cNvSpPr>
          <p:nvPr>
            <p:ph type="title"/>
          </p:nvPr>
        </p:nvSpPr>
        <p:spPr/>
        <p:txBody>
          <a:bodyPr/>
          <a:lstStyle/>
          <a:p>
            <a:r>
              <a:rPr lang="en-US" altLang="zh-CN" dirty="0" err="1"/>
              <a:t>Github</a:t>
            </a:r>
            <a:endParaRPr lang="zh-CN" altLang="en-US" dirty="0"/>
          </a:p>
        </p:txBody>
      </p:sp>
      <p:sp>
        <p:nvSpPr>
          <p:cNvPr id="3" name="内容占位符 2">
            <a:extLst>
              <a:ext uri="{FF2B5EF4-FFF2-40B4-BE49-F238E27FC236}">
                <a16:creationId xmlns:a16="http://schemas.microsoft.com/office/drawing/2014/main" id="{73EA9E61-9FF5-64E0-9EB7-95095BA77AC4}"/>
              </a:ext>
            </a:extLst>
          </p:cNvPr>
          <p:cNvSpPr>
            <a:spLocks noGrp="1"/>
          </p:cNvSpPr>
          <p:nvPr>
            <p:ph idx="1"/>
          </p:nvPr>
        </p:nvSpPr>
        <p:spPr/>
        <p:txBody>
          <a:bodyPr/>
          <a:lstStyle/>
          <a:p>
            <a:endParaRPr lang="zh-CN" altLang="en-US" dirty="0"/>
          </a:p>
        </p:txBody>
      </p:sp>
    </p:spTree>
    <p:extLst>
      <p:ext uri="{BB962C8B-B14F-4D97-AF65-F5344CB8AC3E}">
        <p14:creationId xmlns:p14="http://schemas.microsoft.com/office/powerpoint/2010/main" val="241458856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仿宋"/>
        <a:cs typeface=""/>
      </a:majorFont>
      <a:minorFont>
        <a:latin typeface="Times New Roman"/>
        <a:ea typeface="仿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1349</TotalTime>
  <Words>4087</Words>
  <Application>Microsoft Office PowerPoint</Application>
  <PresentationFormat>宽屏</PresentationFormat>
  <Paragraphs>374</Paragraphs>
  <Slides>60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60</vt:i4>
      </vt:variant>
    </vt:vector>
  </HeadingPairs>
  <TitlesOfParts>
    <vt:vector size="66" baseType="lpstr">
      <vt:lpstr>Menlo</vt:lpstr>
      <vt:lpstr>仿宋</vt:lpstr>
      <vt:lpstr>Arial</vt:lpstr>
      <vt:lpstr>Cambria Math</vt:lpstr>
      <vt:lpstr>Times New Roman</vt:lpstr>
      <vt:lpstr>Office 主题​​</vt:lpstr>
      <vt:lpstr>Regression Discontinuity Design</vt:lpstr>
      <vt:lpstr>Table of Contents</vt:lpstr>
      <vt:lpstr>RD的设计思路</vt:lpstr>
      <vt:lpstr>PowerPoint 演示文稿</vt:lpstr>
      <vt:lpstr>PowerPoint 演示文稿</vt:lpstr>
      <vt:lpstr>PowerPoint 演示文稿</vt:lpstr>
      <vt:lpstr>识别假设</vt:lpstr>
      <vt:lpstr>PowerPoint 演示文稿</vt:lpstr>
      <vt:lpstr>sharp RD design</vt:lpstr>
      <vt:lpstr>估计方法</vt:lpstr>
      <vt:lpstr>PowerPoint 演示文稿</vt:lpstr>
      <vt:lpstr>PowerPoint 演示文稿</vt:lpstr>
      <vt:lpstr>The Causal Effects of R&amp;D Grants: Evidence from a Regression Discontinuity</vt:lpstr>
      <vt:lpstr>Institutional setting</vt:lpstr>
      <vt:lpstr>PowerPoint 演示文稿</vt:lpstr>
      <vt:lpstr>PowerPoint 演示文稿</vt:lpstr>
      <vt:lpstr>PowerPoint 演示文稿</vt:lpstr>
      <vt:lpstr>RD有效性检验</vt:lpstr>
      <vt:lpstr>PowerPoint 演示文稿</vt:lpstr>
      <vt:lpstr>PowerPoint 演示文稿</vt:lpstr>
      <vt:lpstr>PowerPoint 演示文稿</vt:lpstr>
      <vt:lpstr>PowerPoint 演示文稿</vt:lpstr>
      <vt:lpstr>PowerPoint 演示文稿</vt:lpstr>
      <vt:lpstr>结果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异质性分析</vt:lpstr>
      <vt:lpstr>PowerPoint 演示文稿</vt:lpstr>
      <vt:lpstr>机制检验</vt:lpstr>
      <vt:lpstr>PowerPoint 演示文稿</vt:lpstr>
      <vt:lpstr>回到RD的基本设计</vt:lpstr>
      <vt:lpstr>PowerPoint 演示文稿</vt:lpstr>
      <vt:lpstr>fuzzy RD design</vt:lpstr>
      <vt:lpstr>识别挑战</vt:lpstr>
      <vt:lpstr>PowerPoint 演示文稿</vt:lpstr>
      <vt:lpstr>PowerPoint 演示文稿</vt:lpstr>
      <vt:lpstr>PowerPoint 演示文稿</vt:lpstr>
      <vt:lpstr>PowerPoint 演示文稿</vt:lpstr>
      <vt:lpstr>实践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参考文献</vt:lpstr>
      <vt:lpstr>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浩晨 王</dc:creator>
  <cp:lastModifiedBy>浩晨 王</cp:lastModifiedBy>
  <cp:revision>28</cp:revision>
  <dcterms:created xsi:type="dcterms:W3CDTF">2025-11-30T07:17:42Z</dcterms:created>
  <dcterms:modified xsi:type="dcterms:W3CDTF">2025-12-06T07:57:27Z</dcterms:modified>
</cp:coreProperties>
</file>